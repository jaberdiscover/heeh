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0638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story: this started from a visibility problem, then evolved into a renewal-entry-point discussion.
Keep it business/SRE focused: reduce operational risk, avoid duplicated automation, and protect change controls.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Soumya identified the need for centralized visibility.
Do not jump straight to technical design. The first step is inventory, ownership, and renewal method clarity.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read every tower. Highlight three buckets: automated, manual, built into deployment.
Make the table valuable: it avoids assumptions and helps choose the right POC.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weekly progress story: dashboard, inventory, September risk follow-up, POC alignment.
Be careful: say we started a discussion with Mike/Andrew/Alan and are waiting for input.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important slide. Say: dashboard is the control layer, not the automation engine.
For PROD, clarify that approvals and CHG stay intact.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leadership asked us to focus on Digital and DCI NetAuth.
Use Digital to learn, DCI NetAuth to test reusability. Keep the POC success criteria simple.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ask slide. Do not over-explain technical steps.
Emphasize: the biggest decision is where this should live after convergence.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Clarify this is the current dashboard, not the final Renew implementation.
Show expiry tracking and ownership. Then explain where the Renew action would eventually 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ask. Ask for thoughts on platform direction, AAP ownership, and POC scope.
If asked what is done: dashboard, inventory, follow-ups, and initial discovery are done; Renew action is the POC.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33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92440" y="182880"/>
            <a:ext cx="3566160" cy="3566160"/>
          </a:xfrm>
          <a:prstGeom prst="arc">
            <a:avLst/>
          </a:prstGeom>
          <a:solidFill>
            <a:srgbClr val="17233A">
              <a:alpha val="0"/>
            </a:srgbClr>
          </a:solidFill>
          <a:ln w="38100">
            <a:solidFill>
              <a:srgbClr val="11A0B6">
                <a:alpha val="8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3611880"/>
            <a:ext cx="2606040" cy="2606040"/>
          </a:xfrm>
          <a:prstGeom prst="arc">
            <a:avLst/>
          </a:prstGeom>
          <a:solidFill>
            <a:srgbClr val="17233A">
              <a:alpha val="0"/>
            </a:srgbClr>
          </a:solidFill>
          <a:ln w="38100">
            <a:solidFill>
              <a:srgbClr val="F2B441">
                <a:alpha val="8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708660"/>
            <a:ext cx="1563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18745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GPN Certificate Renewal Dashboard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13232" y="249631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DDE7F2"/>
                </a:solidFill>
              </a:rPr>
              <a:t>From centralized visibility to a controlled renewal entry point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13232" y="3044952"/>
            <a:ext cx="5760720" cy="0"/>
          </a:xfrm>
          <a:prstGeom prst="line">
            <a:avLst/>
          </a:prstGeom>
          <a:noFill/>
          <a:ln w="38100">
            <a:solidFill>
              <a:srgbClr val="11A0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3337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3232" y="61722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work started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22960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original issue was not automation  it was reliable visibility and ownership.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0972800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72768"/>
            <a:ext cx="324612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572768"/>
            <a:ext cx="82296" cy="310896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7393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233A"/>
                </a:solidFill>
              </a:rPr>
              <a:t>The operational problem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185416"/>
            <a:ext cx="2834640" cy="23317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</a:rPr>
              <a:t>Certificate data was spread across towers, processes, and runbooks.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</a:rPr>
              <a:t>For upcoming expirations, SREs still had to follow up team by team to confirm ownership and renewal plans.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80560" y="1572768"/>
            <a:ext cx="324612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1572768"/>
            <a:ext cx="82296" cy="310896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77393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233A"/>
                </a:solidFill>
              </a:rPr>
              <a:t>What we needed first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09160" y="2185416"/>
            <a:ext cx="2834640" cy="23317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</a:rPr>
              <a:t>A single place to answer the basic questions: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</a:rPr>
              <a:t>• What is expiring?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</a:rPr>
              <a:t>• Who owns it?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</a:rPr>
              <a:t>• How is it renewed?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</a:rPr>
              <a:t>• Is it automated or manual?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75320" y="1572768"/>
            <a:ext cx="324612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75320" y="1572768"/>
            <a:ext cx="82296" cy="3108960"/>
          </a:xfrm>
          <a:prstGeom prst="rect">
            <a:avLst/>
          </a:prstGeom>
          <a:solidFill>
            <a:srgbClr val="11A0B6"/>
          </a:solidFill>
          <a:ln w="12700">
            <a:solidFill>
              <a:srgbClr val="11A0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0" y="177393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233A"/>
                </a:solidFill>
              </a:rPr>
              <a:t>The bigger opportunity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503920" y="2185416"/>
            <a:ext cx="2834640" cy="23317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</a:rPr>
              <a:t>Once visibility is centralized, the dashboard can become an entry point to start renewal  without replacing tower-owned automation.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2960" y="521208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2920" y="6528816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learned from tower discovery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22960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renewal maturity is mixed, so one forced model will not fit every tower.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0972800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173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11827"/>
                </a:solidFill>
              </a:rPr>
              <a:t>Current-state tower matrix is now the source of truth for renewal ownership and automation status.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77240" y="2057400"/>
            <a:ext cx="3291840" cy="2103120"/>
          </a:xfrm>
          <a:prstGeom prst="roundRect">
            <a:avLst>
              <a:gd name="adj" fmla="val 5217"/>
            </a:avLst>
          </a:prstGeom>
          <a:solidFill>
            <a:srgbClr val="EAF3FF"/>
          </a:solidFill>
          <a:ln w="12700">
            <a:solidFill>
              <a:srgbClr val="C4D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2286000"/>
            <a:ext cx="502920" cy="502920"/>
          </a:xfrm>
          <a:prstGeom prst="ellipse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432304"/>
            <a:ext cx="5029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691640" y="235915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233A"/>
                </a:solidFill>
              </a:rPr>
              <a:t>Automation exists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51560" y="288036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Digital and DCI NetAuth have Ansible/AAP-based renewal workflows we can review and potentially reuse.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34840" y="2057400"/>
            <a:ext cx="3291840" cy="2103120"/>
          </a:xfrm>
          <a:prstGeom prst="roundRect">
            <a:avLst>
              <a:gd name="adj" fmla="val 5217"/>
            </a:avLst>
          </a:prstGeom>
          <a:solidFill>
            <a:srgbClr val="FFF7E8"/>
          </a:solidFill>
          <a:ln w="12700">
            <a:solidFill>
              <a:srgbClr val="F2D8A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2253997"/>
            <a:ext cx="502920" cy="502920"/>
          </a:xfrm>
          <a:prstGeom prst="ellipse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2432304"/>
            <a:ext cx="5029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49240" y="235915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233A"/>
                </a:solidFill>
              </a:rPr>
              <a:t>Manual remains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709160" y="288036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Some Settlements certs are manually renewed today, with ownership and change details tracked separately.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92440" y="2057400"/>
            <a:ext cx="3291840" cy="2103120"/>
          </a:xfrm>
          <a:prstGeom prst="roundRect">
            <a:avLst>
              <a:gd name="adj" fmla="val 5217"/>
            </a:avLst>
          </a:prstGeom>
          <a:solidFill>
            <a:srgbClr val="EAF8F5"/>
          </a:solidFill>
          <a:ln w="12700">
            <a:solidFill>
              <a:srgbClr val="B9DE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66760" y="2259129"/>
            <a:ext cx="502920" cy="502920"/>
          </a:xfrm>
          <a:prstGeom prst="ellipse">
            <a:avLst/>
          </a:prstGeom>
          <a:solidFill>
            <a:srgbClr val="11A0B6"/>
          </a:solidFill>
          <a:ln w="12700">
            <a:solidFill>
              <a:srgbClr val="11A0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66760" y="2432304"/>
            <a:ext cx="50292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006840" y="235915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7233A"/>
                </a:solidFill>
              </a:rPr>
              <a:t>Built into deployment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366760" y="288036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Some future-state renewals are handled as part of platform or application deployment rather than a separate job.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14400" y="4754880"/>
            <a:ext cx="10332720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95604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A0B6"/>
                </a:solidFill>
              </a:rPr>
              <a:t>Takeaway: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14400" y="5257800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233A"/>
                </a:solidFill>
              </a:rPr>
              <a:t>The dashboard needs to reflect the correct renewal path for each certificate  not assume every cert is automated the same way.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02920" y="6528816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so far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22960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work completed before moving into POC build decisions.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0972800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4440" y="2057400"/>
            <a:ext cx="9875520" cy="0"/>
          </a:xfrm>
          <a:prstGeom prst="line">
            <a:avLst/>
          </a:prstGeom>
          <a:noFill/>
          <a:ln w="25400">
            <a:solidFill>
              <a:srgbClr val="C6D1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769364"/>
            <a:ext cx="475488" cy="475488"/>
          </a:xfrm>
          <a:prstGeom prst="ellipse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947672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77240" y="2514600"/>
            <a:ext cx="205740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76148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233A"/>
                </a:solidFill>
              </a:rPr>
              <a:t>Dashboard baseline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60120" y="312724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Centralized certificate view by tower and expiry.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74720" y="1764512"/>
            <a:ext cx="475488" cy="475488"/>
          </a:xfrm>
          <a:prstGeom prst="ellipse">
            <a:avLst/>
          </a:prstGeom>
          <a:solidFill>
            <a:srgbClr val="11A0B6"/>
          </a:solidFill>
          <a:ln w="12700">
            <a:solidFill>
              <a:srgbClr val="11A0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1947672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46120" y="2514600"/>
            <a:ext cx="205740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276148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233A"/>
                </a:solidFill>
              </a:rPr>
              <a:t>Tower inventory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429000" y="312724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Captured current renewal model, owner, and references.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52744" y="1769364"/>
            <a:ext cx="475488" cy="475488"/>
          </a:xfrm>
          <a:prstGeom prst="ellipse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1947672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715000" y="2514600"/>
            <a:ext cx="205740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97880" y="276148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233A"/>
                </a:solidFill>
              </a:rPr>
              <a:t>September follow-up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897880" y="312724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Validating prod certs expiring in September with owning teams.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412480" y="1783080"/>
            <a:ext cx="475488" cy="475488"/>
          </a:xfrm>
          <a:prstGeom prst="ellipse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0" y="1947672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183880" y="2514600"/>
            <a:ext cx="205740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66760" y="276148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233A"/>
                </a:solidFill>
              </a:rPr>
              <a:t>POC alignment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366760" y="312724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11827"/>
                </a:solidFill>
              </a:rPr>
              <a:t>Digital and DCI NetAuth identified for dashboard-triggered renewal review.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14400" y="449884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Additional context: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4400" y="48920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</a:rPr>
              <a:t>We started the discussion with Mike, Andrew, and Alan to confirm the right long-term path before investing further.</a:t>
            </a:r>
            <a:endParaRPr lang="en-US" sz="1320" dirty="0"/>
          </a:p>
        </p:txBody>
      </p:sp>
      <p:sp>
        <p:nvSpPr>
          <p:cNvPr id="28" name="Text 26"/>
          <p:cNvSpPr/>
          <p:nvPr/>
        </p:nvSpPr>
        <p:spPr>
          <a:xfrm>
            <a:off x="502920" y="6528816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Future-state experience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22960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dashboard becomes the front door — not the renewal engine.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0972800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697480" y="3017520"/>
            <a:ext cx="960120" cy="0"/>
          </a:xfrm>
          <a:prstGeom prst="line">
            <a:avLst/>
          </a:prstGeom>
          <a:noFill/>
          <a:ln w="25400">
            <a:solidFill>
              <a:srgbClr val="8CA2B8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212080" y="3017520"/>
            <a:ext cx="960120" cy="0"/>
          </a:xfrm>
          <a:prstGeom prst="line">
            <a:avLst/>
          </a:prstGeom>
          <a:noFill/>
          <a:ln w="25400">
            <a:solidFill>
              <a:srgbClr val="8CA2B8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726680" y="3017520"/>
            <a:ext cx="960120" cy="0"/>
          </a:xfrm>
          <a:prstGeom prst="line">
            <a:avLst/>
          </a:prstGeom>
          <a:noFill/>
          <a:ln w="25400">
            <a:solidFill>
              <a:srgbClr val="8CA2B8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966960" y="3017520"/>
            <a:ext cx="411480" cy="0"/>
          </a:xfrm>
          <a:prstGeom prst="line">
            <a:avLst/>
          </a:prstGeom>
          <a:noFill/>
          <a:ln w="25400">
            <a:solidFill>
              <a:srgbClr val="8CA2B8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417320" y="3657600"/>
            <a:ext cx="0" cy="685800"/>
          </a:xfrm>
          <a:prstGeom prst="line">
            <a:avLst/>
          </a:prstGeom>
          <a:noFill/>
          <a:ln w="25400">
            <a:solidFill>
              <a:srgbClr val="11A0B6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31520" y="2423160"/>
            <a:ext cx="1965960" cy="1188720"/>
          </a:xfrm>
          <a:prstGeom prst="roundRect">
            <a:avLst>
              <a:gd name="adj" fmla="val 9231"/>
            </a:avLst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569464"/>
            <a:ext cx="18196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SRE selects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certificate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0" y="2423160"/>
            <a:ext cx="1554480" cy="1188720"/>
          </a:xfrm>
          <a:prstGeom prst="roundRect">
            <a:avLst>
              <a:gd name="adj" fmla="val 9231"/>
            </a:avLst>
          </a:prstGeom>
          <a:solidFill>
            <a:srgbClr val="11A0B6"/>
          </a:solidFill>
          <a:ln w="12700">
            <a:solidFill>
              <a:srgbClr val="11A0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30752" y="2569464"/>
            <a:ext cx="14081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Renew action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from dashboard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72200" y="2423160"/>
            <a:ext cx="1554480" cy="1188720"/>
          </a:xfrm>
          <a:prstGeom prst="roundRect">
            <a:avLst>
              <a:gd name="adj" fmla="val 9231"/>
            </a:avLst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2569464"/>
            <a:ext cx="14081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Existing tower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automation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686800" y="2423160"/>
            <a:ext cx="1280160" cy="1188720"/>
          </a:xfrm>
          <a:prstGeom prst="roundRect">
            <a:avLst>
              <a:gd name="adj" fmla="val 9231"/>
            </a:avLst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59952" y="2569464"/>
            <a:ext cx="11338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RITM / CHG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controls stay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378440" y="2423160"/>
            <a:ext cx="1143000" cy="1188720"/>
          </a:xfrm>
          <a:prstGeom prst="roundRect">
            <a:avLst>
              <a:gd name="adj" fmla="val 9600"/>
            </a:avLst>
          </a:prstGeom>
          <a:solidFill>
            <a:srgbClr val="17233A"/>
          </a:solidFill>
          <a:ln w="12700">
            <a:solidFill>
              <a:srgbClr val="1723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51592" y="2569464"/>
            <a:ext cx="9966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Status back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to dashboard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68680" y="4434840"/>
            <a:ext cx="43891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4434840"/>
            <a:ext cx="82296" cy="1143000"/>
          </a:xfrm>
          <a:prstGeom prst="rect">
            <a:avLst/>
          </a:prstGeom>
          <a:solidFill>
            <a:srgbClr val="11A0B6"/>
          </a:solidFill>
          <a:ln w="12700">
            <a:solidFill>
              <a:srgbClr val="11A0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463600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233A"/>
                </a:solidFill>
              </a:rPr>
              <a:t>Design principle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97280" y="5047488"/>
            <a:ext cx="397764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</a:rPr>
              <a:t>Do not duplicate tower automation. Reuse existing approved workflows and standardize the way SREs initiate and track renewals.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989320" y="4434840"/>
            <a:ext cx="43891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89320" y="4434840"/>
            <a:ext cx="82296" cy="1143000"/>
          </a:xfrm>
          <a:prstGeom prst="rect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463600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233A"/>
                </a:solidFill>
              </a:rPr>
              <a:t>Production guardrail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217920" y="5047488"/>
            <a:ext cx="397764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</a:rPr>
              <a:t>A Renew action should not bypass approvals, risk review, RITM, or CHG. It should route through the controlled process.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02920" y="6528816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 focus: prove the reusable pattern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22960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POC small enough to finish, but real enough to prove the model.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0972800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54480"/>
            <a:ext cx="5029200" cy="2011680"/>
          </a:xfrm>
          <a:prstGeom prst="roundRect">
            <a:avLst>
              <a:gd name="adj" fmla="val 5455"/>
            </a:avLst>
          </a:prstGeom>
          <a:solidFill>
            <a:srgbClr val="F4F8FF"/>
          </a:solidFill>
          <a:ln w="12700">
            <a:solidFill>
              <a:srgbClr val="C8DA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783080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1E5AA8"/>
          </a:solidFill>
          <a:ln w="12700">
            <a:solidFill>
              <a:srgbClr val="1E5AA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9848" y="1851660"/>
            <a:ext cx="12893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POC Candidate 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05840" y="2240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233A"/>
                </a:solidFill>
              </a:rPr>
              <a:t>Digital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005840" y="267004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Existing Ansible/AAP workflows reviewed for Tomcat, F5, WebSphere, Apache, and external client certificates.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55080" y="1554480"/>
            <a:ext cx="5029200" cy="2011680"/>
          </a:xfrm>
          <a:prstGeom prst="roundRect">
            <a:avLst>
              <a:gd name="adj" fmla="val 5455"/>
            </a:avLst>
          </a:prstGeom>
          <a:solidFill>
            <a:srgbClr val="EAF8F5"/>
          </a:solidFill>
          <a:ln w="12700">
            <a:solidFill>
              <a:srgbClr val="B9DE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1783080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11A0B6"/>
          </a:solidFill>
          <a:ln w="12700">
            <a:solidFill>
              <a:srgbClr val="11A0B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47688" y="1851660"/>
            <a:ext cx="12893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POC Candidate 2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583680" y="2240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233A"/>
                </a:solidFill>
              </a:rPr>
              <a:t>DCI NetAuth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583680" y="267004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Existing AAP-based renewal process under review; useful second case to confirm the pattern is reusable.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4160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233A"/>
                </a:solidFill>
              </a:rPr>
              <a:t>What the POC must prove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68680" y="4686300"/>
            <a:ext cx="411480" cy="411480"/>
          </a:xfrm>
          <a:prstGeom prst="ellipse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818888"/>
            <a:ext cx="41148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71600" y="472744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33A"/>
                </a:solidFill>
              </a:rPr>
              <a:t>Trigger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71600" y="4983480"/>
            <a:ext cx="1920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Can the dashboard start the correct job?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0" y="4686300"/>
            <a:ext cx="411480" cy="411480"/>
          </a:xfrm>
          <a:prstGeom prst="ellipse">
            <a:avLst/>
          </a:prstGeom>
          <a:solidFill>
            <a:srgbClr val="11A0B6"/>
          </a:solidFill>
          <a:ln w="12700">
            <a:solidFill>
              <a:srgbClr val="11A0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0" y="4818888"/>
            <a:ext cx="41148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60520" y="472744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33A"/>
                </a:solidFill>
              </a:rPr>
              <a:t>Inputs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60520" y="4983480"/>
            <a:ext cx="1920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Can the cert/env details be passed safely?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446520" y="4673330"/>
            <a:ext cx="411480" cy="411480"/>
          </a:xfrm>
          <a:prstGeom prst="ellipse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4818888"/>
            <a:ext cx="41148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49440" y="472744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33A"/>
                </a:solidFill>
              </a:rPr>
              <a:t>Status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49440" y="4983480"/>
            <a:ext cx="1920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Can job result be shown back in the dashboard?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235440" y="4700389"/>
            <a:ext cx="411480" cy="411480"/>
          </a:xfrm>
          <a:prstGeom prst="ellipse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35440" y="4818888"/>
            <a:ext cx="41148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738360" y="472744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33A"/>
                </a:solidFill>
              </a:rPr>
              <a:t>Controls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738360" y="4983480"/>
            <a:ext cx="1920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Do approvals and CHG still remain intact?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02920" y="6528816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items for stakeholder alignment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22960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decisions determine whether we build the right thing in the right place.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0972800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347472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600200"/>
            <a:ext cx="82296" cy="292608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801368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233A"/>
                </a:solidFill>
              </a:rPr>
              <a:t>1. Target platform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2212848"/>
            <a:ext cx="3063240" cy="21488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</a:rPr>
              <a:t>Dave flagged that DFS ServiceNow may not be the right long-term build location because of COF ServiceNow convergence.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</a:rPr>
              <a:t>We need alignment before deeper build effort.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600200"/>
            <a:ext cx="347472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43400" y="1600200"/>
            <a:ext cx="82296" cy="2926080"/>
          </a:xfrm>
          <a:prstGeom prst="rect">
            <a:avLst/>
          </a:prstGeom>
          <a:solidFill>
            <a:srgbClr val="11A0B6"/>
          </a:solidFill>
          <a:ln w="12700">
            <a:solidFill>
              <a:srgbClr val="11A0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801368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233A"/>
                </a:solidFill>
              </a:rPr>
              <a:t>2. AAP integration path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0" y="2212848"/>
            <a:ext cx="3063240" cy="21488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</a:rPr>
              <a:t>Ticket INC24193491 is open to confirm API/spoke availability for launching AAP jobs and retrieving execution status.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863840" y="1600200"/>
            <a:ext cx="347472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0" y="1600200"/>
            <a:ext cx="82296" cy="2926080"/>
          </a:xfrm>
          <a:prstGeom prst="rect">
            <a:avLst/>
          </a:prstGeom>
          <a:solidFill>
            <a:srgbClr val="F2B441"/>
          </a:solidFill>
          <a:ln w="12700">
            <a:solidFill>
              <a:srgbClr val="F2B4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92440" y="1801368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233A"/>
                </a:solidFill>
              </a:rPr>
              <a:t>3. POC scope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092440" y="2212848"/>
            <a:ext cx="3063240" cy="21488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</a:rPr>
              <a:t>Validate the Renew experience with Digital and DCI NetAuth, then reuse the confirmed pattern for other towers where it fits.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14400" y="51663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7233A"/>
                </a:solidFill>
              </a:rPr>
              <a:t>Stakeholder ask: confirm the right platform direction and help identify the correct AAP / ServiceNow integration owners.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502920" y="6528816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demo: current dashboard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22960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look for in the demo today.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115568"/>
            <a:ext cx="10972800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08760"/>
            <a:ext cx="10652760" cy="3749040"/>
          </a:xfrm>
          <a:prstGeom prst="roundRect">
            <a:avLst>
              <a:gd name="adj" fmla="val 2927"/>
            </a:avLst>
          </a:prstGeom>
          <a:solidFill>
            <a:srgbClr val="F4F7FA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1783080"/>
            <a:ext cx="10012680" cy="502920"/>
          </a:xfrm>
          <a:prstGeom prst="roundRect">
            <a:avLst>
              <a:gd name="adj" fmla="val 10909"/>
            </a:avLst>
          </a:prstGeom>
          <a:solidFill>
            <a:srgbClr val="17233A"/>
          </a:solidFill>
          <a:ln w="12700">
            <a:solidFill>
              <a:srgbClr val="1723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1956816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GPN SRE Certificate Dashboard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188720" y="2542032"/>
            <a:ext cx="1600200" cy="292608"/>
          </a:xfrm>
          <a:prstGeom prst="roundRect">
            <a:avLst>
              <a:gd name="adj" fmla="val 25000"/>
            </a:avLst>
          </a:prstGeom>
          <a:solidFill>
            <a:srgbClr val="A7B6C7"/>
          </a:solidFill>
          <a:ln w="12700">
            <a:solidFill>
              <a:srgbClr val="A7B6C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52728" y="2610612"/>
            <a:ext cx="1472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Digital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0" y="2542032"/>
            <a:ext cx="1600200" cy="292608"/>
          </a:xfrm>
          <a:prstGeom prst="roundRect">
            <a:avLst>
              <a:gd name="adj" fmla="val 25000"/>
            </a:avLst>
          </a:prstGeom>
          <a:solidFill>
            <a:srgbClr val="11A0B6"/>
          </a:solidFill>
          <a:ln w="12700">
            <a:solidFill>
              <a:srgbClr val="11A0B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4408" y="2610612"/>
            <a:ext cx="1472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DCI NetAuth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212080" y="2542032"/>
            <a:ext cx="1600200" cy="292608"/>
          </a:xfrm>
          <a:prstGeom prst="roundRect">
            <a:avLst>
              <a:gd name="adj" fmla="val 25000"/>
            </a:avLst>
          </a:prstGeom>
          <a:solidFill>
            <a:srgbClr val="A7B6C7"/>
          </a:solidFill>
          <a:ln w="12700">
            <a:solidFill>
              <a:srgbClr val="A7B6C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76088" y="2610612"/>
            <a:ext cx="1472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Settlements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223760" y="2542032"/>
            <a:ext cx="1600200" cy="292608"/>
          </a:xfrm>
          <a:prstGeom prst="roundRect">
            <a:avLst>
              <a:gd name="adj" fmla="val 25000"/>
            </a:avLst>
          </a:prstGeom>
          <a:solidFill>
            <a:srgbClr val="A7B6C7"/>
          </a:solidFill>
          <a:ln w="12700">
            <a:solidFill>
              <a:srgbClr val="A7B6C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87768" y="2610612"/>
            <a:ext cx="1472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GPN Other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188720" y="3246120"/>
            <a:ext cx="9784080" cy="320040"/>
          </a:xfrm>
          <a:prstGeom prst="rect">
            <a:avLst/>
          </a:prstGeom>
          <a:solidFill>
            <a:srgbClr val="D9E3F0"/>
          </a:solidFill>
          <a:ln w="12700">
            <a:solidFill>
              <a:srgbClr val="C6D1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25880" y="3346704"/>
            <a:ext cx="15544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7233A"/>
                </a:solidFill>
              </a:rPr>
              <a:t>Certificate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200400" y="3346704"/>
            <a:ext cx="15544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7233A"/>
                </a:solidFill>
              </a:rPr>
              <a:t>Owner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074920" y="3346704"/>
            <a:ext cx="15544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7233A"/>
                </a:solidFill>
              </a:rPr>
              <a:t>Expires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949440" y="3346704"/>
            <a:ext cx="15544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7233A"/>
                </a:solidFill>
              </a:rPr>
              <a:t>Renewal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8823960" y="3346704"/>
            <a:ext cx="15544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7233A"/>
                </a:solidFill>
              </a:rPr>
              <a:t>Status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1188720" y="3566160"/>
            <a:ext cx="9784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25880" y="3721608"/>
            <a:ext cx="1600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111827"/>
                </a:solidFill>
              </a:rPr>
              <a:t>NetAuth Cert</a:t>
            </a:r>
            <a:endParaRPr lang="en-US" sz="730" dirty="0"/>
          </a:p>
        </p:txBody>
      </p:sp>
      <p:sp>
        <p:nvSpPr>
          <p:cNvPr id="24" name="Text 22"/>
          <p:cNvSpPr/>
          <p:nvPr/>
        </p:nvSpPr>
        <p:spPr>
          <a:xfrm>
            <a:off x="3200400" y="3721608"/>
            <a:ext cx="1600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111827"/>
                </a:solidFill>
              </a:rPr>
              <a:t>DCI NetAuth</a:t>
            </a:r>
            <a:endParaRPr lang="en-US" sz="730" dirty="0"/>
          </a:p>
        </p:txBody>
      </p:sp>
      <p:sp>
        <p:nvSpPr>
          <p:cNvPr id="25" name="Text 23"/>
          <p:cNvSpPr/>
          <p:nvPr/>
        </p:nvSpPr>
        <p:spPr>
          <a:xfrm>
            <a:off x="5074920" y="3721608"/>
            <a:ext cx="1600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111827"/>
                </a:solidFill>
              </a:rPr>
              <a:t>Sep</a:t>
            </a:r>
            <a:endParaRPr lang="en-US" sz="730" dirty="0"/>
          </a:p>
        </p:txBody>
      </p:sp>
      <p:sp>
        <p:nvSpPr>
          <p:cNvPr id="26" name="Text 24"/>
          <p:cNvSpPr/>
          <p:nvPr/>
        </p:nvSpPr>
        <p:spPr>
          <a:xfrm>
            <a:off x="6949440" y="3721608"/>
            <a:ext cx="1600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111827"/>
                </a:solidFill>
              </a:rPr>
              <a:t>AAP</a:t>
            </a:r>
            <a:endParaRPr lang="en-US" sz="730" dirty="0"/>
          </a:p>
        </p:txBody>
      </p:sp>
      <p:sp>
        <p:nvSpPr>
          <p:cNvPr id="27" name="Text 25"/>
          <p:cNvSpPr/>
          <p:nvPr/>
        </p:nvSpPr>
        <p:spPr>
          <a:xfrm>
            <a:off x="8823960" y="3721608"/>
            <a:ext cx="1600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111827"/>
                </a:solidFill>
              </a:rPr>
              <a:t>In review</a:t>
            </a:r>
            <a:endParaRPr lang="en-US" sz="730" dirty="0"/>
          </a:p>
        </p:txBody>
      </p:sp>
      <p:sp>
        <p:nvSpPr>
          <p:cNvPr id="28" name="Shape 26"/>
          <p:cNvSpPr/>
          <p:nvPr/>
        </p:nvSpPr>
        <p:spPr>
          <a:xfrm>
            <a:off x="1188720" y="4005072"/>
            <a:ext cx="9784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25880" y="4160520"/>
            <a:ext cx="1600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111827"/>
                </a:solidFill>
              </a:rPr>
              <a:t>WMS ELB</a:t>
            </a:r>
            <a:endParaRPr lang="en-US" sz="730" dirty="0"/>
          </a:p>
        </p:txBody>
      </p:sp>
      <p:sp>
        <p:nvSpPr>
          <p:cNvPr id="30" name="Text 28"/>
          <p:cNvSpPr/>
          <p:nvPr/>
        </p:nvSpPr>
        <p:spPr>
          <a:xfrm>
            <a:off x="3200400" y="4160520"/>
            <a:ext cx="1600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111827"/>
                </a:solidFill>
              </a:rPr>
              <a:t>DN Settlement</a:t>
            </a:r>
            <a:endParaRPr lang="en-US" sz="730" dirty="0"/>
          </a:p>
        </p:txBody>
      </p:sp>
      <p:sp>
        <p:nvSpPr>
          <p:cNvPr id="31" name="Text 29"/>
          <p:cNvSpPr/>
          <p:nvPr/>
        </p:nvSpPr>
        <p:spPr>
          <a:xfrm>
            <a:off x="5074920" y="4160520"/>
            <a:ext cx="1600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111827"/>
                </a:solidFill>
              </a:rPr>
              <a:t>Sep</a:t>
            </a:r>
            <a:endParaRPr lang="en-US" sz="730" dirty="0"/>
          </a:p>
        </p:txBody>
      </p:sp>
      <p:sp>
        <p:nvSpPr>
          <p:cNvPr id="32" name="Text 30"/>
          <p:cNvSpPr/>
          <p:nvPr/>
        </p:nvSpPr>
        <p:spPr>
          <a:xfrm>
            <a:off x="6949440" y="4160520"/>
            <a:ext cx="1600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111827"/>
                </a:solidFill>
              </a:rPr>
              <a:t>Manual</a:t>
            </a:r>
            <a:endParaRPr lang="en-US" sz="730" dirty="0"/>
          </a:p>
        </p:txBody>
      </p:sp>
      <p:sp>
        <p:nvSpPr>
          <p:cNvPr id="33" name="Text 31"/>
          <p:cNvSpPr/>
          <p:nvPr/>
        </p:nvSpPr>
        <p:spPr>
          <a:xfrm>
            <a:off x="8823960" y="4160520"/>
            <a:ext cx="1600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111827"/>
                </a:solidFill>
              </a:rPr>
              <a:t>Tracked</a:t>
            </a:r>
            <a:endParaRPr lang="en-US" sz="730" dirty="0"/>
          </a:p>
        </p:txBody>
      </p:sp>
      <p:sp>
        <p:nvSpPr>
          <p:cNvPr id="34" name="Shape 32"/>
          <p:cNvSpPr/>
          <p:nvPr/>
        </p:nvSpPr>
        <p:spPr>
          <a:xfrm>
            <a:off x="1188720" y="4443984"/>
            <a:ext cx="9784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25880" y="4599432"/>
            <a:ext cx="1600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111827"/>
                </a:solidFill>
              </a:rPr>
              <a:t>WebSphere</a:t>
            </a:r>
            <a:endParaRPr lang="en-US" sz="730" dirty="0"/>
          </a:p>
        </p:txBody>
      </p:sp>
      <p:sp>
        <p:nvSpPr>
          <p:cNvPr id="36" name="Text 34"/>
          <p:cNvSpPr/>
          <p:nvPr/>
        </p:nvSpPr>
        <p:spPr>
          <a:xfrm>
            <a:off x="3200400" y="4599432"/>
            <a:ext cx="1600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111827"/>
                </a:solidFill>
              </a:rPr>
              <a:t>Digital</a:t>
            </a:r>
            <a:endParaRPr lang="en-US" sz="730" dirty="0"/>
          </a:p>
        </p:txBody>
      </p:sp>
      <p:sp>
        <p:nvSpPr>
          <p:cNvPr id="37" name="Text 35"/>
          <p:cNvSpPr/>
          <p:nvPr/>
        </p:nvSpPr>
        <p:spPr>
          <a:xfrm>
            <a:off x="5074920" y="4599432"/>
            <a:ext cx="1600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111827"/>
                </a:solidFill>
              </a:rPr>
              <a:t>Oct</a:t>
            </a:r>
            <a:endParaRPr lang="en-US" sz="730" dirty="0"/>
          </a:p>
        </p:txBody>
      </p:sp>
      <p:sp>
        <p:nvSpPr>
          <p:cNvPr id="38" name="Text 36"/>
          <p:cNvSpPr/>
          <p:nvPr/>
        </p:nvSpPr>
        <p:spPr>
          <a:xfrm>
            <a:off x="6949440" y="4599432"/>
            <a:ext cx="1600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111827"/>
                </a:solidFill>
              </a:rPr>
              <a:t>AAP</a:t>
            </a:r>
            <a:endParaRPr lang="en-US" sz="730" dirty="0"/>
          </a:p>
        </p:txBody>
      </p:sp>
      <p:sp>
        <p:nvSpPr>
          <p:cNvPr id="39" name="Text 37"/>
          <p:cNvSpPr/>
          <p:nvPr/>
        </p:nvSpPr>
        <p:spPr>
          <a:xfrm>
            <a:off x="8823960" y="4599432"/>
            <a:ext cx="1600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111827"/>
                </a:solidFill>
              </a:rPr>
              <a:t>POC candidate</a:t>
            </a:r>
            <a:endParaRPr lang="en-US" sz="730" dirty="0"/>
          </a:p>
        </p:txBody>
      </p:sp>
      <p:sp>
        <p:nvSpPr>
          <p:cNvPr id="41" name="Text 39"/>
          <p:cNvSpPr/>
          <p:nvPr/>
        </p:nvSpPr>
        <p:spPr>
          <a:xfrm>
            <a:off x="868680" y="5833872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02920" y="6528816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33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4173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Thank You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04672" y="22860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04672" y="269748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04672" y="3749040"/>
            <a:ext cx="6400800" cy="0"/>
          </a:xfrm>
          <a:prstGeom prst="line">
            <a:avLst/>
          </a:prstGeom>
          <a:noFill/>
          <a:ln w="38100">
            <a:solidFill>
              <a:srgbClr val="11A0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114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Questions 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1032</Words>
  <Application>Microsoft Office PowerPoint</Application>
  <PresentationFormat>Widescreen</PresentationFormat>
  <Paragraphs>149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Capital One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GPN Certificate Renewal Dashboard - Stakeholder Update</dc:title>
  <dc:subject>GPN Centralized Certificate Renewal Dashboard stakeholder update</dc:subject>
  <dc:creator>GPN SRE</dc:creator>
  <cp:lastModifiedBy>Muhammad Sami</cp:lastModifiedBy>
  <cp:revision>2</cp:revision>
  <dcterms:created xsi:type="dcterms:W3CDTF">2026-09-08T18:46:45Z</dcterms:created>
  <dcterms:modified xsi:type="dcterms:W3CDTF">2026-09-08T18:59:51Z</dcterms:modified>
</cp:coreProperties>
</file>