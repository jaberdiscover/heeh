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Reliability is not a checklist; it is a decision-making model. Tell the room they will play the engineering team and vote on what to ship, stabilize, or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that the demo is designed around trade-offs. Every audience vote has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room that there are no perfect answers. The game rewards balance and forces visible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scenario catalog in the site: Real-Time Fraud Detection Engine, Cross-Border Instant Settlement, Third-Party E-Wallet Integration, Automated Dispute Reconciliation, Holiday Calendar Validation Logic, Merchant Settlement File Monitoring, Database Query Refactoring, Regression Testing Suite Update, Incident Detection &amp; Observability Fix, and Pre-Transmission Validation Hardening.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backup example if the live site fails. It also sets up exactly how the audience should vote during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presenting, test the local folder with Wi-Fi off. Keep the HTML and deck in the same folder. If the link does not open due to corporate restrictions, open Launch_Game.bat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whoever presents the demo. The script intentionally keeps it conversational and not too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game back to the overall summit theme: from modeling reliability to demonstrating and scaling reliable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index.html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058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Would You Ship It?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offline CORE Summit simulation for making reliability trade-offs visible.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414016"/>
            <a:ext cx="5943600" cy="1261872"/>
          </a:xfrm>
          <a:prstGeom prst="roundRect">
            <a:avLst>
              <a:gd name="adj" fmla="val 13043"/>
            </a:avLst>
          </a:prstGeom>
          <a:solidFill>
            <a:srgbClr val="102139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1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plays the engineering 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4495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decision changes error budget, product value, and customer trust in real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54D39A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61A9FF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FFC94A">
                <a:alpha val="9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81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FF646B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9B6CED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35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22B8E6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2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E852B1">
                <a:alpha val="9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900000">
            <a:off x="7772400" y="1645920"/>
            <a:ext cx="3154680" cy="3154680"/>
          </a:xfrm>
          <a:prstGeom prst="arc">
            <a:avLst/>
          </a:prstGeom>
          <a:solidFill>
            <a:srgbClr val="07111F">
              <a:alpha val="0"/>
            </a:srgbClr>
          </a:solidFill>
          <a:ln w="203200">
            <a:solidFill>
              <a:srgbClr val="FFE23D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2792" y="2496312"/>
            <a:ext cx="1463040" cy="1463040"/>
          </a:xfrm>
          <a:prstGeom prst="ellipse">
            <a:avLst/>
          </a:prstGeom>
          <a:solidFill>
            <a:srgbClr val="0B1B31"/>
          </a:solidFill>
          <a:ln w="50800">
            <a:solidFill>
              <a:srgbClr val="2D3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-600000">
            <a:off x="8833104" y="297180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134856" y="1344168"/>
            <a:ext cx="384048" cy="402336"/>
          </a:xfrm>
          <a:prstGeom prst="triangle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95928"/>
            <a:ext cx="2377440" cy="320040"/>
          </a:xfrm>
          <a:prstGeom prst="roundRect">
            <a:avLst>
              <a:gd name="adj" fmla="val 34286"/>
            </a:avLst>
          </a:prstGeom>
          <a:solidFill>
            <a:srgbClr val="54D39A"/>
          </a:solidFill>
          <a:ln w="12700">
            <a:solidFill>
              <a:srgbClr val="54D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069080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• NO INTERNET REQUIRED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46120" y="3995928"/>
            <a:ext cx="1463040" cy="320040"/>
          </a:xfrm>
          <a:prstGeom prst="roundRect">
            <a:avLst>
              <a:gd name="adj" fmla="val 34286"/>
            </a:avLst>
          </a:prstGeom>
          <a:solidFill>
            <a:srgbClr val="FFC94A"/>
          </a:solidFill>
          <a:ln w="12700">
            <a:solidFill>
              <a:srgbClr val="FFC9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406908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SPRINT DAYS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864608" y="3995928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61A9FF"/>
          </a:solidFill>
          <a:ln w="12700">
            <a:solidFill>
              <a:srgbClr val="61A9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406908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VOTE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85800" y="46177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in PowerPoint, launch the local game, then return to close with the learning.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demo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77824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turns SLO / error-budget theory into a live engineering decision.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286000" cy="1417320"/>
          </a:xfrm>
          <a:prstGeom prst="roundRect">
            <a:avLst>
              <a:gd name="adj" fmla="val 11613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280160"/>
            <a:ext cx="502920" cy="502920"/>
          </a:xfrm>
          <a:prstGeom prst="ellipse">
            <a:avLst/>
          </a:prstGeom>
          <a:solidFill>
            <a:srgbClr val="61A9FF"/>
          </a:solidFill>
          <a:ln w="12700">
            <a:solidFill>
              <a:srgbClr val="61A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4500" y="14036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or operational risk appears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82112" y="2514600"/>
            <a:ext cx="338328" cy="0"/>
          </a:xfrm>
          <a:prstGeom prst="line">
            <a:avLst/>
          </a:prstGeom>
          <a:noFill/>
          <a:ln w="25400">
            <a:solidFill>
              <a:srgbClr val="16B6D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1828800"/>
            <a:ext cx="2286000" cy="1417320"/>
          </a:xfrm>
          <a:prstGeom prst="roundRect">
            <a:avLst>
              <a:gd name="adj" fmla="val 11613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280160"/>
            <a:ext cx="502920" cy="502920"/>
          </a:xfrm>
          <a:prstGeom prst="ellipse">
            <a:avLst/>
          </a:prstGeom>
          <a:solidFill>
            <a:srgbClr val="FFC94A"/>
          </a:solidFill>
          <a:ln w="12700">
            <a:solidFill>
              <a:srgbClr val="FFC9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9140" y="14036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chooses option 1, 2, or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16752" y="2514600"/>
            <a:ext cx="338328" cy="0"/>
          </a:xfrm>
          <a:prstGeom prst="line">
            <a:avLst/>
          </a:prstGeom>
          <a:noFill/>
          <a:ln w="25400">
            <a:solidFill>
              <a:srgbClr val="16B6D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1828800"/>
            <a:ext cx="2286000" cy="1417320"/>
          </a:xfrm>
          <a:prstGeom prst="roundRect">
            <a:avLst>
              <a:gd name="adj" fmla="val 11613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280160"/>
            <a:ext cx="502920" cy="502920"/>
          </a:xfrm>
          <a:prstGeom prst="ellipse">
            <a:avLst/>
          </a:prstGeom>
          <a:solidFill>
            <a:srgbClr val="54D39A"/>
          </a:solidFill>
          <a:ln w="12700">
            <a:solidFill>
              <a:srgbClr val="54D39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3780" y="14036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update immediately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51392" y="2514600"/>
            <a:ext cx="338328" cy="0"/>
          </a:xfrm>
          <a:prstGeom prst="line">
            <a:avLst/>
          </a:prstGeom>
          <a:noFill/>
          <a:ln w="25400">
            <a:solidFill>
              <a:srgbClr val="16B6D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81160" y="1828800"/>
            <a:ext cx="2286000" cy="1417320"/>
          </a:xfrm>
          <a:prstGeom prst="roundRect">
            <a:avLst>
              <a:gd name="adj" fmla="val 11613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4120" y="1280160"/>
            <a:ext cx="502920" cy="502920"/>
          </a:xfrm>
          <a:prstGeom prst="ellipse">
            <a:avLst/>
          </a:prstGeom>
          <a:solidFill>
            <a:srgbClr val="16B6D8"/>
          </a:solidFill>
          <a:ln w="12700">
            <a:solidFill>
              <a:srgbClr val="16B6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8420" y="14036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0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Debrief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0976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the trade-off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54D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lesson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22960" y="4297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is not “ship everything” or “block everything.” Winning is knowing how much change the service can safely absorb.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77824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sprint days. Maximize value. Protect reliability.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7373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23544" y="1984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1/5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7373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66744" y="1984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7373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VALUE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9944" y="1984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9006840" y="16002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3144" y="17373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TRUST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53144" y="1984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868680" y="3429000"/>
            <a:ext cx="4937760" cy="1554480"/>
          </a:xfrm>
          <a:prstGeom prst="roundRect">
            <a:avLst>
              <a:gd name="adj" fmla="val 11765"/>
            </a:avLst>
          </a:prstGeom>
          <a:solidFill>
            <a:srgbClr val="102139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675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Presenter role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40965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Spin the scenario wheel
</a:t>
            </a:r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Read the decision out loud
</a:t>
            </a:r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Ask the room to vote
</a:t>
            </a:r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Reveal the outcome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4937760" cy="1554480"/>
          </a:xfrm>
          <a:prstGeom prst="roundRect">
            <a:avLst>
              <a:gd name="adj" fmla="val 11765"/>
            </a:avLst>
          </a:prstGeom>
          <a:solidFill>
            <a:srgbClr val="102139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675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 role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40965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Vote like the engineering team
</a:t>
            </a:r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Balance delivery and stability
</a:t>
            </a:r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Watch the metrics move
</a:t>
            </a:r>
            <a:pPr indent="0" marL="0">
              <a:buNone/>
            </a:pPr>
            <a:r>
              <a:rPr lang="en-US" sz="13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Debrief the trade-off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condition: balanced engineering — enough product value delivered while preserving error budget and customer trust.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catalog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77824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wheel uses real feature and reliability examples from the working slide.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3429000" cy="3977640"/>
          </a:xfrm>
          <a:prstGeom prst="roundRect">
            <a:avLst>
              <a:gd name="adj" fmla="val 48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4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Aggressive Features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2176272"/>
            <a:ext cx="2606040" cy="0"/>
          </a:xfrm>
          <a:prstGeom prst="line">
            <a:avLst/>
          </a:prstGeom>
          <a:noFill/>
          <a:ln w="19050">
            <a:solidFill>
              <a:srgbClr val="FF64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business value, high reliability exposure.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" y="324612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332988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Fraud Detection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1069848" y="3675888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62756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Cross-Border Settlement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1069848" y="4105656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192524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E-Wallet Integration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507992" y="1572768"/>
            <a:ext cx="3429000" cy="3977640"/>
          </a:xfrm>
          <a:prstGeom prst="roundRect">
            <a:avLst>
              <a:gd name="adj" fmla="val 48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828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6C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Stabilized Features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19472" y="2176272"/>
            <a:ext cx="2606040" cy="0"/>
          </a:xfrm>
          <a:prstGeom prst="line">
            <a:avLst/>
          </a:prstGeom>
          <a:noFill/>
          <a:ln w="19050">
            <a:solidFill>
              <a:srgbClr val="9B6C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value with controlled operational risk.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92040" y="324612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3332988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Reconciliation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892040" y="3675888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762756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Calendar Validation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892040" y="4105656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4192524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File Monitoring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330184" y="1572768"/>
            <a:ext cx="3429000" cy="3977640"/>
          </a:xfrm>
          <a:prstGeom prst="roundRect">
            <a:avLst>
              <a:gd name="adj" fmla="val 4800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1828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4D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Tasks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741664" y="2176272"/>
            <a:ext cx="2606040" cy="0"/>
          </a:xfrm>
          <a:prstGeom prst="line">
            <a:avLst/>
          </a:prstGeom>
          <a:noFill/>
          <a:ln w="19050">
            <a:solidFill>
              <a:srgbClr val="54D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77656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immediate feature value, but restores reliability capacity.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714232" y="324612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33104" y="3332988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Query Refactor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714232" y="3675888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33104" y="3762756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Suite Update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714232" y="4105656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33104" y="4192524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/ Detection Fix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714232" y="4535424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B31"/>
          </a:solidFill>
          <a:ln w="12700">
            <a:solidFill>
              <a:srgbClr val="2D3B50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33104" y="4622292"/>
            <a:ext cx="2395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Pre-Transmission Validation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777240" y="58704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simulation randomly picks five scenarios. Each has three choices: ship fast, release safely, or invest in reliability.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mechanics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77824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enough for an offline room; structured enough to teach the trade-off.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074920" cy="4251960"/>
          </a:xfrm>
          <a:prstGeom prst="roundRect">
            <a:avLst>
              <a:gd name="adj" fmla="val 4301"/>
            </a:avLst>
          </a:prstGeom>
          <a:solidFill>
            <a:srgbClr val="102139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37360"/>
            <a:ext cx="1463040" cy="320040"/>
          </a:xfrm>
          <a:prstGeom prst="roundRect">
            <a:avLst>
              <a:gd name="adj" fmla="val 34286"/>
            </a:avLst>
          </a:prstGeom>
          <a:solidFill>
            <a:srgbClr val="9B6CED"/>
          </a:solidFill>
          <a:ln w="12700">
            <a:solidFill>
              <a:srgbClr val="9B6C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81051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STABILIZED FEATURE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87552" y="2240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Holiday Calendar Validation Logic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87552" y="2898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holiday rules can delay ACH files and wire transfers if validation gaps are missed.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87552" y="3657600"/>
            <a:ext cx="4389120" cy="429768"/>
          </a:xfrm>
          <a:prstGeom prst="roundRect">
            <a:avLst>
              <a:gd name="adj" fmla="val 21277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373075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2D3B50"/>
          </a:solidFill>
          <a:ln w="12700">
            <a:solidFill>
              <a:srgbClr val="2D3B5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78561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81328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validation first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81328" y="390448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+6 • Value +10 • Trust +4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987552" y="4224528"/>
            <a:ext cx="4389120" cy="429768"/>
          </a:xfrm>
          <a:prstGeom prst="roundRect">
            <a:avLst>
              <a:gd name="adj" fmla="val 21277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429768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2D3B50"/>
          </a:solidFill>
          <a:ln w="12700">
            <a:solidFill>
              <a:srgbClr val="2D3B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435254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81328" y="429768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Proceed without update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81328" y="447141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-8 • Value +12 • Trust -4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987552" y="4791456"/>
            <a:ext cx="4389120" cy="429768"/>
          </a:xfrm>
          <a:prstGeom prst="roundRect">
            <a:avLst>
              <a:gd name="adj" fmla="val 21277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" y="486460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2D3B50"/>
          </a:solidFill>
          <a:ln w="12700">
            <a:solidFill>
              <a:srgbClr val="2D3B5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919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81328" y="486460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manual review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81328" y="5038344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-3 • Value +6 • Trust 0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400800" y="1508760"/>
            <a:ext cx="4983480" cy="3520440"/>
          </a:xfrm>
          <a:prstGeom prst="roundRect">
            <a:avLst>
              <a:gd name="adj" fmla="val 5195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810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result appears immediately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748272" y="2377440"/>
            <a:ext cx="1207008" cy="1051560"/>
          </a:xfrm>
          <a:prstGeom prst="roundRect">
            <a:avLst>
              <a:gd name="adj" fmla="val 10435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2514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94576" y="27614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+6%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8193024" y="2377440"/>
            <a:ext cx="1207008" cy="1051560"/>
          </a:xfrm>
          <a:prstGeom prst="roundRect">
            <a:avLst>
              <a:gd name="adj" fmla="val 10435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514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Value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39328" y="27614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9637776" y="2377440"/>
            <a:ext cx="1207008" cy="1051560"/>
          </a:xfrm>
          <a:prstGeom prst="roundRect">
            <a:avLst>
              <a:gd name="adj" fmla="val 10435"/>
            </a:avLst>
          </a:prstGeom>
          <a:solidFill>
            <a:srgbClr val="172A43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2514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Trust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784080" y="27614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6766560" y="3950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prevented incorrect transmission dates and protected customer commitments during the holiday period.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5870448" y="3474720"/>
            <a:ext cx="393192" cy="0"/>
          </a:xfrm>
          <a:prstGeom prst="line">
            <a:avLst/>
          </a:prstGeom>
          <a:noFill/>
          <a:ln w="25400">
            <a:solidFill>
              <a:srgbClr val="16B6D8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the offline simulation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77824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game runs locally from the same folder as this deck.</a:t>
            </a:r>
            <a:endParaRPr lang="en-US" sz="1650" dirty="0"/>
          </a:p>
        </p:txBody>
      </p:sp>
      <p:pic>
        <p:nvPicPr>
          <p:cNvPr id="5" name="Image 0" descr="/mnt/data/core_site_game.png">    </p:cNvPr>
          <p:cNvPicPr>
            <a:picLocks noChangeAspect="1"/>
          </p:cNvPicPr>
          <p:nvPr/>
        </p:nvPicPr>
        <p:blipFill>
          <a:blip r:embed="rId1"/>
          <a:srcRect l="131" r="131" t="0" b="0"/>
          <a:stretch/>
        </p:blipFill>
        <p:spPr>
          <a:xfrm>
            <a:off x="713232" y="1325880"/>
            <a:ext cx="73609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508760"/>
            <a:ext cx="3154680" cy="3749040"/>
          </a:xfrm>
          <a:prstGeom prst="roundRect">
            <a:avLst>
              <a:gd name="adj" fmla="val 5797"/>
            </a:avLst>
          </a:prstGeom>
          <a:solidFill>
            <a:srgbClr val="102139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Runbook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759952" y="233172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Extract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ZIP folder
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Launch_Game.bat
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Press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Space to spin
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Ask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audience to vote
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Select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1, 2, or 3
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Press</a:t>
            </a:r>
            <a:pPr indent="0" marL="0">
              <a:buNone/>
            </a:pPr>
            <a:r>
              <a:rPr lang="en-US" sz="13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 for next round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4709160"/>
            <a:ext cx="2514600" cy="384048"/>
          </a:xfrm>
          <a:prstGeom prst="roundRect">
            <a:avLst>
              <a:gd name="adj" fmla="val 28571"/>
            </a:avLst>
          </a:prstGeom>
          <a:solidFill>
            <a:srgbClr val="54D39A"/>
          </a:solidFill>
          <a:ln w="12700">
            <a:solidFill>
              <a:srgbClr val="54D39A">
                <a:alpha val="60000"/>
              </a:srgbClr>
            </a:solidFill>
            <a:prstDash val="solid"/>
          </a:ln>
        </p:spPr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8997696" y="481888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Simulation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57790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fallback: double-click index.html and press F11.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Presenter talk track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77824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facilitation short, clear, and energetic.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44200" cy="621792"/>
          </a:xfrm>
          <a:prstGeom prst="roundRect">
            <a:avLst>
              <a:gd name="adj" fmla="val 17647"/>
            </a:avLst>
          </a:prstGeom>
          <a:solidFill>
            <a:srgbClr val="102139"/>
          </a:solidFill>
          <a:ln w="12700">
            <a:solidFill>
              <a:srgbClr val="2D3B5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D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5636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 are the engineering team. Your goal is not to avoid change — it is to make safe change.”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10744200" cy="621792"/>
          </a:xfrm>
          <a:prstGeom prst="roundRect">
            <a:avLst>
              <a:gd name="adj" fmla="val 17647"/>
            </a:avLst>
          </a:prstGeom>
          <a:solidFill>
            <a:srgbClr val="172A43"/>
          </a:solidFill>
          <a:ln w="12700">
            <a:solidFill>
              <a:srgbClr val="2D3B5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414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D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each spin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4048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“Let’s see what the sprint throws at us.”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099816"/>
            <a:ext cx="10744200" cy="621792"/>
          </a:xfrm>
          <a:prstGeom prst="roundRect">
            <a:avLst>
              <a:gd name="adj" fmla="val 17647"/>
            </a:avLst>
          </a:prstGeom>
          <a:solidFill>
            <a:srgbClr val="102139"/>
          </a:solidFill>
          <a:ln w="12700">
            <a:solidFill>
              <a:srgbClr val="2D3B5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826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D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voting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32461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“Would you ship, stabilize, or invest in reliability?”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941064"/>
            <a:ext cx="10744200" cy="621792"/>
          </a:xfrm>
          <a:prstGeom prst="roundRect">
            <a:avLst>
              <a:gd name="adj" fmla="val 17647"/>
            </a:avLst>
          </a:prstGeom>
          <a:solidFill>
            <a:srgbClr val="172A43"/>
          </a:solidFill>
          <a:ln w="12700">
            <a:solidFill>
              <a:srgbClr val="2D3B5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239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D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outcome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40873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“That is the trade-off: value increased, but reliability capacity changed.”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782312"/>
            <a:ext cx="10744200" cy="621792"/>
          </a:xfrm>
          <a:prstGeom prst="roundRect">
            <a:avLst>
              <a:gd name="adj" fmla="val 17647"/>
            </a:avLst>
          </a:prstGeom>
          <a:solidFill>
            <a:srgbClr val="102139"/>
          </a:solidFill>
          <a:ln w="12700">
            <a:solidFill>
              <a:srgbClr val="2D3B5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651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D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492861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“SRE gives us a language to say yes safely.”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Do not over-explain scoring. Let the room feel the tension as the metrics move.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game proves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32720" cy="2011680"/>
          </a:xfrm>
          <a:prstGeom prst="roundRect">
            <a:avLst>
              <a:gd name="adj" fmla="val 10909"/>
            </a:avLst>
          </a:prstGeom>
          <a:solidFill>
            <a:srgbClr val="102139"/>
          </a:solidFill>
          <a:ln w="12700">
            <a:solidFill>
              <a:srgbClr val="2D3B5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224028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is not a gate at the end of delivery.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287121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the decision framework teams use every sprint to decide how much change the service can safely absorb.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240280" y="4434840"/>
            <a:ext cx="530352" cy="530352"/>
          </a:xfrm>
          <a:prstGeom prst="ellipse">
            <a:avLst/>
          </a:prstGeom>
          <a:solidFill>
            <a:srgbClr val="54D39A"/>
          </a:solidFill>
          <a:ln w="12700">
            <a:solidFill>
              <a:srgbClr val="54D39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50749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Measurable trade-offs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5440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budgets move the conversation from opinion to data.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806440" y="4434840"/>
            <a:ext cx="530352" cy="530352"/>
          </a:xfrm>
          <a:prstGeom prst="ellipse">
            <a:avLst/>
          </a:prstGeom>
          <a:solidFill>
            <a:srgbClr val="61A9FF"/>
          </a:solidFill>
          <a:ln w="12700">
            <a:solidFill>
              <a:srgbClr val="61A9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50749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Safer delivery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5440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can still ship, but with the right guardrails.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372600" y="4434840"/>
            <a:ext cx="530352" cy="530352"/>
          </a:xfrm>
          <a:prstGeom prst="ellipse">
            <a:avLst/>
          </a:prstGeom>
          <a:solidFill>
            <a:srgbClr val="FFC94A"/>
          </a:solidFill>
          <a:ln w="12700">
            <a:solidFill>
              <a:srgbClr val="FFC9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50749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language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5440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operations, and engineering make the decision together.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Summit • GPN SRE Simulation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658600" y="6547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CORE Summit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Would You Ship It?</dc:title>
  <dc:subject>CORE Summit interactive SRE simulation</dc:subject>
  <dc:creator>GPN SRE</dc:creator>
  <cp:lastModifiedBy>GPN SRE</cp:lastModifiedBy>
  <cp:revision>1</cp:revision>
  <dcterms:created xsi:type="dcterms:W3CDTF">2026-07-21T14:51:45Z</dcterms:created>
  <dcterms:modified xsi:type="dcterms:W3CDTF">2026-07-21T14:51:45Z</dcterms:modified>
</cp:coreProperties>
</file>