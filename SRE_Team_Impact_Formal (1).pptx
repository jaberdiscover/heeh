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642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40280"/>
          </a:xfrm>
          <a:prstGeom prst="rect">
            <a:avLst/>
          </a:prstGeom>
          <a:solidFill>
            <a:srgbClr val="0F254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2240280"/>
            <a:ext cx="4572000" cy="50292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2240280"/>
            <a:ext cx="4572000" cy="50292"/>
          </a:xfrm>
          <a:prstGeom prst="rect">
            <a:avLst/>
          </a:prstGeom>
          <a:solidFill>
            <a:srgbClr val="B07D2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Monitoring &amp; Observability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8BAAC8"/>
                </a:solidFill>
              </a:rPr>
              <a:t>Customer Impact Engineering  ·  Incident Detection  ·  Root Cause Analysis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5D6E8"/>
                </a:solidFill>
              </a:rPr>
              <a:t>Customer Impact Workstream Review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450592"/>
            <a:ext cx="3931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524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450592"/>
            <a:ext cx="3931920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968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535"/>
                </a:solidFill>
              </a:rPr>
              <a:t>Authorization Integration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999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5CA8"/>
                </a:solidFill>
              </a:rPr>
              <a:t>AIL  ·  Monitoring &amp; Observability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310128"/>
            <a:ext cx="3566160" cy="9144"/>
          </a:xfrm>
          <a:prstGeom prst="rect">
            <a:avLst/>
          </a:prstGeom>
          <a:solidFill>
            <a:srgbClr val="D0D7E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4015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A2535"/>
                </a:solidFill>
              </a:rPr>
              <a:t>Scope: </a:t>
            </a:r>
            <a:r>
              <a:rPr lang="en-US" sz="950" dirty="0">
                <a:solidFill>
                  <a:srgbClr val="4A5568"/>
                </a:solidFill>
              </a:rPr>
              <a:t>Datadog query engineering &amp; dashboard build for AIL timeout and SLA breach monitoring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986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896A8"/>
                </a:solidFill>
              </a:rPr>
              <a:t>INC23365374  ·  PRB0058624  ·  Feb 2026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4315968"/>
            <a:ext cx="822960" cy="347472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3159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A8"/>
                </a:solidFill>
              </a:rPr>
              <a:t>Sev 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481328" y="4315968"/>
            <a:ext cx="1097280" cy="347472"/>
          </a:xfrm>
          <a:prstGeom prst="rect">
            <a:avLst/>
          </a:prstGeom>
          <a:solidFill>
            <a:srgbClr val="EBF7EF"/>
          </a:solidFill>
          <a:ln/>
        </p:spPr>
      </p:sp>
      <p:sp>
        <p:nvSpPr>
          <p:cNvPr id="19" name="Text 17"/>
          <p:cNvSpPr/>
          <p:nvPr/>
        </p:nvSpPr>
        <p:spPr>
          <a:xfrm>
            <a:off x="1481328" y="4315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7E4A"/>
                </a:solidFill>
              </a:rPr>
              <a:t>Closed / PIR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450592"/>
            <a:ext cx="3931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524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450592"/>
            <a:ext cx="3931920" cy="54864"/>
          </a:xfrm>
          <a:prstGeom prst="rect">
            <a:avLst/>
          </a:prstGeom>
          <a:solidFill>
            <a:srgbClr val="B07D2A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5968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535"/>
                </a:solidFill>
              </a:rPr>
              <a:t>Action Servicing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2999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07D2A"/>
                </a:solidFill>
              </a:rPr>
              <a:t>Customer Impact  ·  Monitoring &amp; Observability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3310128"/>
            <a:ext cx="3566160" cy="9144"/>
          </a:xfrm>
          <a:prstGeom prst="rect">
            <a:avLst/>
          </a:prstGeom>
          <a:solidFill>
            <a:srgbClr val="D0D7E2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4015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A2535"/>
                </a:solidFill>
              </a:rPr>
              <a:t>Scope: </a:t>
            </a:r>
            <a:r>
              <a:rPr lang="en-US" sz="950" dirty="0">
                <a:solidFill>
                  <a:srgbClr val="4A5568"/>
                </a:solidFill>
              </a:rPr>
              <a:t>Datadog query engineering &amp; dashboard build for Action Servicing error monitoring and customer impact visibility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83480" y="3986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896A8"/>
                </a:solidFill>
              </a:rPr>
              <a:t>IA0029131 (Sev 3C)  ·  IA0029107 (Sev 3)  ·  May 2026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83480" y="4315968"/>
            <a:ext cx="914400" cy="347472"/>
          </a:xfrm>
          <a:prstGeom prst="rect">
            <a:avLst/>
          </a:prstGeom>
          <a:solidFill>
            <a:srgbClr val="FBF5E8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43159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7D2A"/>
                </a:solidFill>
              </a:rPr>
              <a:t>Sev 3 / 3C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61888" y="4315968"/>
            <a:ext cx="1097280" cy="347472"/>
          </a:xfrm>
          <a:prstGeom prst="rect">
            <a:avLst/>
          </a:prstGeom>
          <a:solidFill>
            <a:srgbClr val="EBF7EF"/>
          </a:solidFill>
          <a:ln/>
        </p:spPr>
      </p:sp>
      <p:sp>
        <p:nvSpPr>
          <p:cNvPr id="30" name="Text 28"/>
          <p:cNvSpPr/>
          <p:nvPr/>
        </p:nvSpPr>
        <p:spPr>
          <a:xfrm>
            <a:off x="5961888" y="4315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7E4A"/>
                </a:solidFill>
              </a:rPr>
              <a:t>Resolved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5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Authorization Integration Layer (AIL)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AAC8"/>
                </a:solidFill>
              </a:rPr>
              <a:t>Monitoring &amp; Observability  ·  Datadog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97280"/>
            <a:ext cx="1993392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7043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CA8"/>
                </a:solidFill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163677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</a:rPr>
              <a:t>Monitoring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</a:rPr>
              <a:t>Dimensions Built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97280"/>
            <a:ext cx="1993392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17043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CA8"/>
                </a:solidFill>
              </a:rPr>
              <a:t>92K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163677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</a:rPr>
              <a:t>DB Timeouts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</a:rPr>
              <a:t>Detected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90288" y="109728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097280"/>
            <a:ext cx="1993392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117043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CA8"/>
                </a:solidFill>
              </a:rPr>
              <a:t>40 min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90288" y="163677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</a:rPr>
              <a:t>Mean Time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</a:rPr>
              <a:t>to Detect (MTTD)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11696" y="109728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11696" y="1097280"/>
            <a:ext cx="1993392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20" name="Text 18"/>
          <p:cNvSpPr/>
          <p:nvPr/>
        </p:nvSpPr>
        <p:spPr>
          <a:xfrm>
            <a:off x="6711696" y="117043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CA8"/>
                </a:solidFill>
              </a:rPr>
              <a:t>9 hrs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11696" y="163677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</a:rPr>
              <a:t>Mean Time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</a:rPr>
              <a:t>to Resolve (MTTR)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7472" y="2212848"/>
            <a:ext cx="2706624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2212848"/>
            <a:ext cx="2706624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24" name="Shape 22"/>
          <p:cNvSpPr/>
          <p:nvPr/>
        </p:nvSpPr>
        <p:spPr>
          <a:xfrm>
            <a:off x="512064" y="2359152"/>
            <a:ext cx="384048" cy="384048"/>
          </a:xfrm>
          <a:prstGeom prst="ellipse">
            <a:avLst/>
          </a:prstGeom>
          <a:solidFill>
            <a:srgbClr val="EBF2FA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41448"/>
            <a:ext cx="219456" cy="21945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05840" y="23774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35"/>
                </a:solidFill>
              </a:rPr>
              <a:t>GenMs Timeout Tracking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12064" y="2834640"/>
            <a:ext cx="2377440" cy="914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8" name="Text 25"/>
          <p:cNvSpPr/>
          <p:nvPr/>
        </p:nvSpPr>
        <p:spPr>
          <a:xfrm>
            <a:off x="512064" y="290779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Monitored REST API call failures to the Gen Model service. Captured throwAsMaruntimeException, throwAsMbruntimeException, and throwAsMcruntimeException error counts per environment in real time.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12064" y="4041648"/>
            <a:ext cx="2423160" cy="804672"/>
          </a:xfrm>
          <a:prstGeom prst="rect">
            <a:avLst/>
          </a:prstGeom>
          <a:solidFill>
            <a:srgbClr val="EEF1F5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5216" y="409651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00" dirty="0">
                <a:solidFill>
                  <a:srgbClr val="1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sum:ail.asm.timeouts{env:prod,</a:t>
            </a:r>
            <a:endParaRPr lang="en-US" sz="7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700" dirty="0">
                <a:solidFill>
                  <a:srgbClr val="1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resource_name:asmclientrest.</a:t>
            </a:r>
            <a:endParaRPr lang="en-US" sz="7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700" dirty="0">
                <a:solidFill>
                  <a:srgbClr val="1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throwasmatimeoutexception}</a:t>
            </a:r>
            <a:endParaRPr lang="en-US" sz="7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700" dirty="0">
                <a:solidFill>
                  <a:srgbClr val="1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.as_count()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3182112" y="2212848"/>
            <a:ext cx="2706624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182112" y="2212848"/>
            <a:ext cx="2706624" cy="54864"/>
          </a:xfrm>
          <a:prstGeom prst="rect">
            <a:avLst/>
          </a:prstGeom>
          <a:solidFill>
            <a:srgbClr val="B07D2A"/>
          </a:solidFill>
          <a:ln/>
        </p:spPr>
      </p:sp>
      <p:sp>
        <p:nvSpPr>
          <p:cNvPr id="33" name="Shape 30"/>
          <p:cNvSpPr/>
          <p:nvPr/>
        </p:nvSpPr>
        <p:spPr>
          <a:xfrm>
            <a:off x="3346704" y="2359152"/>
            <a:ext cx="384048" cy="384048"/>
          </a:xfrm>
          <a:prstGeom prst="ellipse">
            <a:avLst/>
          </a:prstGeom>
          <a:solidFill>
            <a:srgbClr val="FBF5E8"/>
          </a:solidFill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441448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3840480" y="23774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35"/>
                </a:solidFill>
              </a:rPr>
              <a:t>SASFM Timeout Monitoring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3346704" y="2834640"/>
            <a:ext cx="2377440" cy="914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7" name="Text 33"/>
          <p:cNvSpPr/>
          <p:nvPr/>
        </p:nvSpPr>
        <p:spPr>
          <a:xfrm>
            <a:off x="3346704" y="290779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Tracked SAS flag states - T (AIL timeout), P (TimeCop timeout), N (SAS reply timeout) - via process.flag metrics. Provided the first direct operational visibility into SAS Fraud Scoring degradation.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3346704" y="4041648"/>
            <a:ext cx="2423160" cy="804672"/>
          </a:xfrm>
          <a:prstGeom prst="rect">
            <a:avLst/>
          </a:prstGeom>
          <a:solidFill>
            <a:srgbClr val="EEF1F5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419856" y="409651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00" dirty="0">
                <a:solidFill>
                  <a:srgbClr val="1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sum:ail.sasb.process.flag</a:t>
            </a:r>
            <a:endParaRPr lang="en-US" sz="7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700" dirty="0">
                <a:solidFill>
                  <a:srgbClr val="1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{env:prod, ail_sasb_flag:t}</a:t>
            </a:r>
            <a:endParaRPr lang="en-US" sz="7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700" dirty="0">
                <a:solidFill>
                  <a:srgbClr val="1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.as_count()</a:t>
            </a:r>
            <a:endParaRPr lang="en-US" sz="700" dirty="0"/>
          </a:p>
        </p:txBody>
      </p:sp>
      <p:sp>
        <p:nvSpPr>
          <p:cNvPr id="40" name="Shape 36"/>
          <p:cNvSpPr/>
          <p:nvPr/>
        </p:nvSpPr>
        <p:spPr>
          <a:xfrm>
            <a:off x="6016752" y="2212848"/>
            <a:ext cx="2706624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016752" y="2212848"/>
            <a:ext cx="2706624" cy="54864"/>
          </a:xfrm>
          <a:prstGeom prst="rect">
            <a:avLst/>
          </a:prstGeom>
          <a:solidFill>
            <a:srgbClr val="1E7E4A"/>
          </a:solidFill>
          <a:ln/>
        </p:spPr>
      </p:sp>
      <p:sp>
        <p:nvSpPr>
          <p:cNvPr id="42" name="Shape 38"/>
          <p:cNvSpPr/>
          <p:nvPr/>
        </p:nvSpPr>
        <p:spPr>
          <a:xfrm>
            <a:off x="6181344" y="2359152"/>
            <a:ext cx="384048" cy="384048"/>
          </a:xfrm>
          <a:prstGeom prst="ellipse">
            <a:avLst/>
          </a:prstGeom>
          <a:solidFill>
            <a:srgbClr val="EBF7EF"/>
          </a:solidFill>
          <a:ln/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441448"/>
            <a:ext cx="219456" cy="219456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675120" y="23774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35"/>
                </a:solidFill>
              </a:rPr>
              <a:t>SLA Breach Detection (&gt;1100ms)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181344" y="2834640"/>
            <a:ext cx="2377440" cy="914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6" name="Text 41"/>
          <p:cNvSpPr/>
          <p:nvPr/>
        </p:nvSpPr>
        <p:spPr>
          <a:xfrm>
            <a:off x="6181344" y="290779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Built a trace-level span query counting all Auth→AIL calls exceeding the agreed 1100ms SLA. When the SLA is breached, Auth makes a stand-in decision - this widget made that silent failure operationally visible.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6181344" y="4041648"/>
            <a:ext cx="2423160" cy="804672"/>
          </a:xfrm>
          <a:prstGeom prst="rect">
            <a:avLst/>
          </a:prstGeom>
          <a:solidFill>
            <a:srgbClr val="EEF1F5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254496" y="409651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00" dirty="0">
                <a:solidFill>
                  <a:srgbClr val="1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count(v:v&gt;=1.1):</a:t>
            </a:r>
            <a:endParaRPr lang="en-US" sz="7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700" dirty="0">
                <a:solidFill>
                  <a:srgbClr val="1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trace.dd.dynamic.span{env:prod,</a:t>
            </a:r>
            <a:endParaRPr lang="en-US" sz="7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700" dirty="0">
                <a:solidFill>
                  <a:srgbClr val="1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service:authintegrationlayer}</a:t>
            </a:r>
            <a:endParaRPr lang="en-US" sz="7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700" dirty="0">
                <a:solidFill>
                  <a:srgbClr val="1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.as_count()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5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B07D2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Action Servicing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AAC8"/>
                </a:solidFill>
              </a:rPr>
              <a:t>Customer Impact Dashboard &amp; Query Engineering  ·  Datadog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8449056" cy="896112"/>
          </a:xfrm>
          <a:prstGeom prst="rect">
            <a:avLst/>
          </a:prstGeom>
          <a:solidFill>
            <a:srgbClr val="FEF3E2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78992"/>
            <a:ext cx="54864" cy="896112"/>
          </a:xfrm>
          <a:prstGeom prst="rect">
            <a:avLst/>
          </a:prstGeom>
          <a:solidFill>
            <a:srgbClr val="B5470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115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54708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38988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80" dirty="0">
                <a:solidFill>
                  <a:srgbClr val="1A2535"/>
                </a:solidFill>
              </a:rPr>
              <a:t>During active incidents (IA0029131 - Multi-App Degradation, Sev 3C; IA0029107 - Experian Vendor Outage, Sev 3), teams had no real-time customer impact visibility for Action Servicing. The only way to determine how many customers were affected was to manually execute SQL queries against production databases - introducing delay, inconsistency, and operational risk during time-critical events.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47472" y="2103120"/>
            <a:ext cx="270662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103120"/>
            <a:ext cx="2706624" cy="54864"/>
          </a:xfrm>
          <a:prstGeom prst="rect">
            <a:avLst/>
          </a:prstGeom>
          <a:solidFill>
            <a:srgbClr val="B07D2A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" y="2249424"/>
            <a:ext cx="384048" cy="384048"/>
          </a:xfrm>
          <a:prstGeom prst="ellipse">
            <a:avLst/>
          </a:prstGeom>
          <a:solidFill>
            <a:srgbClr val="FBF5E8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31720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2258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35"/>
                </a:solidFill>
              </a:rPr>
              <a:t>Payments / Statements /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35"/>
                </a:solidFill>
              </a:rPr>
              <a:t>Account Activity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2064" y="2743200"/>
            <a:ext cx="2377440" cy="914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6" name="Text 13"/>
          <p:cNvSpPr/>
          <p:nvPr/>
        </p:nvSpPr>
        <p:spPr>
          <a:xfrm>
            <a:off x="512064" y="280720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880" dirty="0">
                <a:solidFill>
                  <a:srgbClr val="4A5568"/>
                </a:solidFill>
              </a:rPr>
              <a:t>Real-time tracking of customer-facing transaction errors across payment processing, statement access, and account activity flows. Surfaces impact immediately during incidents - replacing reactive manual lookups.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512064" y="4315968"/>
            <a:ext cx="2423160" cy="384048"/>
          </a:xfrm>
          <a:prstGeom prst="rect">
            <a:avLst/>
          </a:prstGeom>
          <a:solidFill>
            <a:srgbClr val="FBF5E8"/>
          </a:solidFill>
          <a:ln w="12700">
            <a:solidFill>
              <a:srgbClr val="B07D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" y="43159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7D2A"/>
                </a:solidFill>
              </a:rPr>
              <a:t>Replaces manual DB queries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182112" y="2103120"/>
            <a:ext cx="270662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82112" y="2103120"/>
            <a:ext cx="2706624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21" name="Shape 18"/>
          <p:cNvSpPr/>
          <p:nvPr/>
        </p:nvSpPr>
        <p:spPr>
          <a:xfrm>
            <a:off x="3346704" y="2249424"/>
            <a:ext cx="384048" cy="384048"/>
          </a:xfrm>
          <a:prstGeom prst="ellipse">
            <a:avLst/>
          </a:prstGeom>
          <a:solidFill>
            <a:srgbClr val="EBF2FA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33172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40480" y="2258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35"/>
                </a:solidFill>
              </a:rPr>
              <a:t>Inability to Service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35"/>
                </a:solidFill>
              </a:rPr>
              <a:t>(App Launch / Account Load)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346704" y="2743200"/>
            <a:ext cx="2377440" cy="914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5" name="Text 21"/>
          <p:cNvSpPr/>
          <p:nvPr/>
        </p:nvSpPr>
        <p:spPr>
          <a:xfrm>
            <a:off x="3346704" y="280720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880" dirty="0">
                <a:solidFill>
                  <a:srgbClr val="4A5568"/>
                </a:solidFill>
              </a:rPr>
              <a:t>Monitors app launch and account load failure rates, providing a direct customer-experience proxy metric. Quantifies how many customers cannot access the application during degradation events.</a:t>
            </a:r>
            <a:endParaRPr lang="en-US" sz="880" dirty="0"/>
          </a:p>
        </p:txBody>
      </p:sp>
      <p:sp>
        <p:nvSpPr>
          <p:cNvPr id="26" name="Shape 22"/>
          <p:cNvSpPr/>
          <p:nvPr/>
        </p:nvSpPr>
        <p:spPr>
          <a:xfrm>
            <a:off x="3346704" y="4315968"/>
            <a:ext cx="2423160" cy="384048"/>
          </a:xfrm>
          <a:prstGeom prst="rect">
            <a:avLst/>
          </a:prstGeom>
          <a:solidFill>
            <a:srgbClr val="EBF2FA"/>
          </a:solidFill>
          <a:ln w="12700">
            <a:solidFill>
              <a:srgbClr val="1A5CA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46704" y="43159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A8"/>
                </a:solidFill>
              </a:rPr>
              <a:t>Continuous baseline established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6016752" y="2103120"/>
            <a:ext cx="270662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016752" y="2103120"/>
            <a:ext cx="2706624" cy="54864"/>
          </a:xfrm>
          <a:prstGeom prst="rect">
            <a:avLst/>
          </a:prstGeom>
          <a:solidFill>
            <a:srgbClr val="B54708"/>
          </a:solidFill>
          <a:ln/>
        </p:spPr>
      </p:sp>
      <p:sp>
        <p:nvSpPr>
          <p:cNvPr id="30" name="Shape 26"/>
          <p:cNvSpPr/>
          <p:nvPr/>
        </p:nvSpPr>
        <p:spPr>
          <a:xfrm>
            <a:off x="6181344" y="2249424"/>
            <a:ext cx="384048" cy="384048"/>
          </a:xfrm>
          <a:prstGeom prst="ellipse">
            <a:avLst/>
          </a:prstGeom>
          <a:solidFill>
            <a:srgbClr val="FEF3E2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331720"/>
            <a:ext cx="219456" cy="21945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675120" y="2258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35"/>
                </a:solidFill>
              </a:rPr>
              <a:t>Action Servicing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35"/>
                </a:solidFill>
              </a:rPr>
              <a:t>All Errors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181344" y="2743200"/>
            <a:ext cx="2377440" cy="914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4" name="Text 29"/>
          <p:cNvSpPr/>
          <p:nvPr/>
        </p:nvSpPr>
        <p:spPr>
          <a:xfrm>
            <a:off x="6181344" y="280720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880" dirty="0">
                <a:solidFill>
                  <a:srgbClr val="4A5568"/>
                </a:solidFill>
              </a:rPr>
              <a:t>Aggregate error count widget providing a single-pane view across all Action Servicing errors. Captured 295 errors in the most recent tracking window - directly observable during IA0029131 (Sev 3C).</a:t>
            </a:r>
            <a:endParaRPr lang="en-US" sz="880" dirty="0"/>
          </a:p>
        </p:txBody>
      </p:sp>
      <p:sp>
        <p:nvSpPr>
          <p:cNvPr id="35" name="Shape 30"/>
          <p:cNvSpPr/>
          <p:nvPr/>
        </p:nvSpPr>
        <p:spPr>
          <a:xfrm>
            <a:off x="6181344" y="4315968"/>
            <a:ext cx="2423160" cy="384048"/>
          </a:xfrm>
          <a:prstGeom prst="rect">
            <a:avLst/>
          </a:prstGeom>
          <a:solidFill>
            <a:srgbClr val="FEF3E2"/>
          </a:solidFill>
          <a:ln w="12700">
            <a:solidFill>
              <a:srgbClr val="B5470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181344" y="43159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54708"/>
                </a:solidFill>
              </a:rPr>
              <a:t>295 errors - IA0029131 Sev 3C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5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4572000" cy="50292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914400"/>
            <a:ext cx="4572000" cy="50292"/>
          </a:xfrm>
          <a:prstGeom prst="rect">
            <a:avLst/>
          </a:prstGeom>
          <a:solidFill>
            <a:srgbClr val="B07D2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Summary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AC8"/>
                </a:solidFill>
              </a:rPr>
              <a:t>AIL - Authorization Integration Layer  &amp;  Action Servicing  ·  Capital One SRE  ·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20" dirty="0">
                <a:solidFill>
                  <a:srgbClr val="1A5CA8"/>
                </a:solidFill>
              </a:rPr>
              <a:t>AIL - AUTHORIZATION INTEGRATION LAYER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36592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20" dirty="0">
                <a:solidFill>
                  <a:srgbClr val="B07D2A"/>
                </a:solidFill>
              </a:rPr>
              <a:t>ACTION SERVICING - CUSTOMER IMPACT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" y="1426464"/>
            <a:ext cx="8449056" cy="62179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535"/>
                </a:solidFill>
              </a:rPr>
              <a:t>Deliverable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AIL-CI Datadog dashboard - 3 custom monitoring dimensions built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36592" y="1463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535"/>
                </a:solidFill>
              </a:rPr>
              <a:t>Deliverable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36592" y="16916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Action Servicing - Customer Impact Datadog dashboard with 3 core monitoring widgets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084832"/>
            <a:ext cx="8449056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21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535"/>
                </a:solidFill>
              </a:rPr>
              <a:t>Queries / Widgets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350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GenMs Timeout counts  ·  SASFM flag-state metrics  ·  Auth→AIL SLA breach trace query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36592" y="2121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535"/>
                </a:solidFill>
              </a:rPr>
              <a:t>Queries / Widgets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36592" y="2350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Payments / Statements / Account Activity  ·  App Launch failures  ·  All-Errors aggregate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2743200"/>
            <a:ext cx="8449056" cy="62179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535"/>
                </a:solidFill>
              </a:rPr>
              <a:t>Incidents Addressed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0083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INC23365374 / PRB0058624 - AIL Degraded in SSB  (Feb 2026, Sev 4)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36592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535"/>
                </a:solidFill>
              </a:rPr>
              <a:t>Incidents Addressed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36592" y="30083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IA0029131 (Sev 3C) - Multi-App Errors  ·  IA0029107 (Sev 3) - Experian Vendor Outage  (May 2026)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3401568"/>
            <a:ext cx="8449056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38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535"/>
                </a:solidFill>
              </a:rPr>
              <a:t>Root Cause / Problem Solved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6667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Oracle SSB flash disk failure → cache rebuild → 92K intermittent DB timeouts at 1.82% failure rate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36592" y="3438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535"/>
                </a:solidFill>
              </a:rPr>
              <a:t>Root Cause / Problem Solved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36592" y="36667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Eliminated dependency on manual SQL queries against production DB during live incidents to determine customer impact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4059936"/>
            <a:ext cx="8449056" cy="62179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0965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535"/>
                </a:solidFill>
              </a:rPr>
              <a:t>Outcome / Metrics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3251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MTTD: 40 min  ·  MTTI: 12h 36m  ·  MTTR: 9h  ·  PIR completed  ·  4 new APM monitors deployed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36592" y="40965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535"/>
                </a:solidFill>
              </a:rPr>
              <a:t>Outcome / Metrics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36592" y="43251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4A5568"/>
                </a:solidFill>
              </a:rPr>
              <a:t>295 errors captured in real time during IA0029131  ·  Operational customer impact visibility established without DB access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727448"/>
            <a:ext cx="9144000" cy="41148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4727448"/>
            <a:ext cx="9144000" cy="36576"/>
          </a:xfrm>
          <a:prstGeom prst="rect">
            <a:avLst/>
          </a:prstGeom>
          <a:solidFill>
            <a:srgbClr val="D0D7E2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476402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751</Words>
  <Application>Microsoft Office PowerPoint</Application>
  <PresentationFormat>On-screen Show (16:9)</PresentationFormat>
  <Paragraphs>90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SRE Monitoring &amp; Observability — Team Contribution</dc:title>
  <dc:subject>PptxGenJS Presentation</dc:subject>
  <dc:creator>PptxGenJS</dc:creator>
  <cp:lastModifiedBy>Muhammad Sami</cp:lastModifiedBy>
  <cp:revision>3</cp:revision>
  <dcterms:created xsi:type="dcterms:W3CDTF">2026-05-13T14:43:10Z</dcterms:created>
  <dcterms:modified xsi:type="dcterms:W3CDTF">2026-05-13T15:15:19Z</dcterms:modified>
</cp:coreProperties>
</file>