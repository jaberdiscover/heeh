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58" r:id="rId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3" d="100"/>
          <a:sy n="93" d="100"/>
        </p:scale>
        <p:origin x="87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15629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C2FF"/>
          </a:solidFill>
          <a:ln/>
        </p:spPr>
      </p:sp>
      <p:sp>
        <p:nvSpPr>
          <p:cNvPr id="3" name="Shape 1"/>
          <p:cNvSpPr/>
          <p:nvPr/>
        </p:nvSpPr>
        <p:spPr>
          <a:xfrm>
            <a:off x="164592" y="0"/>
            <a:ext cx="8979408" cy="54864"/>
          </a:xfrm>
          <a:prstGeom prst="rect">
            <a:avLst/>
          </a:prstGeom>
          <a:solidFill>
            <a:srgbClr val="1E5F9A"/>
          </a:solidFill>
          <a:ln/>
        </p:spPr>
      </p:sp>
      <p:sp>
        <p:nvSpPr>
          <p:cNvPr id="4" name="Text 2"/>
          <p:cNvSpPr/>
          <p:nvPr/>
        </p:nvSpPr>
        <p:spPr>
          <a:xfrm>
            <a:off x="4389120" y="457200"/>
            <a:ext cx="5029200" cy="4114800"/>
          </a:xfrm>
          <a:prstGeom prst="rect">
            <a:avLst/>
          </a:prstGeom>
          <a:noFill/>
          <a:ln/>
        </p:spPr>
        <p:txBody>
          <a:bodyPr wrap="square" rtlCol="0" anchor="ctr"/>
          <a:lstStyle/>
          <a:p>
            <a:pPr marL="0" indent="0" algn="r">
              <a:buNone/>
            </a:pPr>
            <a:r>
              <a:rPr lang="en-US" sz="22000" b="1" dirty="0">
                <a:solidFill>
                  <a:srgbClr val="1B3A6B"/>
                </a:solidFill>
              </a:rPr>
              <a:t>AIL</a:t>
            </a:r>
            <a:endParaRPr lang="en-US" sz="22000" dirty="0"/>
          </a:p>
        </p:txBody>
      </p:sp>
      <p:sp>
        <p:nvSpPr>
          <p:cNvPr id="5" name="Shape 3"/>
          <p:cNvSpPr/>
          <p:nvPr/>
        </p:nvSpPr>
        <p:spPr>
          <a:xfrm>
            <a:off x="502920" y="320040"/>
            <a:ext cx="2286000" cy="384048"/>
          </a:xfrm>
          <a:prstGeom prst="roundRect">
            <a:avLst>
              <a:gd name="adj" fmla="val 11905"/>
            </a:avLst>
          </a:prstGeom>
          <a:solidFill>
            <a:srgbClr val="00C2FF">
              <a:alpha val="85000"/>
            </a:srgbClr>
          </a:solidFill>
          <a:ln/>
        </p:spPr>
      </p:sp>
      <p:sp>
        <p:nvSpPr>
          <p:cNvPr id="6" name="Text 4"/>
          <p:cNvSpPr/>
          <p:nvPr/>
        </p:nvSpPr>
        <p:spPr>
          <a:xfrm>
            <a:off x="502920" y="320040"/>
            <a:ext cx="2286000" cy="384048"/>
          </a:xfrm>
          <a:prstGeom prst="rect">
            <a:avLst/>
          </a:prstGeom>
          <a:noFill/>
          <a:ln/>
        </p:spPr>
        <p:txBody>
          <a:bodyPr wrap="square" lIns="0" tIns="0" rIns="0" bIns="0" rtlCol="0" anchor="ctr"/>
          <a:lstStyle/>
          <a:p>
            <a:pPr marL="0" indent="0" algn="ctr">
              <a:buNone/>
            </a:pPr>
            <a:r>
              <a:rPr lang="en-US" sz="800" b="1" kern="0" spc="150" dirty="0">
                <a:solidFill>
                  <a:srgbClr val="0D1B2A"/>
                </a:solidFill>
              </a:rPr>
              <a:t>SENIOR SITE RELIABILITY ENGINEER</a:t>
            </a:r>
            <a:endParaRPr lang="en-US" sz="800" dirty="0"/>
          </a:p>
        </p:txBody>
      </p:sp>
      <p:sp>
        <p:nvSpPr>
          <p:cNvPr id="7" name="Text 5"/>
          <p:cNvSpPr/>
          <p:nvPr/>
        </p:nvSpPr>
        <p:spPr>
          <a:xfrm>
            <a:off x="411480" y="960120"/>
            <a:ext cx="7315200" cy="685800"/>
          </a:xfrm>
          <a:prstGeom prst="rect">
            <a:avLst/>
          </a:prstGeom>
          <a:noFill/>
          <a:ln/>
        </p:spPr>
        <p:txBody>
          <a:bodyPr wrap="square" lIns="0" tIns="0" rIns="0" bIns="0" rtlCol="0" anchor="ctr"/>
          <a:lstStyle/>
          <a:p>
            <a:pPr marL="0" indent="0" algn="l">
              <a:buNone/>
            </a:pPr>
            <a:r>
              <a:rPr lang="en-US" sz="4600" b="1" dirty="0">
                <a:solidFill>
                  <a:srgbClr val="FFFFFF"/>
                </a:solidFill>
              </a:rPr>
              <a:t>AIL Monitoring &amp;</a:t>
            </a:r>
            <a:endParaRPr lang="en-US" sz="4600" dirty="0"/>
          </a:p>
        </p:txBody>
      </p:sp>
      <p:sp>
        <p:nvSpPr>
          <p:cNvPr id="8" name="Text 6"/>
          <p:cNvSpPr/>
          <p:nvPr/>
        </p:nvSpPr>
        <p:spPr>
          <a:xfrm>
            <a:off x="411480" y="1627632"/>
            <a:ext cx="7315200" cy="685800"/>
          </a:xfrm>
          <a:prstGeom prst="rect">
            <a:avLst/>
          </a:prstGeom>
          <a:noFill/>
          <a:ln/>
        </p:spPr>
        <p:txBody>
          <a:bodyPr wrap="square" lIns="0" tIns="0" rIns="0" bIns="0" rtlCol="0" anchor="ctr"/>
          <a:lstStyle/>
          <a:p>
            <a:pPr marL="0" indent="0" algn="l">
              <a:buNone/>
            </a:pPr>
            <a:r>
              <a:rPr lang="en-US" sz="4600" b="1" dirty="0">
                <a:solidFill>
                  <a:srgbClr val="00C2FF"/>
                </a:solidFill>
              </a:rPr>
              <a:t>Observability</a:t>
            </a:r>
            <a:endParaRPr lang="en-US" sz="4600" dirty="0"/>
          </a:p>
        </p:txBody>
      </p:sp>
      <p:sp>
        <p:nvSpPr>
          <p:cNvPr id="9" name="Text 7"/>
          <p:cNvSpPr/>
          <p:nvPr/>
        </p:nvSpPr>
        <p:spPr>
          <a:xfrm>
            <a:off x="411480" y="2487168"/>
            <a:ext cx="6858000" cy="365760"/>
          </a:xfrm>
          <a:prstGeom prst="rect">
            <a:avLst/>
          </a:prstGeom>
          <a:noFill/>
          <a:ln/>
        </p:spPr>
        <p:txBody>
          <a:bodyPr wrap="square" lIns="0" tIns="0" rIns="0" bIns="0" rtlCol="0" anchor="ctr"/>
          <a:lstStyle/>
          <a:p>
            <a:pPr marL="0" indent="0" algn="l">
              <a:buNone/>
            </a:pPr>
            <a:r>
              <a:rPr lang="en-US" sz="1300" i="1" dirty="0">
                <a:solidFill>
                  <a:srgbClr val="8BA4B8"/>
                </a:solidFill>
              </a:rPr>
              <a:t>Custom Query Engineering · Incident Detection · Root Cause Enablement</a:t>
            </a:r>
            <a:endParaRPr lang="en-US" sz="1300" dirty="0"/>
          </a:p>
        </p:txBody>
      </p:sp>
      <p:sp>
        <p:nvSpPr>
          <p:cNvPr id="10" name="Shape 8"/>
          <p:cNvSpPr/>
          <p:nvPr/>
        </p:nvSpPr>
        <p:spPr>
          <a:xfrm>
            <a:off x="411480" y="2944368"/>
            <a:ext cx="2926080" cy="36576"/>
          </a:xfrm>
          <a:prstGeom prst="rect">
            <a:avLst/>
          </a:prstGeom>
          <a:solidFill>
            <a:srgbClr val="00C2FF"/>
          </a:solidFill>
          <a:ln/>
        </p:spPr>
      </p:sp>
      <p:sp>
        <p:nvSpPr>
          <p:cNvPr id="11" name="Text 9"/>
          <p:cNvSpPr/>
          <p:nvPr/>
        </p:nvSpPr>
        <p:spPr>
          <a:xfrm>
            <a:off x="411480" y="3200400"/>
            <a:ext cx="1828800" cy="640080"/>
          </a:xfrm>
          <a:prstGeom prst="rect">
            <a:avLst/>
          </a:prstGeom>
          <a:noFill/>
          <a:ln/>
        </p:spPr>
        <p:txBody>
          <a:bodyPr wrap="square" lIns="0" tIns="0" rIns="0" bIns="0" rtlCol="0" anchor="ctr"/>
          <a:lstStyle/>
          <a:p>
            <a:pPr marL="0" indent="0" algn="l">
              <a:buNone/>
            </a:pPr>
            <a:r>
              <a:rPr lang="en-US" sz="3400" b="1" dirty="0">
                <a:solidFill>
                  <a:srgbClr val="00E5A0"/>
                </a:solidFill>
              </a:rPr>
              <a:t>3</a:t>
            </a:r>
            <a:endParaRPr lang="en-US" sz="3400" dirty="0"/>
          </a:p>
        </p:txBody>
      </p:sp>
      <p:sp>
        <p:nvSpPr>
          <p:cNvPr id="12" name="Text 10"/>
          <p:cNvSpPr/>
          <p:nvPr/>
        </p:nvSpPr>
        <p:spPr>
          <a:xfrm>
            <a:off x="411480" y="3858768"/>
            <a:ext cx="1920240" cy="548640"/>
          </a:xfrm>
          <a:prstGeom prst="rect">
            <a:avLst/>
          </a:prstGeom>
          <a:noFill/>
          <a:ln/>
        </p:spPr>
        <p:txBody>
          <a:bodyPr wrap="square" lIns="0" tIns="0" rIns="0" bIns="0" rtlCol="0" anchor="ctr"/>
          <a:lstStyle/>
          <a:p>
            <a:pPr marL="0" indent="0" algn="l">
              <a:lnSpc>
                <a:spcPct val="115000"/>
              </a:lnSpc>
              <a:buNone/>
            </a:pPr>
            <a:r>
              <a:rPr lang="en-US" sz="950" dirty="0">
                <a:solidFill>
                  <a:srgbClr val="8BA4B8"/>
                </a:solidFill>
              </a:rPr>
              <a:t>Monitoring</a:t>
            </a:r>
            <a:endParaRPr lang="en-US" sz="950" dirty="0"/>
          </a:p>
          <a:p>
            <a:pPr marL="0" indent="0" algn="l">
              <a:lnSpc>
                <a:spcPct val="115000"/>
              </a:lnSpc>
              <a:buNone/>
            </a:pPr>
            <a:r>
              <a:rPr lang="en-US" sz="950" dirty="0">
                <a:solidFill>
                  <a:srgbClr val="8BA4B8"/>
                </a:solidFill>
              </a:rPr>
              <a:t>Dimensions Built</a:t>
            </a:r>
            <a:endParaRPr lang="en-US" sz="950" dirty="0"/>
          </a:p>
        </p:txBody>
      </p:sp>
      <p:sp>
        <p:nvSpPr>
          <p:cNvPr id="13" name="Text 11"/>
          <p:cNvSpPr/>
          <p:nvPr/>
        </p:nvSpPr>
        <p:spPr>
          <a:xfrm>
            <a:off x="2560320" y="3200400"/>
            <a:ext cx="1828800" cy="640080"/>
          </a:xfrm>
          <a:prstGeom prst="rect">
            <a:avLst/>
          </a:prstGeom>
          <a:noFill/>
          <a:ln/>
        </p:spPr>
        <p:txBody>
          <a:bodyPr wrap="square" lIns="0" tIns="0" rIns="0" bIns="0" rtlCol="0" anchor="ctr"/>
          <a:lstStyle/>
          <a:p>
            <a:pPr marL="0" indent="0" algn="l">
              <a:buNone/>
            </a:pPr>
            <a:r>
              <a:rPr lang="en-US" sz="3400" b="1" dirty="0">
                <a:solidFill>
                  <a:srgbClr val="00E5A0"/>
                </a:solidFill>
              </a:rPr>
              <a:t>92K</a:t>
            </a:r>
            <a:endParaRPr lang="en-US" sz="3400" dirty="0"/>
          </a:p>
        </p:txBody>
      </p:sp>
      <p:sp>
        <p:nvSpPr>
          <p:cNvPr id="14" name="Text 12"/>
          <p:cNvSpPr/>
          <p:nvPr/>
        </p:nvSpPr>
        <p:spPr>
          <a:xfrm>
            <a:off x="2560320" y="3858768"/>
            <a:ext cx="1920240" cy="548640"/>
          </a:xfrm>
          <a:prstGeom prst="rect">
            <a:avLst/>
          </a:prstGeom>
          <a:noFill/>
          <a:ln/>
        </p:spPr>
        <p:txBody>
          <a:bodyPr wrap="square" lIns="0" tIns="0" rIns="0" bIns="0" rtlCol="0" anchor="ctr"/>
          <a:lstStyle/>
          <a:p>
            <a:pPr marL="0" indent="0" algn="l">
              <a:lnSpc>
                <a:spcPct val="115000"/>
              </a:lnSpc>
              <a:buNone/>
            </a:pPr>
            <a:r>
              <a:rPr lang="en-US" sz="950" dirty="0">
                <a:solidFill>
                  <a:srgbClr val="8BA4B8"/>
                </a:solidFill>
              </a:rPr>
              <a:t>Timeouts</a:t>
            </a:r>
            <a:endParaRPr lang="en-US" sz="950" dirty="0"/>
          </a:p>
          <a:p>
            <a:pPr marL="0" indent="0" algn="l">
              <a:lnSpc>
                <a:spcPct val="115000"/>
              </a:lnSpc>
              <a:buNone/>
            </a:pPr>
            <a:r>
              <a:rPr lang="en-US" sz="950" dirty="0">
                <a:solidFill>
                  <a:srgbClr val="8BA4B8"/>
                </a:solidFill>
              </a:rPr>
              <a:t>Detected</a:t>
            </a:r>
            <a:endParaRPr lang="en-US" sz="950" dirty="0"/>
          </a:p>
        </p:txBody>
      </p:sp>
      <p:sp>
        <p:nvSpPr>
          <p:cNvPr id="15" name="Text 13"/>
          <p:cNvSpPr/>
          <p:nvPr/>
        </p:nvSpPr>
        <p:spPr>
          <a:xfrm>
            <a:off x="4709160" y="3200400"/>
            <a:ext cx="1828800" cy="640080"/>
          </a:xfrm>
          <a:prstGeom prst="rect">
            <a:avLst/>
          </a:prstGeom>
          <a:noFill/>
          <a:ln/>
        </p:spPr>
        <p:txBody>
          <a:bodyPr wrap="square" lIns="0" tIns="0" rIns="0" bIns="0" rtlCol="0" anchor="ctr"/>
          <a:lstStyle/>
          <a:p>
            <a:pPr marL="0" indent="0" algn="l">
              <a:buNone/>
            </a:pPr>
            <a:r>
              <a:rPr lang="en-US" sz="3400" b="1" dirty="0">
                <a:solidFill>
                  <a:srgbClr val="00E5A0"/>
                </a:solidFill>
              </a:rPr>
              <a:t>40m</a:t>
            </a:r>
            <a:endParaRPr lang="en-US" sz="3400" dirty="0"/>
          </a:p>
        </p:txBody>
      </p:sp>
      <p:sp>
        <p:nvSpPr>
          <p:cNvPr id="16" name="Text 14"/>
          <p:cNvSpPr/>
          <p:nvPr/>
        </p:nvSpPr>
        <p:spPr>
          <a:xfrm>
            <a:off x="4709160" y="3858768"/>
            <a:ext cx="1920240" cy="548640"/>
          </a:xfrm>
          <a:prstGeom prst="rect">
            <a:avLst/>
          </a:prstGeom>
          <a:noFill/>
          <a:ln/>
        </p:spPr>
        <p:txBody>
          <a:bodyPr wrap="square" lIns="0" tIns="0" rIns="0" bIns="0" rtlCol="0" anchor="ctr"/>
          <a:lstStyle/>
          <a:p>
            <a:pPr marL="0" indent="0" algn="l">
              <a:lnSpc>
                <a:spcPct val="115000"/>
              </a:lnSpc>
              <a:buNone/>
            </a:pPr>
            <a:r>
              <a:rPr lang="en-US" sz="950" dirty="0">
                <a:solidFill>
                  <a:srgbClr val="8BA4B8"/>
                </a:solidFill>
              </a:rPr>
              <a:t>Mean Time</a:t>
            </a:r>
            <a:endParaRPr lang="en-US" sz="950" dirty="0"/>
          </a:p>
          <a:p>
            <a:pPr marL="0" indent="0" algn="l">
              <a:lnSpc>
                <a:spcPct val="115000"/>
              </a:lnSpc>
              <a:buNone/>
            </a:pPr>
            <a:r>
              <a:rPr lang="en-US" sz="950" dirty="0">
                <a:solidFill>
                  <a:srgbClr val="8BA4B8"/>
                </a:solidFill>
              </a:rPr>
              <a:t>to Detect</a:t>
            </a:r>
            <a:endParaRPr lang="en-US" sz="950" dirty="0"/>
          </a:p>
        </p:txBody>
      </p:sp>
      <p:sp>
        <p:nvSpPr>
          <p:cNvPr id="17" name="Text 15"/>
          <p:cNvSpPr/>
          <p:nvPr/>
        </p:nvSpPr>
        <p:spPr>
          <a:xfrm>
            <a:off x="6858000" y="3200400"/>
            <a:ext cx="1828800" cy="640080"/>
          </a:xfrm>
          <a:prstGeom prst="rect">
            <a:avLst/>
          </a:prstGeom>
          <a:noFill/>
          <a:ln/>
        </p:spPr>
        <p:txBody>
          <a:bodyPr wrap="square" lIns="0" tIns="0" rIns="0" bIns="0" rtlCol="0" anchor="ctr"/>
          <a:lstStyle/>
          <a:p>
            <a:pPr marL="0" indent="0" algn="l">
              <a:buNone/>
            </a:pPr>
            <a:r>
              <a:rPr lang="en-US" sz="3400" b="1" dirty="0">
                <a:solidFill>
                  <a:srgbClr val="00E5A0"/>
                </a:solidFill>
              </a:rPr>
              <a:t>9h</a:t>
            </a:r>
            <a:endParaRPr lang="en-US" sz="3400" dirty="0"/>
          </a:p>
        </p:txBody>
      </p:sp>
      <p:sp>
        <p:nvSpPr>
          <p:cNvPr id="18" name="Text 16"/>
          <p:cNvSpPr/>
          <p:nvPr/>
        </p:nvSpPr>
        <p:spPr>
          <a:xfrm>
            <a:off x="6858000" y="3858768"/>
            <a:ext cx="1920240" cy="548640"/>
          </a:xfrm>
          <a:prstGeom prst="rect">
            <a:avLst/>
          </a:prstGeom>
          <a:noFill/>
          <a:ln/>
        </p:spPr>
        <p:txBody>
          <a:bodyPr wrap="square" lIns="0" tIns="0" rIns="0" bIns="0" rtlCol="0" anchor="ctr"/>
          <a:lstStyle/>
          <a:p>
            <a:pPr marL="0" indent="0" algn="l">
              <a:lnSpc>
                <a:spcPct val="115000"/>
              </a:lnSpc>
              <a:buNone/>
            </a:pPr>
            <a:r>
              <a:rPr lang="en-US" sz="950" dirty="0">
                <a:solidFill>
                  <a:srgbClr val="8BA4B8"/>
                </a:solidFill>
              </a:rPr>
              <a:t>Mean Time</a:t>
            </a:r>
            <a:endParaRPr lang="en-US" sz="950" dirty="0"/>
          </a:p>
          <a:p>
            <a:pPr marL="0" indent="0" algn="l">
              <a:lnSpc>
                <a:spcPct val="115000"/>
              </a:lnSpc>
              <a:buNone/>
            </a:pPr>
            <a:r>
              <a:rPr lang="en-US" sz="950" dirty="0">
                <a:solidFill>
                  <a:srgbClr val="8BA4B8"/>
                </a:solidFill>
              </a:rPr>
              <a:t>to Resolve</a:t>
            </a:r>
            <a:endParaRPr lang="en-US" sz="950" dirty="0"/>
          </a:p>
        </p:txBody>
      </p:sp>
      <p:sp>
        <p:nvSpPr>
          <p:cNvPr id="19" name="Text 17"/>
          <p:cNvSpPr/>
          <p:nvPr/>
        </p:nvSpPr>
        <p:spPr>
          <a:xfrm>
            <a:off x="411480" y="4407408"/>
            <a:ext cx="4572000" cy="274320"/>
          </a:xfrm>
          <a:prstGeom prst="rect">
            <a:avLst/>
          </a:prstGeom>
          <a:noFill/>
          <a:ln/>
        </p:spPr>
        <p:txBody>
          <a:bodyPr wrap="square" lIns="0" tIns="0" rIns="0" bIns="0" rtlCol="0" anchor="ctr"/>
          <a:lstStyle/>
          <a:p>
            <a:pPr marL="0" indent="0" algn="l">
              <a:buNone/>
            </a:pPr>
            <a:r>
              <a:rPr lang="en-US" sz="1300" i="1" dirty="0">
                <a:solidFill>
                  <a:srgbClr val="FFFFFF"/>
                </a:solidFill>
              </a:rPr>
              <a:t>by Nayeem Khan</a:t>
            </a:r>
            <a:endParaRPr lang="en-US" sz="1300" dirty="0"/>
          </a:p>
        </p:txBody>
      </p:sp>
      <p:sp>
        <p:nvSpPr>
          <p:cNvPr id="20" name="Text 18"/>
          <p:cNvSpPr/>
          <p:nvPr/>
        </p:nvSpPr>
        <p:spPr>
          <a:xfrm>
            <a:off x="411480" y="4754880"/>
            <a:ext cx="8229600" cy="256032"/>
          </a:xfrm>
          <a:prstGeom prst="rect">
            <a:avLst/>
          </a:prstGeom>
          <a:noFill/>
          <a:ln/>
        </p:spPr>
        <p:txBody>
          <a:bodyPr wrap="square" lIns="0" tIns="0" rIns="0" bIns="0" rtlCol="0" anchor="ctr"/>
          <a:lstStyle/>
          <a:p>
            <a:pPr marL="0" indent="0" algn="l">
              <a:buNone/>
            </a:pPr>
            <a:r>
              <a:rPr lang="en-US" sz="900" dirty="0">
                <a:solidFill>
                  <a:srgbClr val="8BA4B8"/>
                </a:solidFill>
              </a:rPr>
              <a:t>Authorization Integration Layer  |  Capital One  |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2926080" cy="5143500"/>
          </a:xfrm>
          <a:prstGeom prst="rect">
            <a:avLst/>
          </a:prstGeom>
          <a:solidFill>
            <a:srgbClr val="0D1B2A"/>
          </a:solidFill>
          <a:ln/>
        </p:spPr>
      </p:sp>
      <p:sp>
        <p:nvSpPr>
          <p:cNvPr id="3" name="Text 1"/>
          <p:cNvSpPr/>
          <p:nvPr/>
        </p:nvSpPr>
        <p:spPr>
          <a:xfrm>
            <a:off x="182880" y="365760"/>
            <a:ext cx="2560320" cy="1280160"/>
          </a:xfrm>
          <a:prstGeom prst="rect">
            <a:avLst/>
          </a:prstGeom>
          <a:noFill/>
          <a:ln/>
        </p:spPr>
        <p:txBody>
          <a:bodyPr wrap="square" lIns="0" tIns="0" rIns="0" bIns="0" rtlCol="0" anchor="ctr"/>
          <a:lstStyle/>
          <a:p>
            <a:pPr marL="0" indent="0" algn="l">
              <a:lnSpc>
                <a:spcPct val="110000"/>
              </a:lnSpc>
              <a:buNone/>
            </a:pPr>
            <a:r>
              <a:rPr lang="en-US" sz="3200" b="1" dirty="0">
                <a:solidFill>
                  <a:srgbClr val="FFFFFF"/>
                </a:solidFill>
              </a:rPr>
              <a:t>WHAT</a:t>
            </a:r>
            <a:endParaRPr lang="en-US" sz="3200" dirty="0"/>
          </a:p>
          <a:p>
            <a:pPr marL="0" indent="0" algn="l">
              <a:lnSpc>
                <a:spcPct val="110000"/>
              </a:lnSpc>
              <a:buNone/>
            </a:pPr>
            <a:r>
              <a:rPr lang="en-US" sz="3200" b="1" dirty="0">
                <a:solidFill>
                  <a:srgbClr val="FFFFFF"/>
                </a:solidFill>
              </a:rPr>
              <a:t>I BUILT</a:t>
            </a:r>
            <a:endParaRPr lang="en-US" sz="3200" dirty="0"/>
          </a:p>
        </p:txBody>
      </p:sp>
      <p:sp>
        <p:nvSpPr>
          <p:cNvPr id="4" name="Shape 2"/>
          <p:cNvSpPr/>
          <p:nvPr/>
        </p:nvSpPr>
        <p:spPr>
          <a:xfrm>
            <a:off x="182880" y="1600200"/>
            <a:ext cx="1645920" cy="36576"/>
          </a:xfrm>
          <a:prstGeom prst="rect">
            <a:avLst/>
          </a:prstGeom>
          <a:solidFill>
            <a:srgbClr val="00C2FF"/>
          </a:solidFill>
          <a:ln/>
        </p:spPr>
      </p:sp>
      <p:sp>
        <p:nvSpPr>
          <p:cNvPr id="5" name="Text 3"/>
          <p:cNvSpPr/>
          <p:nvPr/>
        </p:nvSpPr>
        <p:spPr>
          <a:xfrm>
            <a:off x="182880" y="1737360"/>
            <a:ext cx="2560320" cy="640080"/>
          </a:xfrm>
          <a:prstGeom prst="rect">
            <a:avLst/>
          </a:prstGeom>
          <a:noFill/>
          <a:ln/>
        </p:spPr>
        <p:txBody>
          <a:bodyPr wrap="square" lIns="0" tIns="0" rIns="0" bIns="0" rtlCol="0" anchor="ctr"/>
          <a:lstStyle/>
          <a:p>
            <a:pPr marL="0" indent="0" algn="l">
              <a:lnSpc>
                <a:spcPct val="130000"/>
              </a:lnSpc>
              <a:buNone/>
            </a:pPr>
            <a:r>
              <a:rPr lang="en-US" sz="1000" i="1" dirty="0">
                <a:solidFill>
                  <a:srgbClr val="8BA4B8"/>
                </a:solidFill>
              </a:rPr>
              <a:t>AIL - CI Dashboard</a:t>
            </a:r>
            <a:endParaRPr lang="en-US" sz="1000" dirty="0"/>
          </a:p>
          <a:p>
            <a:pPr marL="0" indent="0" algn="l">
              <a:lnSpc>
                <a:spcPct val="130000"/>
              </a:lnSpc>
              <a:buNone/>
            </a:pPr>
            <a:r>
              <a:rPr lang="en-US" sz="1000" i="1" dirty="0">
                <a:solidFill>
                  <a:srgbClr val="8BA4B8"/>
                </a:solidFill>
              </a:rPr>
              <a:t>Datadog  |  2026</a:t>
            </a:r>
            <a:endParaRPr lang="en-US" sz="1000" dirty="0"/>
          </a:p>
        </p:txBody>
      </p:sp>
      <p:sp>
        <p:nvSpPr>
          <p:cNvPr id="6" name="Shape 4"/>
          <p:cNvSpPr/>
          <p:nvPr/>
        </p:nvSpPr>
        <p:spPr>
          <a:xfrm>
            <a:off x="137160" y="2514600"/>
            <a:ext cx="2697480" cy="2331720"/>
          </a:xfrm>
          <a:prstGeom prst="rect">
            <a:avLst/>
          </a:prstGeom>
          <a:solidFill>
            <a:srgbClr val="0A1628"/>
          </a:solidFill>
          <a:ln/>
        </p:spPr>
      </p:sp>
      <p:sp>
        <p:nvSpPr>
          <p:cNvPr id="7" name="Text 5"/>
          <p:cNvSpPr/>
          <p:nvPr/>
        </p:nvSpPr>
        <p:spPr>
          <a:xfrm>
            <a:off x="256032" y="2578608"/>
            <a:ext cx="2468880" cy="274320"/>
          </a:xfrm>
          <a:prstGeom prst="rect">
            <a:avLst/>
          </a:prstGeom>
          <a:noFill/>
          <a:ln/>
        </p:spPr>
        <p:txBody>
          <a:bodyPr wrap="square" lIns="0" tIns="0" rIns="0" bIns="0" rtlCol="0" anchor="ctr"/>
          <a:lstStyle/>
          <a:p>
            <a:pPr marL="0" indent="0" algn="l">
              <a:buNone/>
            </a:pPr>
            <a:r>
              <a:rPr lang="en-US" sz="800" b="1" kern="0" spc="100" dirty="0">
                <a:solidFill>
                  <a:srgbClr val="00C2FF"/>
                </a:solidFill>
              </a:rPr>
              <a:t>Queries</a:t>
            </a:r>
            <a:endParaRPr lang="en-US" sz="800" dirty="0"/>
          </a:p>
        </p:txBody>
      </p:sp>
      <p:sp>
        <p:nvSpPr>
          <p:cNvPr id="8" name="Text 6"/>
          <p:cNvSpPr/>
          <p:nvPr/>
        </p:nvSpPr>
        <p:spPr>
          <a:xfrm>
            <a:off x="228600" y="2907792"/>
            <a:ext cx="2651760" cy="1874520"/>
          </a:xfrm>
          <a:prstGeom prst="rect">
            <a:avLst/>
          </a:prstGeom>
          <a:noFill/>
          <a:ln/>
        </p:spPr>
        <p:txBody>
          <a:bodyPr wrap="square" lIns="0" tIns="0" rIns="0" bIns="0" rtlCol="0" anchor="t"/>
          <a:lstStyle/>
          <a:p>
            <a:pPr marL="0" indent="0" algn="l">
              <a:buNone/>
            </a:pPr>
            <a:r>
              <a:rPr lang="en-US" sz="680" dirty="0">
                <a:solidFill>
                  <a:srgbClr val="00E5A0"/>
                </a:solidFill>
                <a:latin typeface="Courier New" pitchFamily="34" charset="0"/>
                <a:ea typeface="Courier New" pitchFamily="34" charset="-122"/>
                <a:cs typeface="Courier New" pitchFamily="34" charset="-120"/>
              </a:rPr>
              <a:t># GenMs Timeouts</a:t>
            </a:r>
            <a:endParaRPr lang="en-US" sz="680" dirty="0"/>
          </a:p>
          <a:p>
            <a:pPr marL="0" indent="0" algn="l">
              <a:buNone/>
            </a:pPr>
            <a:r>
              <a:rPr lang="en-US" sz="680" dirty="0">
                <a:solidFill>
                  <a:srgbClr val="7DD3FC"/>
                </a:solidFill>
                <a:latin typeface="Courier New" pitchFamily="34" charset="0"/>
                <a:ea typeface="Courier New" pitchFamily="34" charset="-122"/>
                <a:cs typeface="Courier New" pitchFamily="34" charset="-120"/>
              </a:rPr>
              <a:t>sum:ail.asm.timeouts{env:prod,</a:t>
            </a:r>
            <a:endParaRPr lang="en-US" sz="680" dirty="0"/>
          </a:p>
          <a:p>
            <a:pPr marL="0" indent="0" algn="l">
              <a:buNone/>
            </a:pPr>
            <a:r>
              <a:rPr lang="en-US" sz="680" dirty="0">
                <a:solidFill>
                  <a:srgbClr val="7DD3FC"/>
                </a:solidFill>
                <a:latin typeface="Courier New" pitchFamily="34" charset="0"/>
                <a:ea typeface="Courier New" pitchFamily="34" charset="-122"/>
                <a:cs typeface="Courier New" pitchFamily="34" charset="-120"/>
              </a:rPr>
              <a:t> resource_name:asmclientrest.</a:t>
            </a:r>
            <a:endParaRPr lang="en-US" sz="680" dirty="0"/>
          </a:p>
          <a:p>
            <a:pPr marL="0" indent="0" algn="l">
              <a:buNone/>
            </a:pPr>
            <a:r>
              <a:rPr lang="en-US" sz="680" dirty="0">
                <a:solidFill>
                  <a:srgbClr val="7DD3FC"/>
                </a:solidFill>
                <a:latin typeface="Courier New" pitchFamily="34" charset="0"/>
                <a:ea typeface="Courier New" pitchFamily="34" charset="-122"/>
                <a:cs typeface="Courier New" pitchFamily="34" charset="-120"/>
              </a:rPr>
              <a:t> throwasmatimeoutexception}</a:t>
            </a:r>
            <a:endParaRPr lang="en-US" sz="680" dirty="0"/>
          </a:p>
          <a:p>
            <a:pPr marL="0" indent="0" algn="l">
              <a:buNone/>
            </a:pPr>
            <a:r>
              <a:rPr lang="en-US" sz="680" dirty="0">
                <a:solidFill>
                  <a:srgbClr val="7DD3FC"/>
                </a:solidFill>
                <a:latin typeface="Courier New" pitchFamily="34" charset="0"/>
                <a:ea typeface="Courier New" pitchFamily="34" charset="-122"/>
                <a:cs typeface="Courier New" pitchFamily="34" charset="-120"/>
              </a:rPr>
              <a:t> .as_count()</a:t>
            </a:r>
            <a:endParaRPr lang="en-US" sz="680" dirty="0"/>
          </a:p>
          <a:p>
            <a:pPr marL="0" indent="0" algn="l">
              <a:buNone/>
            </a:pPr>
            <a:endParaRPr lang="en-US" sz="680" dirty="0"/>
          </a:p>
          <a:p>
            <a:pPr marL="0" indent="0" algn="l">
              <a:buNone/>
            </a:pPr>
            <a:r>
              <a:rPr lang="en-US" sz="680" dirty="0">
                <a:solidFill>
                  <a:srgbClr val="00E5A0"/>
                </a:solidFill>
                <a:latin typeface="Courier New" pitchFamily="34" charset="0"/>
                <a:ea typeface="Courier New" pitchFamily="34" charset="-122"/>
                <a:cs typeface="Courier New" pitchFamily="34" charset="-120"/>
              </a:rPr>
              <a:t># SASFM Timeouts</a:t>
            </a:r>
            <a:endParaRPr lang="en-US" sz="680" dirty="0"/>
          </a:p>
          <a:p>
            <a:pPr marL="0" indent="0" algn="l">
              <a:buNone/>
            </a:pPr>
            <a:r>
              <a:rPr lang="en-US" sz="680" dirty="0">
                <a:solidFill>
                  <a:srgbClr val="7DD3FC"/>
                </a:solidFill>
                <a:latin typeface="Courier New" pitchFamily="34" charset="0"/>
                <a:ea typeface="Courier New" pitchFamily="34" charset="-122"/>
                <a:cs typeface="Courier New" pitchFamily="34" charset="-120"/>
              </a:rPr>
              <a:t>sum:ail.sasb.process.flag</a:t>
            </a:r>
            <a:endParaRPr lang="en-US" sz="680" dirty="0"/>
          </a:p>
          <a:p>
            <a:pPr marL="0" indent="0" algn="l">
              <a:buNone/>
            </a:pPr>
            <a:r>
              <a:rPr lang="en-US" sz="680" dirty="0">
                <a:solidFill>
                  <a:srgbClr val="7DD3FC"/>
                </a:solidFill>
                <a:latin typeface="Courier New" pitchFamily="34" charset="0"/>
                <a:ea typeface="Courier New" pitchFamily="34" charset="-122"/>
                <a:cs typeface="Courier New" pitchFamily="34" charset="-120"/>
              </a:rPr>
              <a:t> {env:prod,ail_sasb_flag:t}</a:t>
            </a:r>
            <a:endParaRPr lang="en-US" sz="680" dirty="0"/>
          </a:p>
          <a:p>
            <a:pPr marL="0" indent="0" algn="l">
              <a:buNone/>
            </a:pPr>
            <a:r>
              <a:rPr lang="en-US" sz="680" dirty="0">
                <a:solidFill>
                  <a:srgbClr val="7DD3FC"/>
                </a:solidFill>
                <a:latin typeface="Courier New" pitchFamily="34" charset="0"/>
                <a:ea typeface="Courier New" pitchFamily="34" charset="-122"/>
                <a:cs typeface="Courier New" pitchFamily="34" charset="-120"/>
              </a:rPr>
              <a:t> .as_count()</a:t>
            </a:r>
            <a:endParaRPr lang="en-US" sz="680" dirty="0"/>
          </a:p>
          <a:p>
            <a:pPr marL="0" indent="0" algn="l">
              <a:buNone/>
            </a:pPr>
            <a:endParaRPr lang="en-US" sz="680" dirty="0"/>
          </a:p>
          <a:p>
            <a:pPr marL="0" indent="0" algn="l">
              <a:buNone/>
            </a:pPr>
            <a:r>
              <a:rPr lang="en-US" sz="680" dirty="0">
                <a:solidFill>
                  <a:srgbClr val="00E5A0"/>
                </a:solidFill>
                <a:latin typeface="Courier New" pitchFamily="34" charset="0"/>
                <a:ea typeface="Courier New" pitchFamily="34" charset="-122"/>
                <a:cs typeface="Courier New" pitchFamily="34" charset="-120"/>
              </a:rPr>
              <a:t># Calls Exceeding SLA (&gt;1.1s)</a:t>
            </a:r>
            <a:endParaRPr lang="en-US" sz="680" dirty="0"/>
          </a:p>
          <a:p>
            <a:pPr marL="0" indent="0" algn="l">
              <a:buNone/>
            </a:pPr>
            <a:r>
              <a:rPr lang="en-US" sz="680" dirty="0">
                <a:solidFill>
                  <a:srgbClr val="7DD3FC"/>
                </a:solidFill>
                <a:latin typeface="Courier New" pitchFamily="34" charset="0"/>
                <a:ea typeface="Courier New" pitchFamily="34" charset="-122"/>
                <a:cs typeface="Courier New" pitchFamily="34" charset="-120"/>
              </a:rPr>
              <a:t>count(v:v&gt;=1.1):trace.dd.dynamic</a:t>
            </a:r>
            <a:endParaRPr lang="en-US" sz="680" dirty="0"/>
          </a:p>
          <a:p>
            <a:pPr marL="0" indent="0" algn="l">
              <a:buNone/>
            </a:pPr>
            <a:r>
              <a:rPr lang="en-US" sz="680" dirty="0">
                <a:solidFill>
                  <a:srgbClr val="7DD3FC"/>
                </a:solidFill>
                <a:latin typeface="Courier New" pitchFamily="34" charset="0"/>
                <a:ea typeface="Courier New" pitchFamily="34" charset="-122"/>
                <a:cs typeface="Courier New" pitchFamily="34" charset="-120"/>
              </a:rPr>
              <a:t> .span{env:prod,service:</a:t>
            </a:r>
            <a:endParaRPr lang="en-US" sz="680" dirty="0"/>
          </a:p>
          <a:p>
            <a:pPr marL="0" indent="0" algn="l">
              <a:buNone/>
            </a:pPr>
            <a:r>
              <a:rPr lang="en-US" sz="680" dirty="0">
                <a:solidFill>
                  <a:srgbClr val="7DD3FC"/>
                </a:solidFill>
                <a:latin typeface="Courier New" pitchFamily="34" charset="0"/>
                <a:ea typeface="Courier New" pitchFamily="34" charset="-122"/>
                <a:cs typeface="Courier New" pitchFamily="34" charset="-120"/>
              </a:rPr>
              <a:t> authintegrationlayer}.as_count()</a:t>
            </a:r>
            <a:endParaRPr lang="en-US" sz="680" dirty="0"/>
          </a:p>
        </p:txBody>
      </p:sp>
      <p:sp>
        <p:nvSpPr>
          <p:cNvPr id="9" name="Shape 7"/>
          <p:cNvSpPr/>
          <p:nvPr/>
        </p:nvSpPr>
        <p:spPr>
          <a:xfrm>
            <a:off x="3063240" y="182880"/>
            <a:ext cx="5897880" cy="1444752"/>
          </a:xfrm>
          <a:prstGeom prst="rect">
            <a:avLst/>
          </a:prstGeom>
          <a:solidFill>
            <a:srgbClr val="FFFFFF"/>
          </a:solidFill>
          <a:ln/>
          <a:effectLst>
            <a:outerShdw blurRad="101600" dist="25400" dir="8100000" algn="bl" rotWithShape="0">
              <a:srgbClr val="000000">
                <a:alpha val="8000"/>
              </a:srgbClr>
            </a:outerShdw>
          </a:effectLst>
        </p:spPr>
      </p:sp>
      <p:sp>
        <p:nvSpPr>
          <p:cNvPr id="10" name="Shape 8"/>
          <p:cNvSpPr/>
          <p:nvPr/>
        </p:nvSpPr>
        <p:spPr>
          <a:xfrm>
            <a:off x="3063240" y="182880"/>
            <a:ext cx="64008" cy="1444752"/>
          </a:xfrm>
          <a:prstGeom prst="rect">
            <a:avLst/>
          </a:prstGeom>
          <a:solidFill>
            <a:srgbClr val="00C2FF"/>
          </a:solidFill>
          <a:ln/>
        </p:spPr>
      </p:sp>
      <p:pic>
        <p:nvPicPr>
          <p:cNvPr id="11" name="Image 0" descr="preencoded.png"/>
          <p:cNvPicPr>
            <a:picLocks noChangeAspect="1"/>
          </p:cNvPicPr>
          <p:nvPr/>
        </p:nvPicPr>
        <p:blipFill>
          <a:blip r:embed="rId3"/>
          <a:stretch>
            <a:fillRect/>
          </a:stretch>
        </p:blipFill>
        <p:spPr>
          <a:xfrm>
            <a:off x="3218688" y="384048"/>
            <a:ext cx="384048" cy="384048"/>
          </a:xfrm>
          <a:prstGeom prst="rect">
            <a:avLst/>
          </a:prstGeom>
        </p:spPr>
      </p:pic>
      <p:sp>
        <p:nvSpPr>
          <p:cNvPr id="12" name="Text 9"/>
          <p:cNvSpPr/>
          <p:nvPr/>
        </p:nvSpPr>
        <p:spPr>
          <a:xfrm>
            <a:off x="3730752" y="310896"/>
            <a:ext cx="3657600" cy="347472"/>
          </a:xfrm>
          <a:prstGeom prst="rect">
            <a:avLst/>
          </a:prstGeom>
          <a:noFill/>
          <a:ln/>
        </p:spPr>
        <p:txBody>
          <a:bodyPr wrap="square" lIns="0" tIns="0" rIns="0" bIns="0" rtlCol="0" anchor="ctr"/>
          <a:lstStyle/>
          <a:p>
            <a:pPr marL="0" indent="0" algn="l">
              <a:buNone/>
            </a:pPr>
            <a:r>
              <a:rPr lang="en-US" sz="1300" b="1" dirty="0">
                <a:solidFill>
                  <a:srgbClr val="0D1B2A"/>
                </a:solidFill>
              </a:rPr>
              <a:t>GenMs Timeout Tracking</a:t>
            </a:r>
            <a:endParaRPr lang="en-US" sz="1300" dirty="0"/>
          </a:p>
        </p:txBody>
      </p:sp>
      <p:sp>
        <p:nvSpPr>
          <p:cNvPr id="13" name="Text 10"/>
          <p:cNvSpPr/>
          <p:nvPr/>
        </p:nvSpPr>
        <p:spPr>
          <a:xfrm>
            <a:off x="3730752" y="658368"/>
            <a:ext cx="3520440" cy="868680"/>
          </a:xfrm>
          <a:prstGeom prst="rect">
            <a:avLst/>
          </a:prstGeom>
          <a:noFill/>
          <a:ln/>
        </p:spPr>
        <p:txBody>
          <a:bodyPr wrap="square" lIns="0" tIns="0" rIns="0" bIns="0" rtlCol="0" anchor="ctr"/>
          <a:lstStyle/>
          <a:p>
            <a:pPr marL="0" indent="0" algn="l">
              <a:lnSpc>
                <a:spcPct val="130000"/>
              </a:lnSpc>
              <a:buNone/>
            </a:pPr>
            <a:r>
              <a:rPr lang="en-US" sz="850" dirty="0">
                <a:solidFill>
                  <a:srgbClr val="374151"/>
                </a:solidFill>
              </a:rPr>
              <a:t>Monitored REST API call failures to Gen Model service. Captured throwAsMaruntimeException, throwAsMbruntimeException, and throwAsMcruntimeException error counts in real time.</a:t>
            </a:r>
            <a:endParaRPr lang="en-US" sz="850" dirty="0"/>
          </a:p>
        </p:txBody>
      </p:sp>
      <p:sp>
        <p:nvSpPr>
          <p:cNvPr id="14" name="Shape 11"/>
          <p:cNvSpPr/>
          <p:nvPr/>
        </p:nvSpPr>
        <p:spPr>
          <a:xfrm>
            <a:off x="7863840" y="438912"/>
            <a:ext cx="960120" cy="896112"/>
          </a:xfrm>
          <a:prstGeom prst="roundRect">
            <a:avLst>
              <a:gd name="adj" fmla="val 8163"/>
            </a:avLst>
          </a:prstGeom>
          <a:solidFill>
            <a:srgbClr val="00C2FF">
              <a:alpha val="15000"/>
            </a:srgbClr>
          </a:solidFill>
          <a:ln w="12700">
            <a:solidFill>
              <a:srgbClr val="00C2FF"/>
            </a:solidFill>
            <a:prstDash val="solid"/>
          </a:ln>
        </p:spPr>
      </p:sp>
      <p:sp>
        <p:nvSpPr>
          <p:cNvPr id="15" name="Text 12"/>
          <p:cNvSpPr/>
          <p:nvPr/>
        </p:nvSpPr>
        <p:spPr>
          <a:xfrm>
            <a:off x="7863840" y="438912"/>
            <a:ext cx="960120" cy="502920"/>
          </a:xfrm>
          <a:prstGeom prst="rect">
            <a:avLst/>
          </a:prstGeom>
          <a:noFill/>
          <a:ln/>
        </p:spPr>
        <p:txBody>
          <a:bodyPr wrap="square" lIns="0" tIns="0" rIns="0" bIns="0" rtlCol="0" anchor="b"/>
          <a:lstStyle/>
          <a:p>
            <a:pPr marL="0" indent="0" algn="ctr">
              <a:buNone/>
            </a:pPr>
            <a:r>
              <a:rPr lang="en-US" sz="2200" b="1" dirty="0">
                <a:solidFill>
                  <a:srgbClr val="00C2FF"/>
                </a:solidFill>
              </a:rPr>
              <a:t>37</a:t>
            </a:r>
            <a:endParaRPr lang="en-US" sz="2200" dirty="0"/>
          </a:p>
        </p:txBody>
      </p:sp>
      <p:sp>
        <p:nvSpPr>
          <p:cNvPr id="16" name="Text 13"/>
          <p:cNvSpPr/>
          <p:nvPr/>
        </p:nvSpPr>
        <p:spPr>
          <a:xfrm>
            <a:off x="7863840" y="932688"/>
            <a:ext cx="960120" cy="347472"/>
          </a:xfrm>
          <a:prstGeom prst="rect">
            <a:avLst/>
          </a:prstGeom>
          <a:noFill/>
          <a:ln/>
        </p:spPr>
        <p:txBody>
          <a:bodyPr wrap="square" lIns="0" tIns="0" rIns="0" bIns="0" rtlCol="0" anchor="ctr"/>
          <a:lstStyle/>
          <a:p>
            <a:pPr marL="0" indent="0" algn="ctr">
              <a:lnSpc>
                <a:spcPct val="110000"/>
              </a:lnSpc>
              <a:buNone/>
            </a:pPr>
            <a:r>
              <a:rPr lang="en-US" sz="600" dirty="0">
                <a:solidFill>
                  <a:srgbClr val="0D1B2A"/>
                </a:solidFill>
              </a:rPr>
              <a:t>GenMs Timeouts </a:t>
            </a:r>
            <a:endParaRPr lang="en-US" sz="600" dirty="0"/>
          </a:p>
        </p:txBody>
      </p:sp>
      <p:sp>
        <p:nvSpPr>
          <p:cNvPr id="17" name="Shape 14"/>
          <p:cNvSpPr/>
          <p:nvPr/>
        </p:nvSpPr>
        <p:spPr>
          <a:xfrm>
            <a:off x="3063240" y="1755648"/>
            <a:ext cx="5897880" cy="1444752"/>
          </a:xfrm>
          <a:prstGeom prst="rect">
            <a:avLst/>
          </a:prstGeom>
          <a:solidFill>
            <a:srgbClr val="FFFFFF"/>
          </a:solidFill>
          <a:ln/>
          <a:effectLst>
            <a:outerShdw blurRad="101600" dist="25400" dir="8100000" algn="bl" rotWithShape="0">
              <a:srgbClr val="000000">
                <a:alpha val="8000"/>
              </a:srgbClr>
            </a:outerShdw>
          </a:effectLst>
        </p:spPr>
      </p:sp>
      <p:sp>
        <p:nvSpPr>
          <p:cNvPr id="18" name="Shape 15"/>
          <p:cNvSpPr/>
          <p:nvPr/>
        </p:nvSpPr>
        <p:spPr>
          <a:xfrm>
            <a:off x="3063240" y="1755648"/>
            <a:ext cx="64008" cy="1444752"/>
          </a:xfrm>
          <a:prstGeom prst="rect">
            <a:avLst/>
          </a:prstGeom>
          <a:solidFill>
            <a:srgbClr val="FFB830"/>
          </a:solidFill>
          <a:ln/>
        </p:spPr>
      </p:sp>
      <p:pic>
        <p:nvPicPr>
          <p:cNvPr id="19" name="Image 1" descr="preencoded.png"/>
          <p:cNvPicPr>
            <a:picLocks noChangeAspect="1"/>
          </p:cNvPicPr>
          <p:nvPr/>
        </p:nvPicPr>
        <p:blipFill>
          <a:blip r:embed="rId4"/>
          <a:stretch>
            <a:fillRect/>
          </a:stretch>
        </p:blipFill>
        <p:spPr>
          <a:xfrm>
            <a:off x="3218688" y="1956816"/>
            <a:ext cx="384048" cy="384048"/>
          </a:xfrm>
          <a:prstGeom prst="rect">
            <a:avLst/>
          </a:prstGeom>
        </p:spPr>
      </p:pic>
      <p:sp>
        <p:nvSpPr>
          <p:cNvPr id="20" name="Text 16"/>
          <p:cNvSpPr/>
          <p:nvPr/>
        </p:nvSpPr>
        <p:spPr>
          <a:xfrm>
            <a:off x="3730752" y="1883664"/>
            <a:ext cx="3657600" cy="347472"/>
          </a:xfrm>
          <a:prstGeom prst="rect">
            <a:avLst/>
          </a:prstGeom>
          <a:noFill/>
          <a:ln/>
        </p:spPr>
        <p:txBody>
          <a:bodyPr wrap="square" lIns="0" tIns="0" rIns="0" bIns="0" rtlCol="0" anchor="ctr"/>
          <a:lstStyle/>
          <a:p>
            <a:pPr marL="0" indent="0" algn="l">
              <a:buNone/>
            </a:pPr>
            <a:r>
              <a:rPr lang="en-US" sz="1300" b="1" dirty="0">
                <a:solidFill>
                  <a:srgbClr val="0D1B2A"/>
                </a:solidFill>
              </a:rPr>
              <a:t>SASFM Timeout Monitoring</a:t>
            </a:r>
            <a:endParaRPr lang="en-US" sz="1300" dirty="0"/>
          </a:p>
        </p:txBody>
      </p:sp>
      <p:sp>
        <p:nvSpPr>
          <p:cNvPr id="21" name="Text 17"/>
          <p:cNvSpPr/>
          <p:nvPr/>
        </p:nvSpPr>
        <p:spPr>
          <a:xfrm>
            <a:off x="3730752" y="2231136"/>
            <a:ext cx="3520440" cy="868680"/>
          </a:xfrm>
          <a:prstGeom prst="rect">
            <a:avLst/>
          </a:prstGeom>
          <a:noFill/>
          <a:ln/>
        </p:spPr>
        <p:txBody>
          <a:bodyPr wrap="square" lIns="0" tIns="0" rIns="0" bIns="0" rtlCol="0" anchor="ctr"/>
          <a:lstStyle/>
          <a:p>
            <a:pPr marL="0" indent="0" algn="l">
              <a:lnSpc>
                <a:spcPct val="130000"/>
              </a:lnSpc>
              <a:buNone/>
            </a:pPr>
            <a:r>
              <a:rPr lang="en-US" sz="850" dirty="0">
                <a:solidFill>
                  <a:srgbClr val="374151"/>
                </a:solidFill>
              </a:rPr>
              <a:t>Tracked SAS flag states (T: AIL timeout, P: TimeCop timeout, N: SAS reply timeout) via process.flag metrics. First visibility into SAS Fraud Scoring degradation path.</a:t>
            </a:r>
            <a:endParaRPr lang="en-US" sz="850" dirty="0"/>
          </a:p>
        </p:txBody>
      </p:sp>
      <p:sp>
        <p:nvSpPr>
          <p:cNvPr id="22" name="Shape 18"/>
          <p:cNvSpPr/>
          <p:nvPr/>
        </p:nvSpPr>
        <p:spPr>
          <a:xfrm>
            <a:off x="7863840" y="2011680"/>
            <a:ext cx="960120" cy="896112"/>
          </a:xfrm>
          <a:prstGeom prst="roundRect">
            <a:avLst>
              <a:gd name="adj" fmla="val 8163"/>
            </a:avLst>
          </a:prstGeom>
          <a:solidFill>
            <a:srgbClr val="FFB830">
              <a:alpha val="15000"/>
            </a:srgbClr>
          </a:solidFill>
          <a:ln w="12700">
            <a:solidFill>
              <a:srgbClr val="FFB830"/>
            </a:solidFill>
            <a:prstDash val="solid"/>
          </a:ln>
        </p:spPr>
      </p:sp>
      <p:sp>
        <p:nvSpPr>
          <p:cNvPr id="23" name="Text 19"/>
          <p:cNvSpPr/>
          <p:nvPr/>
        </p:nvSpPr>
        <p:spPr>
          <a:xfrm>
            <a:off x="7863840" y="2011680"/>
            <a:ext cx="960120" cy="502920"/>
          </a:xfrm>
          <a:prstGeom prst="rect">
            <a:avLst/>
          </a:prstGeom>
          <a:noFill/>
          <a:ln/>
        </p:spPr>
        <p:txBody>
          <a:bodyPr wrap="square" lIns="0" tIns="0" rIns="0" bIns="0" rtlCol="0" anchor="b"/>
          <a:lstStyle/>
          <a:p>
            <a:pPr marL="0" indent="0" algn="ctr">
              <a:buNone/>
            </a:pPr>
            <a:r>
              <a:rPr lang="en-US" sz="2200" b="1" dirty="0">
                <a:solidFill>
                  <a:srgbClr val="FFB830"/>
                </a:solidFill>
              </a:rPr>
              <a:t>92</a:t>
            </a:r>
            <a:endParaRPr lang="en-US" sz="2200" dirty="0"/>
          </a:p>
        </p:txBody>
      </p:sp>
      <p:sp>
        <p:nvSpPr>
          <p:cNvPr id="24" name="Text 20"/>
          <p:cNvSpPr/>
          <p:nvPr/>
        </p:nvSpPr>
        <p:spPr>
          <a:xfrm>
            <a:off x="7863840" y="2505456"/>
            <a:ext cx="960120" cy="347472"/>
          </a:xfrm>
          <a:prstGeom prst="rect">
            <a:avLst/>
          </a:prstGeom>
          <a:noFill/>
          <a:ln/>
        </p:spPr>
        <p:txBody>
          <a:bodyPr wrap="square" lIns="0" tIns="0" rIns="0" bIns="0" rtlCol="0" anchor="ctr"/>
          <a:lstStyle/>
          <a:p>
            <a:pPr marL="0" indent="0" algn="ctr">
              <a:lnSpc>
                <a:spcPct val="110000"/>
              </a:lnSpc>
              <a:buNone/>
            </a:pPr>
            <a:r>
              <a:rPr lang="en-US" sz="600" dirty="0">
                <a:solidFill>
                  <a:srgbClr val="0D1B2A"/>
                </a:solidFill>
              </a:rPr>
              <a:t>SASFM Timeouts </a:t>
            </a:r>
            <a:endParaRPr lang="en-US" sz="600" dirty="0"/>
          </a:p>
        </p:txBody>
      </p:sp>
      <p:sp>
        <p:nvSpPr>
          <p:cNvPr id="25" name="Shape 21"/>
          <p:cNvSpPr/>
          <p:nvPr/>
        </p:nvSpPr>
        <p:spPr>
          <a:xfrm>
            <a:off x="3063240" y="3328416"/>
            <a:ext cx="5897880" cy="1444752"/>
          </a:xfrm>
          <a:prstGeom prst="rect">
            <a:avLst/>
          </a:prstGeom>
          <a:solidFill>
            <a:srgbClr val="FFFFFF"/>
          </a:solidFill>
          <a:ln/>
          <a:effectLst>
            <a:outerShdw blurRad="101600" dist="25400" dir="8100000" algn="bl" rotWithShape="0">
              <a:srgbClr val="000000">
                <a:alpha val="8000"/>
              </a:srgbClr>
            </a:outerShdw>
          </a:effectLst>
        </p:spPr>
      </p:sp>
      <p:sp>
        <p:nvSpPr>
          <p:cNvPr id="26" name="Shape 22"/>
          <p:cNvSpPr/>
          <p:nvPr/>
        </p:nvSpPr>
        <p:spPr>
          <a:xfrm>
            <a:off x="3063240" y="3328416"/>
            <a:ext cx="64008" cy="1444752"/>
          </a:xfrm>
          <a:prstGeom prst="rect">
            <a:avLst/>
          </a:prstGeom>
          <a:solidFill>
            <a:srgbClr val="00E5A0"/>
          </a:solidFill>
          <a:ln/>
        </p:spPr>
      </p:sp>
      <p:pic>
        <p:nvPicPr>
          <p:cNvPr id="27" name="Image 2" descr="preencoded.png"/>
          <p:cNvPicPr>
            <a:picLocks noChangeAspect="1"/>
          </p:cNvPicPr>
          <p:nvPr/>
        </p:nvPicPr>
        <p:blipFill>
          <a:blip r:embed="rId5"/>
          <a:stretch>
            <a:fillRect/>
          </a:stretch>
        </p:blipFill>
        <p:spPr>
          <a:xfrm>
            <a:off x="3218688" y="3529584"/>
            <a:ext cx="384048" cy="384048"/>
          </a:xfrm>
          <a:prstGeom prst="rect">
            <a:avLst/>
          </a:prstGeom>
        </p:spPr>
      </p:pic>
      <p:sp>
        <p:nvSpPr>
          <p:cNvPr id="28" name="Text 23"/>
          <p:cNvSpPr/>
          <p:nvPr/>
        </p:nvSpPr>
        <p:spPr>
          <a:xfrm>
            <a:off x="3730752" y="3456432"/>
            <a:ext cx="3657600" cy="347472"/>
          </a:xfrm>
          <a:prstGeom prst="rect">
            <a:avLst/>
          </a:prstGeom>
          <a:noFill/>
          <a:ln/>
        </p:spPr>
        <p:txBody>
          <a:bodyPr wrap="square" lIns="0" tIns="0" rIns="0" bIns="0" rtlCol="0" anchor="ctr"/>
          <a:lstStyle/>
          <a:p>
            <a:pPr marL="0" indent="0" algn="l">
              <a:buNone/>
            </a:pPr>
            <a:r>
              <a:rPr lang="en-US" sz="1300" b="1" dirty="0">
                <a:solidFill>
                  <a:srgbClr val="0D1B2A"/>
                </a:solidFill>
              </a:rPr>
              <a:t>SLA Breach Detection (&gt;1100ms)</a:t>
            </a:r>
            <a:endParaRPr lang="en-US" sz="1300" dirty="0"/>
          </a:p>
        </p:txBody>
      </p:sp>
      <p:sp>
        <p:nvSpPr>
          <p:cNvPr id="29" name="Text 24"/>
          <p:cNvSpPr/>
          <p:nvPr/>
        </p:nvSpPr>
        <p:spPr>
          <a:xfrm>
            <a:off x="3730752" y="3803904"/>
            <a:ext cx="3520440" cy="868680"/>
          </a:xfrm>
          <a:prstGeom prst="rect">
            <a:avLst/>
          </a:prstGeom>
          <a:noFill/>
          <a:ln/>
        </p:spPr>
        <p:txBody>
          <a:bodyPr wrap="square" lIns="0" tIns="0" rIns="0" bIns="0" rtlCol="0" anchor="ctr"/>
          <a:lstStyle/>
          <a:p>
            <a:pPr marL="0" indent="0" algn="l">
              <a:lnSpc>
                <a:spcPct val="130000"/>
              </a:lnSpc>
              <a:buNone/>
            </a:pPr>
            <a:r>
              <a:rPr lang="en-US" sz="850" dirty="0">
                <a:solidFill>
                  <a:srgbClr val="374151"/>
                </a:solidFill>
              </a:rPr>
              <a:t>Built trace-level span query to count Auth→AIL calls exceeding the 1100ms SLA. When breached, Auth makes stand-in decisions — this widget made that invisible cost visible.</a:t>
            </a:r>
            <a:endParaRPr lang="en-US" sz="850" dirty="0"/>
          </a:p>
        </p:txBody>
      </p:sp>
      <p:sp>
        <p:nvSpPr>
          <p:cNvPr id="30" name="Shape 25"/>
          <p:cNvSpPr/>
          <p:nvPr/>
        </p:nvSpPr>
        <p:spPr>
          <a:xfrm>
            <a:off x="7863840" y="3584448"/>
            <a:ext cx="960120" cy="896112"/>
          </a:xfrm>
          <a:prstGeom prst="roundRect">
            <a:avLst>
              <a:gd name="adj" fmla="val 8163"/>
            </a:avLst>
          </a:prstGeom>
          <a:solidFill>
            <a:srgbClr val="00E5A0">
              <a:alpha val="15000"/>
            </a:srgbClr>
          </a:solidFill>
          <a:ln w="12700">
            <a:solidFill>
              <a:srgbClr val="00E5A0"/>
            </a:solidFill>
            <a:prstDash val="solid"/>
          </a:ln>
        </p:spPr>
      </p:sp>
      <p:sp>
        <p:nvSpPr>
          <p:cNvPr id="31" name="Text 26"/>
          <p:cNvSpPr/>
          <p:nvPr/>
        </p:nvSpPr>
        <p:spPr>
          <a:xfrm>
            <a:off x="7863840" y="3584448"/>
            <a:ext cx="960120" cy="502920"/>
          </a:xfrm>
          <a:prstGeom prst="rect">
            <a:avLst/>
          </a:prstGeom>
          <a:noFill/>
          <a:ln/>
        </p:spPr>
        <p:txBody>
          <a:bodyPr wrap="square" lIns="0" tIns="0" rIns="0" bIns="0" rtlCol="0" anchor="b"/>
          <a:lstStyle/>
          <a:p>
            <a:pPr marL="0" indent="0" algn="ctr">
              <a:buNone/>
            </a:pPr>
            <a:r>
              <a:rPr lang="en-US" sz="2200" b="1" dirty="0">
                <a:solidFill>
                  <a:srgbClr val="00E5A0"/>
                </a:solidFill>
              </a:rPr>
              <a:t>~500</a:t>
            </a:r>
            <a:endParaRPr lang="en-US" sz="2200" dirty="0"/>
          </a:p>
        </p:txBody>
      </p:sp>
      <p:sp>
        <p:nvSpPr>
          <p:cNvPr id="32" name="Text 27"/>
          <p:cNvSpPr/>
          <p:nvPr/>
        </p:nvSpPr>
        <p:spPr>
          <a:xfrm>
            <a:off x="7863840" y="4078224"/>
            <a:ext cx="960120" cy="347472"/>
          </a:xfrm>
          <a:prstGeom prst="rect">
            <a:avLst/>
          </a:prstGeom>
          <a:noFill/>
          <a:ln/>
        </p:spPr>
        <p:txBody>
          <a:bodyPr wrap="square" lIns="0" tIns="0" rIns="0" bIns="0" rtlCol="0" anchor="ctr"/>
          <a:lstStyle/>
          <a:p>
            <a:pPr marL="0" indent="0" algn="ctr">
              <a:lnSpc>
                <a:spcPct val="110000"/>
              </a:lnSpc>
              <a:buNone/>
            </a:pPr>
            <a:r>
              <a:rPr lang="en-US" sz="600" dirty="0">
                <a:solidFill>
                  <a:srgbClr val="0D1B2A"/>
                </a:solidFill>
              </a:rPr>
              <a:t>Peak spike detected</a:t>
            </a:r>
            <a:endParaRPr lang="en-US" sz="600" dirty="0"/>
          </a:p>
        </p:txBody>
      </p:sp>
      <p:sp>
        <p:nvSpPr>
          <p:cNvPr id="33" name="Text 28"/>
          <p:cNvSpPr/>
          <p:nvPr/>
        </p:nvSpPr>
        <p:spPr>
          <a:xfrm>
            <a:off x="3063240" y="4828032"/>
            <a:ext cx="5897880" cy="228600"/>
          </a:xfrm>
          <a:prstGeom prst="rect">
            <a:avLst/>
          </a:prstGeom>
          <a:noFill/>
          <a:ln/>
        </p:spPr>
        <p:txBody>
          <a:bodyPr wrap="square" lIns="0" tIns="0" rIns="0" bIns="0" rtlCol="0" anchor="ctr"/>
          <a:lstStyle/>
          <a:p>
            <a:pPr marL="0" indent="0" algn="l">
              <a:buNone/>
            </a:pP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111D"/>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3A6B"/>
          </a:solidFill>
          <a:ln/>
        </p:spPr>
      </p:sp>
      <p:sp>
        <p:nvSpPr>
          <p:cNvPr id="3" name="Shape 1"/>
          <p:cNvSpPr/>
          <p:nvPr/>
        </p:nvSpPr>
        <p:spPr>
          <a:xfrm>
            <a:off x="0" y="960120"/>
            <a:ext cx="9144000" cy="45720"/>
          </a:xfrm>
          <a:prstGeom prst="rect">
            <a:avLst/>
          </a:prstGeom>
          <a:solidFill>
            <a:srgbClr val="00C2FF"/>
          </a:solidFill>
          <a:ln/>
        </p:spPr>
      </p:sp>
      <p:sp>
        <p:nvSpPr>
          <p:cNvPr id="4" name="Text 2"/>
          <p:cNvSpPr/>
          <p:nvPr/>
        </p:nvSpPr>
        <p:spPr>
          <a:xfrm>
            <a:off x="411480" y="137160"/>
            <a:ext cx="6400800" cy="548640"/>
          </a:xfrm>
          <a:prstGeom prst="rect">
            <a:avLst/>
          </a:prstGeom>
          <a:noFill/>
          <a:ln/>
        </p:spPr>
        <p:txBody>
          <a:bodyPr wrap="square" lIns="0" tIns="0" rIns="0" bIns="0" rtlCol="0" anchor="ctr"/>
          <a:lstStyle/>
          <a:p>
            <a:pPr marL="0" indent="0" algn="l">
              <a:buNone/>
            </a:pPr>
            <a:r>
              <a:rPr lang="en-US" sz="3000" b="1" dirty="0">
                <a:solidFill>
                  <a:srgbClr val="FFFFFF"/>
                </a:solidFill>
              </a:rPr>
              <a:t>From Monitoring to RCA</a:t>
            </a:r>
            <a:endParaRPr lang="en-US" sz="3000" dirty="0"/>
          </a:p>
        </p:txBody>
      </p:sp>
      <p:sp>
        <p:nvSpPr>
          <p:cNvPr id="5" name="Text 3"/>
          <p:cNvSpPr/>
          <p:nvPr/>
        </p:nvSpPr>
        <p:spPr>
          <a:xfrm>
            <a:off x="411480" y="621792"/>
            <a:ext cx="6400800" cy="274320"/>
          </a:xfrm>
          <a:prstGeom prst="rect">
            <a:avLst/>
          </a:prstGeom>
          <a:noFill/>
          <a:ln/>
        </p:spPr>
        <p:txBody>
          <a:bodyPr wrap="square" lIns="0" tIns="0" rIns="0" bIns="0" rtlCol="0" anchor="ctr"/>
          <a:lstStyle/>
          <a:p>
            <a:pPr marL="0" indent="0" algn="l">
              <a:buNone/>
            </a:pPr>
            <a:r>
              <a:rPr lang="en-US" sz="1100" dirty="0">
                <a:solidFill>
                  <a:srgbClr val="00C2FF"/>
                </a:solidFill>
              </a:rPr>
              <a:t>INC23365374  ·  PRB0058624  ·  Feb 2026</a:t>
            </a:r>
            <a:endParaRPr lang="en-US" sz="1100" dirty="0"/>
          </a:p>
        </p:txBody>
      </p:sp>
      <p:sp>
        <p:nvSpPr>
          <p:cNvPr id="6" name="Text 4"/>
          <p:cNvSpPr/>
          <p:nvPr/>
        </p:nvSpPr>
        <p:spPr>
          <a:xfrm>
            <a:off x="274320" y="1188720"/>
            <a:ext cx="4114800" cy="274320"/>
          </a:xfrm>
          <a:prstGeom prst="rect">
            <a:avLst/>
          </a:prstGeom>
          <a:noFill/>
          <a:ln/>
        </p:spPr>
        <p:txBody>
          <a:bodyPr wrap="square" lIns="0" tIns="0" rIns="0" bIns="0" rtlCol="0" anchor="ctr"/>
          <a:lstStyle/>
          <a:p>
            <a:pPr marL="0" indent="0" algn="l">
              <a:buNone/>
            </a:pPr>
            <a:r>
              <a:rPr lang="en-US" sz="800" b="1" kern="0" spc="200" dirty="0">
                <a:solidFill>
                  <a:srgbClr val="00C2FF"/>
                </a:solidFill>
              </a:rPr>
              <a:t>INCIDENT TIMELINE</a:t>
            </a:r>
            <a:endParaRPr lang="en-US" sz="800" dirty="0"/>
          </a:p>
        </p:txBody>
      </p:sp>
      <p:sp>
        <p:nvSpPr>
          <p:cNvPr id="7" name="Shape 5"/>
          <p:cNvSpPr/>
          <p:nvPr/>
        </p:nvSpPr>
        <p:spPr>
          <a:xfrm>
            <a:off x="274320" y="1655064"/>
            <a:ext cx="109728" cy="109728"/>
          </a:xfrm>
          <a:prstGeom prst="ellipse">
            <a:avLst/>
          </a:prstGeom>
          <a:solidFill>
            <a:srgbClr val="FF5252"/>
          </a:solidFill>
          <a:ln/>
        </p:spPr>
      </p:sp>
      <p:sp>
        <p:nvSpPr>
          <p:cNvPr id="8" name="Shape 6"/>
          <p:cNvSpPr/>
          <p:nvPr/>
        </p:nvSpPr>
        <p:spPr>
          <a:xfrm>
            <a:off x="324612" y="1764792"/>
            <a:ext cx="9144" cy="429768"/>
          </a:xfrm>
          <a:prstGeom prst="rect">
            <a:avLst/>
          </a:prstGeom>
          <a:solidFill>
            <a:srgbClr val="1E3A5F"/>
          </a:solidFill>
          <a:ln/>
        </p:spPr>
      </p:sp>
      <p:sp>
        <p:nvSpPr>
          <p:cNvPr id="9" name="Text 7"/>
          <p:cNvSpPr/>
          <p:nvPr/>
        </p:nvSpPr>
        <p:spPr>
          <a:xfrm>
            <a:off x="502920" y="1609344"/>
            <a:ext cx="1417320" cy="201168"/>
          </a:xfrm>
          <a:prstGeom prst="rect">
            <a:avLst/>
          </a:prstGeom>
          <a:noFill/>
          <a:ln/>
        </p:spPr>
        <p:txBody>
          <a:bodyPr wrap="square" lIns="0" tIns="0" rIns="0" bIns="0" rtlCol="0" anchor="ctr"/>
          <a:lstStyle/>
          <a:p>
            <a:pPr marL="0" indent="0" algn="l">
              <a:buNone/>
            </a:pPr>
            <a:r>
              <a:rPr lang="en-US" sz="750" dirty="0">
                <a:solidFill>
                  <a:srgbClr val="8BA4B8"/>
                </a:solidFill>
                <a:latin typeface="Courier New" pitchFamily="34" charset="0"/>
                <a:ea typeface="Courier New" pitchFamily="34" charset="-122"/>
                <a:cs typeface="Courier New" pitchFamily="34" charset="-120"/>
              </a:rPr>
              <a:t>04-Feb  17:56 ET</a:t>
            </a:r>
            <a:endParaRPr lang="en-US" sz="750" dirty="0"/>
          </a:p>
        </p:txBody>
      </p:sp>
      <p:sp>
        <p:nvSpPr>
          <p:cNvPr id="10" name="Text 8"/>
          <p:cNvSpPr/>
          <p:nvPr/>
        </p:nvSpPr>
        <p:spPr>
          <a:xfrm>
            <a:off x="502920" y="1801368"/>
            <a:ext cx="3474720" cy="256032"/>
          </a:xfrm>
          <a:prstGeom prst="rect">
            <a:avLst/>
          </a:prstGeom>
          <a:noFill/>
          <a:ln/>
        </p:spPr>
        <p:txBody>
          <a:bodyPr wrap="square" lIns="0" tIns="0" rIns="0" bIns="0" rtlCol="0" anchor="ctr"/>
          <a:lstStyle/>
          <a:p>
            <a:pPr marL="0" indent="0" algn="l">
              <a:lnSpc>
                <a:spcPct val="120000"/>
              </a:lnSpc>
              <a:buNone/>
            </a:pPr>
            <a:r>
              <a:rPr lang="en-US" sz="850" dirty="0">
                <a:solidFill>
                  <a:srgbClr val="FFFFFF"/>
                </a:solidFill>
              </a:rPr>
              <a:t>Flash disk failed in Oracle SSB storage cell</a:t>
            </a:r>
            <a:endParaRPr lang="en-US" sz="850" dirty="0"/>
          </a:p>
        </p:txBody>
      </p:sp>
      <p:sp>
        <p:nvSpPr>
          <p:cNvPr id="11" name="Shape 9"/>
          <p:cNvSpPr/>
          <p:nvPr/>
        </p:nvSpPr>
        <p:spPr>
          <a:xfrm>
            <a:off x="274320" y="2176272"/>
            <a:ext cx="109728" cy="109728"/>
          </a:xfrm>
          <a:prstGeom prst="ellipse">
            <a:avLst/>
          </a:prstGeom>
          <a:solidFill>
            <a:srgbClr val="FFB830"/>
          </a:solidFill>
          <a:ln/>
        </p:spPr>
      </p:sp>
      <p:sp>
        <p:nvSpPr>
          <p:cNvPr id="12" name="Shape 10"/>
          <p:cNvSpPr/>
          <p:nvPr/>
        </p:nvSpPr>
        <p:spPr>
          <a:xfrm>
            <a:off x="324612" y="2286000"/>
            <a:ext cx="9144" cy="429768"/>
          </a:xfrm>
          <a:prstGeom prst="rect">
            <a:avLst/>
          </a:prstGeom>
          <a:solidFill>
            <a:srgbClr val="1E3A5F"/>
          </a:solidFill>
          <a:ln/>
        </p:spPr>
      </p:sp>
      <p:sp>
        <p:nvSpPr>
          <p:cNvPr id="13" name="Text 11"/>
          <p:cNvSpPr/>
          <p:nvPr/>
        </p:nvSpPr>
        <p:spPr>
          <a:xfrm>
            <a:off x="502920" y="2130552"/>
            <a:ext cx="1417320" cy="201168"/>
          </a:xfrm>
          <a:prstGeom prst="rect">
            <a:avLst/>
          </a:prstGeom>
          <a:noFill/>
          <a:ln/>
        </p:spPr>
        <p:txBody>
          <a:bodyPr wrap="square" lIns="0" tIns="0" rIns="0" bIns="0" rtlCol="0" anchor="ctr"/>
          <a:lstStyle/>
          <a:p>
            <a:pPr marL="0" indent="0" algn="l">
              <a:buNone/>
            </a:pPr>
            <a:r>
              <a:rPr lang="en-US" sz="750" dirty="0">
                <a:solidFill>
                  <a:srgbClr val="8BA4B8"/>
                </a:solidFill>
                <a:latin typeface="Courier New" pitchFamily="34" charset="0"/>
                <a:ea typeface="Courier New" pitchFamily="34" charset="-122"/>
                <a:cs typeface="Courier New" pitchFamily="34" charset="-120"/>
              </a:rPr>
              <a:t>04-Feb  18:04 ET</a:t>
            </a:r>
            <a:endParaRPr lang="en-US" sz="750" dirty="0"/>
          </a:p>
        </p:txBody>
      </p:sp>
      <p:sp>
        <p:nvSpPr>
          <p:cNvPr id="14" name="Text 12"/>
          <p:cNvSpPr/>
          <p:nvPr/>
        </p:nvSpPr>
        <p:spPr>
          <a:xfrm>
            <a:off x="502920" y="2322576"/>
            <a:ext cx="3474720" cy="256032"/>
          </a:xfrm>
          <a:prstGeom prst="rect">
            <a:avLst/>
          </a:prstGeom>
          <a:noFill/>
          <a:ln/>
        </p:spPr>
        <p:txBody>
          <a:bodyPr wrap="square" lIns="0" tIns="0" rIns="0" bIns="0" rtlCol="0" anchor="ctr"/>
          <a:lstStyle/>
          <a:p>
            <a:pPr marL="0" indent="0" algn="l">
              <a:lnSpc>
                <a:spcPct val="120000"/>
              </a:lnSpc>
              <a:buNone/>
            </a:pPr>
            <a:r>
              <a:rPr lang="en-US" sz="850" dirty="0">
                <a:solidFill>
                  <a:srgbClr val="FFFFFF"/>
                </a:solidFill>
              </a:rPr>
              <a:t>Failed disk replaced; data disk rebalance started — cache rebuild begins</a:t>
            </a:r>
            <a:endParaRPr lang="en-US" sz="850" dirty="0"/>
          </a:p>
        </p:txBody>
      </p:sp>
      <p:sp>
        <p:nvSpPr>
          <p:cNvPr id="15" name="Shape 13"/>
          <p:cNvSpPr/>
          <p:nvPr/>
        </p:nvSpPr>
        <p:spPr>
          <a:xfrm>
            <a:off x="274320" y="2697480"/>
            <a:ext cx="109728" cy="109728"/>
          </a:xfrm>
          <a:prstGeom prst="ellipse">
            <a:avLst/>
          </a:prstGeom>
          <a:solidFill>
            <a:srgbClr val="FFB830"/>
          </a:solidFill>
          <a:ln/>
        </p:spPr>
      </p:sp>
      <p:sp>
        <p:nvSpPr>
          <p:cNvPr id="16" name="Shape 14"/>
          <p:cNvSpPr/>
          <p:nvPr/>
        </p:nvSpPr>
        <p:spPr>
          <a:xfrm>
            <a:off x="324612" y="2807208"/>
            <a:ext cx="9144" cy="429768"/>
          </a:xfrm>
          <a:prstGeom prst="rect">
            <a:avLst/>
          </a:prstGeom>
          <a:solidFill>
            <a:srgbClr val="1E3A5F"/>
          </a:solidFill>
          <a:ln/>
        </p:spPr>
      </p:sp>
      <p:sp>
        <p:nvSpPr>
          <p:cNvPr id="17" name="Text 15"/>
          <p:cNvSpPr/>
          <p:nvPr/>
        </p:nvSpPr>
        <p:spPr>
          <a:xfrm>
            <a:off x="502920" y="2651760"/>
            <a:ext cx="1417320" cy="201168"/>
          </a:xfrm>
          <a:prstGeom prst="rect">
            <a:avLst/>
          </a:prstGeom>
          <a:noFill/>
          <a:ln/>
        </p:spPr>
        <p:txBody>
          <a:bodyPr wrap="square" lIns="0" tIns="0" rIns="0" bIns="0" rtlCol="0" anchor="ctr"/>
          <a:lstStyle/>
          <a:p>
            <a:pPr marL="0" indent="0" algn="l">
              <a:buNone/>
            </a:pPr>
            <a:r>
              <a:rPr lang="en-US" sz="750" dirty="0">
                <a:solidFill>
                  <a:srgbClr val="8BA4B8"/>
                </a:solidFill>
                <a:latin typeface="Courier New" pitchFamily="34" charset="0"/>
                <a:ea typeface="Courier New" pitchFamily="34" charset="-122"/>
                <a:cs typeface="Courier New" pitchFamily="34" charset="-120"/>
              </a:rPr>
              <a:t>06-Feb  03:27 ET</a:t>
            </a:r>
            <a:endParaRPr lang="en-US" sz="750" dirty="0"/>
          </a:p>
        </p:txBody>
      </p:sp>
      <p:sp>
        <p:nvSpPr>
          <p:cNvPr id="18" name="Text 16"/>
          <p:cNvSpPr/>
          <p:nvPr/>
        </p:nvSpPr>
        <p:spPr>
          <a:xfrm>
            <a:off x="502920" y="2843784"/>
            <a:ext cx="3474720" cy="256032"/>
          </a:xfrm>
          <a:prstGeom prst="rect">
            <a:avLst/>
          </a:prstGeom>
          <a:noFill/>
          <a:ln/>
        </p:spPr>
        <p:txBody>
          <a:bodyPr wrap="square" lIns="0" tIns="0" rIns="0" bIns="0" rtlCol="0" anchor="ctr"/>
          <a:lstStyle/>
          <a:p>
            <a:pPr marL="0" indent="0" algn="l">
              <a:lnSpc>
                <a:spcPct val="120000"/>
              </a:lnSpc>
              <a:buNone/>
            </a:pPr>
            <a:r>
              <a:rPr lang="en-US" sz="850" dirty="0">
                <a:solidFill>
                  <a:srgbClr val="FFFFFF"/>
                </a:solidFill>
              </a:rPr>
              <a:t>AIL DB timeout spike observed in batch window</a:t>
            </a:r>
            <a:endParaRPr lang="en-US" sz="850" dirty="0"/>
          </a:p>
        </p:txBody>
      </p:sp>
      <p:sp>
        <p:nvSpPr>
          <p:cNvPr id="19" name="Shape 17"/>
          <p:cNvSpPr/>
          <p:nvPr/>
        </p:nvSpPr>
        <p:spPr>
          <a:xfrm>
            <a:off x="274320" y="3218688"/>
            <a:ext cx="109728" cy="109728"/>
          </a:xfrm>
          <a:prstGeom prst="ellipse">
            <a:avLst/>
          </a:prstGeom>
          <a:solidFill>
            <a:srgbClr val="FF5252"/>
          </a:solidFill>
          <a:ln/>
        </p:spPr>
      </p:sp>
      <p:sp>
        <p:nvSpPr>
          <p:cNvPr id="20" name="Shape 18"/>
          <p:cNvSpPr/>
          <p:nvPr/>
        </p:nvSpPr>
        <p:spPr>
          <a:xfrm>
            <a:off x="324612" y="3328416"/>
            <a:ext cx="9144" cy="429768"/>
          </a:xfrm>
          <a:prstGeom prst="rect">
            <a:avLst/>
          </a:prstGeom>
          <a:solidFill>
            <a:srgbClr val="1E3A5F"/>
          </a:solidFill>
          <a:ln/>
        </p:spPr>
      </p:sp>
      <p:sp>
        <p:nvSpPr>
          <p:cNvPr id="21" name="Text 19"/>
          <p:cNvSpPr/>
          <p:nvPr/>
        </p:nvSpPr>
        <p:spPr>
          <a:xfrm>
            <a:off x="502920" y="3172968"/>
            <a:ext cx="1417320" cy="201168"/>
          </a:xfrm>
          <a:prstGeom prst="rect">
            <a:avLst/>
          </a:prstGeom>
          <a:noFill/>
          <a:ln/>
        </p:spPr>
        <p:txBody>
          <a:bodyPr wrap="square" lIns="0" tIns="0" rIns="0" bIns="0" rtlCol="0" anchor="ctr"/>
          <a:lstStyle/>
          <a:p>
            <a:pPr marL="0" indent="0" algn="l">
              <a:buNone/>
            </a:pPr>
            <a:r>
              <a:rPr lang="en-US" sz="750" dirty="0">
                <a:solidFill>
                  <a:srgbClr val="8BA4B8"/>
                </a:solidFill>
                <a:latin typeface="Courier New" pitchFamily="34" charset="0"/>
                <a:ea typeface="Courier New" pitchFamily="34" charset="-122"/>
                <a:cs typeface="Courier New" pitchFamily="34" charset="-120"/>
              </a:rPr>
              <a:t>06-Feb  06:12 ET</a:t>
            </a:r>
            <a:endParaRPr lang="en-US" sz="750" dirty="0"/>
          </a:p>
        </p:txBody>
      </p:sp>
      <p:sp>
        <p:nvSpPr>
          <p:cNvPr id="22" name="Text 20"/>
          <p:cNvSpPr/>
          <p:nvPr/>
        </p:nvSpPr>
        <p:spPr>
          <a:xfrm>
            <a:off x="502920" y="3364992"/>
            <a:ext cx="3474720" cy="256032"/>
          </a:xfrm>
          <a:prstGeom prst="rect">
            <a:avLst/>
          </a:prstGeom>
          <a:noFill/>
          <a:ln/>
        </p:spPr>
        <p:txBody>
          <a:bodyPr wrap="square" lIns="0" tIns="0" rIns="0" bIns="0" rtlCol="0" anchor="ctr"/>
          <a:lstStyle/>
          <a:p>
            <a:pPr marL="0" indent="0" algn="l">
              <a:lnSpc>
                <a:spcPct val="120000"/>
              </a:lnSpc>
              <a:buNone/>
            </a:pPr>
            <a:r>
              <a:rPr lang="en-US" sz="850" dirty="0">
                <a:solidFill>
                  <a:srgbClr val="FFFFFF"/>
                </a:solidFill>
              </a:rPr>
              <a:t>Monitoring alert fires: 250+ errors / 15 min for authintegrationlayer</a:t>
            </a:r>
            <a:endParaRPr lang="en-US" sz="850" dirty="0"/>
          </a:p>
        </p:txBody>
      </p:sp>
      <p:sp>
        <p:nvSpPr>
          <p:cNvPr id="23" name="Shape 21"/>
          <p:cNvSpPr/>
          <p:nvPr/>
        </p:nvSpPr>
        <p:spPr>
          <a:xfrm>
            <a:off x="274320" y="3739896"/>
            <a:ext cx="109728" cy="109728"/>
          </a:xfrm>
          <a:prstGeom prst="ellipse">
            <a:avLst/>
          </a:prstGeom>
          <a:solidFill>
            <a:srgbClr val="00E5A0"/>
          </a:solidFill>
          <a:ln/>
        </p:spPr>
      </p:sp>
      <p:sp>
        <p:nvSpPr>
          <p:cNvPr id="24" name="Shape 22"/>
          <p:cNvSpPr/>
          <p:nvPr/>
        </p:nvSpPr>
        <p:spPr>
          <a:xfrm>
            <a:off x="324612" y="3849624"/>
            <a:ext cx="9144" cy="429768"/>
          </a:xfrm>
          <a:prstGeom prst="rect">
            <a:avLst/>
          </a:prstGeom>
          <a:solidFill>
            <a:srgbClr val="1E3A5F"/>
          </a:solidFill>
          <a:ln/>
        </p:spPr>
      </p:sp>
      <p:sp>
        <p:nvSpPr>
          <p:cNvPr id="25" name="Text 23"/>
          <p:cNvSpPr/>
          <p:nvPr/>
        </p:nvSpPr>
        <p:spPr>
          <a:xfrm>
            <a:off x="502920" y="3694176"/>
            <a:ext cx="1417320" cy="201168"/>
          </a:xfrm>
          <a:prstGeom prst="rect">
            <a:avLst/>
          </a:prstGeom>
          <a:noFill/>
          <a:ln/>
        </p:spPr>
        <p:txBody>
          <a:bodyPr wrap="square" lIns="0" tIns="0" rIns="0" bIns="0" rtlCol="0" anchor="ctr"/>
          <a:lstStyle/>
          <a:p>
            <a:pPr marL="0" indent="0" algn="l">
              <a:buNone/>
            </a:pPr>
            <a:r>
              <a:rPr lang="en-US" sz="750" dirty="0">
                <a:solidFill>
                  <a:srgbClr val="8BA4B8"/>
                </a:solidFill>
                <a:latin typeface="Courier New" pitchFamily="34" charset="0"/>
                <a:ea typeface="Courier New" pitchFamily="34" charset="-122"/>
                <a:cs typeface="Courier New" pitchFamily="34" charset="-120"/>
              </a:rPr>
              <a:t>06-Feb  09:00 ET</a:t>
            </a:r>
            <a:endParaRPr lang="en-US" sz="750" dirty="0"/>
          </a:p>
        </p:txBody>
      </p:sp>
      <p:sp>
        <p:nvSpPr>
          <p:cNvPr id="26" name="Text 24"/>
          <p:cNvSpPr/>
          <p:nvPr/>
        </p:nvSpPr>
        <p:spPr>
          <a:xfrm>
            <a:off x="502920" y="3886200"/>
            <a:ext cx="3474720" cy="256032"/>
          </a:xfrm>
          <a:prstGeom prst="rect">
            <a:avLst/>
          </a:prstGeom>
          <a:noFill/>
          <a:ln/>
        </p:spPr>
        <p:txBody>
          <a:bodyPr wrap="square" lIns="0" tIns="0" rIns="0" bIns="0" rtlCol="0" anchor="ctr"/>
          <a:lstStyle/>
          <a:p>
            <a:pPr marL="0" indent="0" algn="l">
              <a:lnSpc>
                <a:spcPct val="120000"/>
              </a:lnSpc>
              <a:buNone/>
            </a:pPr>
            <a:r>
              <a:rPr lang="en-US" sz="850" dirty="0">
                <a:solidFill>
                  <a:srgbClr val="FFFFFF"/>
                </a:solidFill>
              </a:rPr>
              <a:t>Timeouts subsided post-batch; Auth traffic flipped 100% to BDC</a:t>
            </a:r>
            <a:endParaRPr lang="en-US" sz="850" dirty="0"/>
          </a:p>
        </p:txBody>
      </p:sp>
      <p:sp>
        <p:nvSpPr>
          <p:cNvPr id="27" name="Shape 25"/>
          <p:cNvSpPr/>
          <p:nvPr/>
        </p:nvSpPr>
        <p:spPr>
          <a:xfrm>
            <a:off x="274320" y="4261104"/>
            <a:ext cx="109728" cy="109728"/>
          </a:xfrm>
          <a:prstGeom prst="ellipse">
            <a:avLst/>
          </a:prstGeom>
          <a:solidFill>
            <a:srgbClr val="00E5A0"/>
          </a:solidFill>
          <a:ln/>
        </p:spPr>
      </p:sp>
      <p:sp>
        <p:nvSpPr>
          <p:cNvPr id="28" name="Text 26"/>
          <p:cNvSpPr/>
          <p:nvPr/>
        </p:nvSpPr>
        <p:spPr>
          <a:xfrm>
            <a:off x="502920" y="4215384"/>
            <a:ext cx="1417320" cy="201168"/>
          </a:xfrm>
          <a:prstGeom prst="rect">
            <a:avLst/>
          </a:prstGeom>
          <a:noFill/>
          <a:ln/>
        </p:spPr>
        <p:txBody>
          <a:bodyPr wrap="square" lIns="0" tIns="0" rIns="0" bIns="0" rtlCol="0" anchor="ctr"/>
          <a:lstStyle/>
          <a:p>
            <a:pPr marL="0" indent="0" algn="l">
              <a:buNone/>
            </a:pPr>
            <a:r>
              <a:rPr lang="en-US" sz="750" dirty="0">
                <a:solidFill>
                  <a:srgbClr val="8BA4B8"/>
                </a:solidFill>
                <a:latin typeface="Courier New" pitchFamily="34" charset="0"/>
                <a:ea typeface="Courier New" pitchFamily="34" charset="-122"/>
                <a:cs typeface="Courier New" pitchFamily="34" charset="-120"/>
              </a:rPr>
              <a:t>07-Feb  00:35 ET</a:t>
            </a:r>
            <a:endParaRPr lang="en-US" sz="750" dirty="0"/>
          </a:p>
        </p:txBody>
      </p:sp>
      <p:sp>
        <p:nvSpPr>
          <p:cNvPr id="29" name="Text 27"/>
          <p:cNvSpPr/>
          <p:nvPr/>
        </p:nvSpPr>
        <p:spPr>
          <a:xfrm>
            <a:off x="502920" y="4407408"/>
            <a:ext cx="3474720" cy="256032"/>
          </a:xfrm>
          <a:prstGeom prst="rect">
            <a:avLst/>
          </a:prstGeom>
          <a:noFill/>
          <a:ln/>
        </p:spPr>
        <p:txBody>
          <a:bodyPr wrap="square" lIns="0" tIns="0" rIns="0" bIns="0" rtlCol="0" anchor="ctr"/>
          <a:lstStyle/>
          <a:p>
            <a:pPr marL="0" indent="0" algn="l">
              <a:lnSpc>
                <a:spcPct val="120000"/>
              </a:lnSpc>
              <a:buNone/>
            </a:pPr>
            <a:r>
              <a:rPr lang="en-US" sz="850" dirty="0">
                <a:solidFill>
                  <a:srgbClr val="FFFFFF"/>
                </a:solidFill>
              </a:rPr>
              <a:t>Flash disk replaced (CHG12571315); cache rebuilt; traffic restored</a:t>
            </a:r>
            <a:endParaRPr lang="en-US" sz="850" dirty="0"/>
          </a:p>
        </p:txBody>
      </p:sp>
      <p:sp>
        <p:nvSpPr>
          <p:cNvPr id="30" name="Shape 28"/>
          <p:cNvSpPr/>
          <p:nvPr/>
        </p:nvSpPr>
        <p:spPr>
          <a:xfrm>
            <a:off x="4617720" y="1143000"/>
            <a:ext cx="4297680" cy="1417320"/>
          </a:xfrm>
          <a:prstGeom prst="rect">
            <a:avLst/>
          </a:prstGeom>
          <a:solidFill>
            <a:srgbClr val="0F2138"/>
          </a:solidFill>
          <a:ln w="12700">
            <a:solidFill>
              <a:srgbClr val="1E3A5F"/>
            </a:solidFill>
            <a:prstDash val="solid"/>
          </a:ln>
        </p:spPr>
      </p:sp>
      <p:sp>
        <p:nvSpPr>
          <p:cNvPr id="31" name="Shape 29"/>
          <p:cNvSpPr/>
          <p:nvPr/>
        </p:nvSpPr>
        <p:spPr>
          <a:xfrm>
            <a:off x="4617720" y="1143000"/>
            <a:ext cx="4297680" cy="292608"/>
          </a:xfrm>
          <a:prstGeom prst="rect">
            <a:avLst/>
          </a:prstGeom>
          <a:solidFill>
            <a:srgbClr val="FF5252"/>
          </a:solidFill>
          <a:ln/>
        </p:spPr>
      </p:sp>
      <p:sp>
        <p:nvSpPr>
          <p:cNvPr id="32" name="Text 30"/>
          <p:cNvSpPr/>
          <p:nvPr/>
        </p:nvSpPr>
        <p:spPr>
          <a:xfrm>
            <a:off x="4663440" y="1161288"/>
            <a:ext cx="4206240" cy="256032"/>
          </a:xfrm>
          <a:prstGeom prst="rect">
            <a:avLst/>
          </a:prstGeom>
          <a:noFill/>
          <a:ln/>
        </p:spPr>
        <p:txBody>
          <a:bodyPr wrap="square" lIns="0" tIns="0" rIns="0" bIns="0" rtlCol="0" anchor="ctr"/>
          <a:lstStyle/>
          <a:p>
            <a:pPr marL="0" indent="0" algn="l">
              <a:buNone/>
            </a:pPr>
            <a:r>
              <a:rPr lang="en-US" sz="900" b="1" kern="0" spc="200" dirty="0">
                <a:solidFill>
                  <a:srgbClr val="FFFFFF"/>
                </a:solidFill>
              </a:rPr>
              <a:t>ROOT CAUSE</a:t>
            </a:r>
            <a:endParaRPr lang="en-US" sz="900" dirty="0"/>
          </a:p>
        </p:txBody>
      </p:sp>
      <p:sp>
        <p:nvSpPr>
          <p:cNvPr id="33" name="Text 31"/>
          <p:cNvSpPr/>
          <p:nvPr/>
        </p:nvSpPr>
        <p:spPr>
          <a:xfrm>
            <a:off x="4709160" y="1508760"/>
            <a:ext cx="4160520" cy="960120"/>
          </a:xfrm>
          <a:prstGeom prst="rect">
            <a:avLst/>
          </a:prstGeom>
          <a:noFill/>
          <a:ln/>
        </p:spPr>
        <p:txBody>
          <a:bodyPr wrap="square" lIns="0" tIns="0" rIns="0" bIns="0" rtlCol="0" anchor="ctr"/>
          <a:lstStyle/>
          <a:p>
            <a:pPr marL="0" indent="0" algn="l">
              <a:lnSpc>
                <a:spcPct val="135000"/>
              </a:lnSpc>
              <a:buNone/>
            </a:pPr>
            <a:r>
              <a:rPr lang="en-US" sz="900" dirty="0">
                <a:solidFill>
                  <a:srgbClr val="F0F4F8"/>
                </a:solidFill>
              </a:rPr>
              <a:t>Oracle SSB flash disk failure triggered a cache rebuild. Database calls fell through to disk, causing response times to exceed the 200ms threshold. The AIL profile DB could not serve requests from cache, spiking intermittent timeouts across 92K transactions.</a:t>
            </a:r>
            <a:endParaRPr lang="en-US" sz="900" dirty="0"/>
          </a:p>
        </p:txBody>
      </p:sp>
      <p:sp>
        <p:nvSpPr>
          <p:cNvPr id="34" name="Shape 32"/>
          <p:cNvSpPr/>
          <p:nvPr/>
        </p:nvSpPr>
        <p:spPr>
          <a:xfrm>
            <a:off x="4617720" y="2670048"/>
            <a:ext cx="4297680" cy="1143000"/>
          </a:xfrm>
          <a:prstGeom prst="rect">
            <a:avLst/>
          </a:prstGeom>
          <a:solidFill>
            <a:srgbClr val="0F2138"/>
          </a:solidFill>
          <a:ln w="12700">
            <a:solidFill>
              <a:srgbClr val="1E3A5F"/>
            </a:solidFill>
            <a:prstDash val="solid"/>
          </a:ln>
        </p:spPr>
      </p:sp>
      <p:sp>
        <p:nvSpPr>
          <p:cNvPr id="35" name="Shape 33"/>
          <p:cNvSpPr/>
          <p:nvPr/>
        </p:nvSpPr>
        <p:spPr>
          <a:xfrm>
            <a:off x="4617720" y="2670048"/>
            <a:ext cx="4297680" cy="292608"/>
          </a:xfrm>
          <a:prstGeom prst="rect">
            <a:avLst/>
          </a:prstGeom>
          <a:solidFill>
            <a:srgbClr val="FFB830"/>
          </a:solidFill>
          <a:ln/>
        </p:spPr>
      </p:sp>
      <p:sp>
        <p:nvSpPr>
          <p:cNvPr id="36" name="Text 34"/>
          <p:cNvSpPr/>
          <p:nvPr/>
        </p:nvSpPr>
        <p:spPr>
          <a:xfrm>
            <a:off x="4663440" y="2688336"/>
            <a:ext cx="4206240" cy="256032"/>
          </a:xfrm>
          <a:prstGeom prst="rect">
            <a:avLst/>
          </a:prstGeom>
          <a:noFill/>
          <a:ln/>
        </p:spPr>
        <p:txBody>
          <a:bodyPr wrap="square" lIns="0" tIns="0" rIns="0" bIns="0" rtlCol="0" anchor="ctr"/>
          <a:lstStyle/>
          <a:p>
            <a:pPr marL="0" indent="0" algn="l">
              <a:buNone/>
            </a:pPr>
            <a:r>
              <a:rPr lang="en-US" sz="900" b="1" kern="0" spc="200" dirty="0">
                <a:solidFill>
                  <a:srgbClr val="0D1B2A"/>
                </a:solidFill>
              </a:rPr>
              <a:t>CUSTOMER IMPACT</a:t>
            </a:r>
            <a:endParaRPr lang="en-US" sz="900" dirty="0"/>
          </a:p>
        </p:txBody>
      </p:sp>
      <p:sp>
        <p:nvSpPr>
          <p:cNvPr id="37" name="Text 35"/>
          <p:cNvSpPr/>
          <p:nvPr/>
        </p:nvSpPr>
        <p:spPr>
          <a:xfrm>
            <a:off x="4709160" y="3017520"/>
            <a:ext cx="4114800" cy="749808"/>
          </a:xfrm>
          <a:prstGeom prst="rect">
            <a:avLst/>
          </a:prstGeom>
          <a:noFill/>
          <a:ln/>
        </p:spPr>
        <p:txBody>
          <a:bodyPr wrap="square" lIns="0" tIns="0" rIns="0" bIns="0" rtlCol="0" anchor="ctr"/>
          <a:lstStyle/>
          <a:p>
            <a:pPr marL="342900" indent="-342900" algn="l">
              <a:lnSpc>
                <a:spcPct val="120000"/>
              </a:lnSpc>
              <a:spcAft>
                <a:spcPts val="100"/>
              </a:spcAft>
              <a:buSzPct val="100000"/>
              <a:buChar char="•"/>
            </a:pPr>
            <a:r>
              <a:rPr lang="en-US" sz="880" dirty="0">
                <a:solidFill>
                  <a:srgbClr val="F0F4F8"/>
                </a:solidFill>
              </a:rPr>
              <a:t>92K intermittent DB timeouts in SSB (1.82% failure rate)</a:t>
            </a:r>
            <a:endParaRPr lang="en-US" sz="880" dirty="0"/>
          </a:p>
          <a:p>
            <a:pPr marL="342900" indent="-342900" algn="l">
              <a:lnSpc>
                <a:spcPct val="120000"/>
              </a:lnSpc>
              <a:spcAft>
                <a:spcPts val="100"/>
              </a:spcAft>
              <a:buSzPct val="100000"/>
              <a:buChar char="•"/>
            </a:pPr>
            <a:r>
              <a:rPr lang="en-US" sz="880" dirty="0">
                <a:solidFill>
                  <a:srgbClr val="F0F4F8"/>
                </a:solidFill>
              </a:rPr>
              <a:t>SAS Fraud Scoring decisions made without customer profile analysis</a:t>
            </a:r>
            <a:endParaRPr lang="en-US" sz="880" dirty="0"/>
          </a:p>
          <a:p>
            <a:pPr marL="342900" indent="-342900" algn="l">
              <a:lnSpc>
                <a:spcPct val="120000"/>
              </a:lnSpc>
              <a:spcAft>
                <a:spcPts val="100"/>
              </a:spcAft>
              <a:buSzPct val="100000"/>
              <a:buChar char="•"/>
            </a:pPr>
            <a:r>
              <a:rPr lang="en-US" sz="880" dirty="0">
                <a:solidFill>
                  <a:srgbClr val="F0F4F8"/>
                </a:solidFill>
              </a:rPr>
              <a:t>Elevated downstream fraud risk during window</a:t>
            </a:r>
            <a:endParaRPr lang="en-US" sz="880" dirty="0"/>
          </a:p>
          <a:p>
            <a:pPr marL="342900" indent="-342900" algn="l">
              <a:lnSpc>
                <a:spcPct val="120000"/>
              </a:lnSpc>
              <a:spcAft>
                <a:spcPts val="100"/>
              </a:spcAft>
              <a:buSzPct val="100000"/>
              <a:buChar char="•"/>
            </a:pPr>
            <a:r>
              <a:rPr lang="en-US" sz="880" dirty="0">
                <a:solidFill>
                  <a:srgbClr val="F0F4F8"/>
                </a:solidFill>
              </a:rPr>
              <a:t>No transactional impact — Auth made stand-in decisions</a:t>
            </a:r>
            <a:endParaRPr lang="en-US" sz="880" dirty="0"/>
          </a:p>
        </p:txBody>
      </p:sp>
      <p:sp>
        <p:nvSpPr>
          <p:cNvPr id="38" name="Shape 36"/>
          <p:cNvSpPr/>
          <p:nvPr/>
        </p:nvSpPr>
        <p:spPr>
          <a:xfrm>
            <a:off x="4617720" y="3913632"/>
            <a:ext cx="4297680" cy="1069848"/>
          </a:xfrm>
          <a:prstGeom prst="rect">
            <a:avLst/>
          </a:prstGeom>
          <a:solidFill>
            <a:srgbClr val="0A1E10"/>
          </a:solidFill>
          <a:ln w="12700">
            <a:solidFill>
              <a:srgbClr val="00E5A0"/>
            </a:solidFill>
            <a:prstDash val="solid"/>
          </a:ln>
        </p:spPr>
      </p:sp>
      <p:sp>
        <p:nvSpPr>
          <p:cNvPr id="39" name="Shape 37"/>
          <p:cNvSpPr/>
          <p:nvPr/>
        </p:nvSpPr>
        <p:spPr>
          <a:xfrm>
            <a:off x="4617720" y="3913632"/>
            <a:ext cx="4297680" cy="292608"/>
          </a:xfrm>
          <a:prstGeom prst="rect">
            <a:avLst/>
          </a:prstGeom>
          <a:solidFill>
            <a:srgbClr val="00E5A0"/>
          </a:solidFill>
          <a:ln/>
        </p:spPr>
      </p:sp>
      <p:sp>
        <p:nvSpPr>
          <p:cNvPr id="40" name="Text 38"/>
          <p:cNvSpPr/>
          <p:nvPr/>
        </p:nvSpPr>
        <p:spPr>
          <a:xfrm>
            <a:off x="4663440" y="3931920"/>
            <a:ext cx="4206240" cy="256032"/>
          </a:xfrm>
          <a:prstGeom prst="rect">
            <a:avLst/>
          </a:prstGeom>
          <a:noFill/>
          <a:ln/>
        </p:spPr>
        <p:txBody>
          <a:bodyPr wrap="square" lIns="0" tIns="0" rIns="0" bIns="0" rtlCol="0" anchor="ctr"/>
          <a:lstStyle/>
          <a:p>
            <a:pPr marL="0" indent="0" algn="l">
              <a:buNone/>
            </a:pPr>
            <a:r>
              <a:rPr lang="en-US" sz="900" b="1" kern="0" spc="150" dirty="0">
                <a:solidFill>
                  <a:srgbClr val="0D1B2A"/>
                </a:solidFill>
              </a:rPr>
              <a:t>PREVENTION — MY DELIVERABLES</a:t>
            </a:r>
            <a:endParaRPr lang="en-US" sz="900" dirty="0"/>
          </a:p>
        </p:txBody>
      </p:sp>
      <p:sp>
        <p:nvSpPr>
          <p:cNvPr id="41" name="Text 39"/>
          <p:cNvSpPr/>
          <p:nvPr/>
        </p:nvSpPr>
        <p:spPr>
          <a:xfrm>
            <a:off x="4709160" y="4251960"/>
            <a:ext cx="4114800" cy="685800"/>
          </a:xfrm>
          <a:prstGeom prst="rect">
            <a:avLst/>
          </a:prstGeom>
          <a:noFill/>
          <a:ln/>
        </p:spPr>
        <p:txBody>
          <a:bodyPr wrap="square" lIns="0" tIns="0" rIns="0" bIns="0" rtlCol="0" anchor="ctr"/>
          <a:lstStyle/>
          <a:p>
            <a:pPr marL="342900" indent="-342900" algn="l">
              <a:lnSpc>
                <a:spcPct val="120000"/>
              </a:lnSpc>
              <a:spcAft>
                <a:spcPts val="100"/>
              </a:spcAft>
              <a:buSzPct val="100000"/>
              <a:buChar char="•"/>
            </a:pPr>
            <a:r>
              <a:rPr lang="en-US" sz="850" dirty="0">
                <a:solidFill>
                  <a:srgbClr val="00E5A0"/>
                </a:solidFill>
              </a:rPr>
              <a:t>AIL-CI Datadog dashboard — GenMs, SASFM, SLA breach widgets</a:t>
            </a:r>
            <a:endParaRPr lang="en-US" sz="850" dirty="0"/>
          </a:p>
          <a:p>
            <a:pPr marL="342900" indent="-342900" algn="l">
              <a:lnSpc>
                <a:spcPct val="120000"/>
              </a:lnSpc>
              <a:spcAft>
                <a:spcPts val="100"/>
              </a:spcAft>
              <a:buSzPct val="100000"/>
              <a:buChar char="•"/>
            </a:pPr>
            <a:r>
              <a:rPr lang="en-US" sz="850" dirty="0">
                <a:solidFill>
                  <a:srgbClr val="00E5A0"/>
                </a:solidFill>
              </a:rPr>
              <a:t>3 new APM monitors: DB Timeout thresholds (15K / 10K BDC / 20K daily / 10K SSB daily)</a:t>
            </a:r>
            <a:endParaRPr lang="en-US" sz="850" dirty="0"/>
          </a:p>
          <a:p>
            <a:pPr marL="342900" indent="-342900" algn="l">
              <a:lnSpc>
                <a:spcPct val="120000"/>
              </a:lnSpc>
              <a:spcAft>
                <a:spcPts val="100"/>
              </a:spcAft>
              <a:buSzPct val="100000"/>
              <a:buChar char="•"/>
            </a:pPr>
            <a:r>
              <a:rPr lang="en-US" sz="850" dirty="0">
                <a:solidFill>
                  <a:srgbClr val="00E5A0"/>
                </a:solidFill>
              </a:rPr>
              <a:t>Monitoring directly enabled MTTD of 40min, RCA attribution, and PIR completion</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498</Words>
  <Application>Microsoft Office PowerPoint</Application>
  <PresentationFormat>On-screen Show (16:9)</PresentationFormat>
  <Paragraphs>80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Courier New</vt:lpstr>
      <vt:lpstr>Office Theme</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AIL Monitoring — SRE Impact</dc:title>
  <dc:subject>PptxGenJS Presentation</dc:subject>
  <dc:creator>PptxGenJS</dc:creator>
  <cp:lastModifiedBy>Muhammad Sami</cp:lastModifiedBy>
  <cp:revision>6</cp:revision>
  <dcterms:created xsi:type="dcterms:W3CDTF">2026-05-12T22:01:14Z</dcterms:created>
  <dcterms:modified xsi:type="dcterms:W3CDTF">2026-05-12T22:24:27Z</dcterms:modified>
</cp:coreProperties>
</file>