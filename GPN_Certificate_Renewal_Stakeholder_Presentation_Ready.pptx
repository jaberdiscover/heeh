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830579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This started as a visibility problem and is now becoming a controlled renewal-entry-point discussion. We have a centralized dashboard, but the bigger opportunity is to let an SRE start renewal from one place without replacing existing tower automation.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non-technical. Say: Soumya identified the need for centralized visibility. Once we started outreach, it became clear that each tower is different. That is why we are separating near-term renewal follow-up from the longer-term dashboard automation path.</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should make the effort visible. Say: Abhilash and I put the tower information in one place because the current state is not uniform. That baseline is needed before we decide which tower is best for the first dashboard-triggered renewal POC.</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read the table line by line. Say: Digital and DCI NetAuth are priority candidates because they already have automation. Settlements and other areas are important for visibility and manual renewal tracking, but may not be the best first technical POC.</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main story slide. Use the line: The dashboard becomes the front door, not the automation engine. It should hand off to existing tower automation and display status back to users.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Mention that Soumya asked to prioritize two towers. The goal is not to boil the ocean; it is to prove a reusable model with automation-ready towers and avoid one-off designs.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here. Say: We believe the concept is technically possible, but the right place to build it is the important decision. Dave’s concern about ServiceNow convergence is valid, and that is why we are aligning with Mike, Andrew and Alan before proceeding too far.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live demo, do not oversell. Make it clear: the Renew button is not implemented yet. The current dashboard provides visibility. The POC will validate whether we can initiate renewal and bring status back safely.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this: Today we centralize visibility. The next step is centralizing the renewal experience, while keeping the tower-owned automation and production governance intact.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6B2F8A"/>
          </a:solidFill>
          <a:ln w="12700">
            <a:solidFill>
              <a:srgbClr val="6B2F8A"/>
            </a:solidFill>
            <a:prstDash val="solid"/>
          </a:ln>
        </p:spPr>
      </p:sp>
      <p:sp>
        <p:nvSpPr>
          <p:cNvPr id="3" name="Text 1"/>
          <p:cNvSpPr/>
          <p:nvPr/>
        </p:nvSpPr>
        <p:spPr>
          <a:xfrm>
            <a:off x="594360" y="1115568"/>
            <a:ext cx="6492240" cy="1234440"/>
          </a:xfrm>
          <a:prstGeom prst="rect">
            <a:avLst/>
          </a:prstGeom>
          <a:noFill/>
          <a:ln/>
        </p:spPr>
        <p:txBody>
          <a:bodyPr wrap="square" lIns="0" tIns="0" rIns="0" bIns="0" rtlCol="0" anchor="ctr">
            <a:normAutofit fontScale="92500"/>
          </a:bodyPr>
          <a:lstStyle/>
          <a:p>
            <a:pPr marL="0" indent="0">
              <a:buNone/>
            </a:pPr>
            <a:r>
              <a:rPr lang="en-US" sz="4000" b="1" dirty="0">
                <a:solidFill>
                  <a:srgbClr val="162033"/>
                </a:solidFill>
                <a:latin typeface="Aptos Display" pitchFamily="34" charset="0"/>
                <a:ea typeface="Aptos Display" pitchFamily="34" charset="-122"/>
                <a:cs typeface="Aptos Display" pitchFamily="34" charset="-120"/>
              </a:rPr>
              <a:t>GPN Centralized</a:t>
            </a:r>
            <a:endParaRPr lang="en-US" sz="4000" dirty="0"/>
          </a:p>
          <a:p>
            <a:pPr marL="0" indent="0">
              <a:buNone/>
            </a:pPr>
            <a:r>
              <a:rPr lang="en-US" sz="4000" b="1" dirty="0">
                <a:solidFill>
                  <a:srgbClr val="162033"/>
                </a:solidFill>
                <a:latin typeface="Aptos Display" pitchFamily="34" charset="0"/>
                <a:ea typeface="Aptos Display" pitchFamily="34" charset="-122"/>
                <a:cs typeface="Aptos Display" pitchFamily="34" charset="-120"/>
              </a:rPr>
              <a:t>Certificate Renewal Dashboard</a:t>
            </a:r>
            <a:endParaRPr lang="en-US" sz="4000" dirty="0"/>
          </a:p>
        </p:txBody>
      </p:sp>
      <p:sp>
        <p:nvSpPr>
          <p:cNvPr id="5" name="Text 3"/>
          <p:cNvSpPr/>
          <p:nvPr/>
        </p:nvSpPr>
        <p:spPr>
          <a:xfrm>
            <a:off x="621792" y="3154680"/>
            <a:ext cx="1143000" cy="292608"/>
          </a:xfrm>
          <a:prstGeom prst="rect">
            <a:avLst/>
          </a:prstGeom>
          <a:solidFill>
            <a:srgbClr val="F2F4F7"/>
          </a:solidFill>
          <a:ln w="11430">
            <a:solidFill>
              <a:srgbClr val="E4E7EC"/>
            </a:solidFill>
          </a:ln>
        </p:spPr>
        <p:txBody>
          <a:bodyPr wrap="square" lIns="254" tIns="254" rIns="254" bIns="254" rtlCol="0" anchor="ctr"/>
          <a:lstStyle/>
          <a:p>
            <a:pPr marL="0" indent="0" algn="ctr">
              <a:buNone/>
            </a:pPr>
            <a:r>
              <a:rPr lang="en-US" sz="1150" b="1" dirty="0">
                <a:solidFill>
                  <a:srgbClr val="1565C0"/>
                </a:solidFill>
              </a:rPr>
              <a:t>Visibility</a:t>
            </a:r>
            <a:endParaRPr lang="en-US" sz="1150" dirty="0"/>
          </a:p>
        </p:txBody>
      </p:sp>
      <p:sp>
        <p:nvSpPr>
          <p:cNvPr id="6" name="Text 4"/>
          <p:cNvSpPr/>
          <p:nvPr/>
        </p:nvSpPr>
        <p:spPr>
          <a:xfrm>
            <a:off x="1920240" y="3154680"/>
            <a:ext cx="1188720" cy="292608"/>
          </a:xfrm>
          <a:prstGeom prst="rect">
            <a:avLst/>
          </a:prstGeom>
          <a:solidFill>
            <a:srgbClr val="F2F4F7"/>
          </a:solidFill>
          <a:ln w="11430">
            <a:solidFill>
              <a:srgbClr val="E4E7EC"/>
            </a:solidFill>
          </a:ln>
        </p:spPr>
        <p:txBody>
          <a:bodyPr wrap="square" lIns="254" tIns="254" rIns="254" bIns="254" rtlCol="0" anchor="ctr"/>
          <a:lstStyle/>
          <a:p>
            <a:pPr marL="0" indent="0" algn="ctr">
              <a:buNone/>
            </a:pPr>
            <a:r>
              <a:rPr lang="en-US" sz="1150" b="1" dirty="0">
                <a:solidFill>
                  <a:srgbClr val="008C8C"/>
                </a:solidFill>
              </a:rPr>
              <a:t>Ownership</a:t>
            </a:r>
            <a:endParaRPr lang="en-US" sz="1150" dirty="0"/>
          </a:p>
        </p:txBody>
      </p:sp>
      <p:sp>
        <p:nvSpPr>
          <p:cNvPr id="7" name="Text 5"/>
          <p:cNvSpPr/>
          <p:nvPr/>
        </p:nvSpPr>
        <p:spPr>
          <a:xfrm>
            <a:off x="3246120" y="3154680"/>
            <a:ext cx="1783080" cy="292608"/>
          </a:xfrm>
          <a:prstGeom prst="rect">
            <a:avLst/>
          </a:prstGeom>
          <a:solidFill>
            <a:srgbClr val="F2F4F7"/>
          </a:solidFill>
          <a:ln w="11430">
            <a:solidFill>
              <a:srgbClr val="E4E7EC"/>
            </a:solidFill>
          </a:ln>
        </p:spPr>
        <p:txBody>
          <a:bodyPr wrap="square" lIns="254" tIns="254" rIns="254" bIns="254" rtlCol="0" anchor="ctr"/>
          <a:lstStyle/>
          <a:p>
            <a:pPr marL="0" indent="0" algn="ctr">
              <a:buNone/>
            </a:pPr>
            <a:r>
              <a:rPr lang="en-US" sz="1150" b="1" dirty="0">
                <a:solidFill>
                  <a:srgbClr val="6B2F8A"/>
                </a:solidFill>
              </a:rPr>
              <a:t>Renewal Control</a:t>
            </a:r>
            <a:endParaRPr lang="en-US" sz="1150" dirty="0"/>
          </a:p>
        </p:txBody>
      </p:sp>
      <p:sp>
        <p:nvSpPr>
          <p:cNvPr id="8" name="Shape 6"/>
          <p:cNvSpPr/>
          <p:nvPr/>
        </p:nvSpPr>
        <p:spPr>
          <a:xfrm>
            <a:off x="7635240" y="1207008"/>
            <a:ext cx="0" cy="2514600"/>
          </a:xfrm>
          <a:prstGeom prst="line">
            <a:avLst/>
          </a:prstGeom>
          <a:noFill/>
          <a:ln w="19050">
            <a:solidFill>
              <a:srgbClr val="D8DEE9"/>
            </a:solidFill>
            <a:prstDash val="solid"/>
          </a:ln>
        </p:spPr>
      </p:sp>
      <p:sp>
        <p:nvSpPr>
          <p:cNvPr id="9" name="Text 7"/>
          <p:cNvSpPr/>
          <p:nvPr/>
        </p:nvSpPr>
        <p:spPr>
          <a:xfrm>
            <a:off x="7909560" y="1261872"/>
            <a:ext cx="1280160" cy="228600"/>
          </a:xfrm>
          <a:prstGeom prst="rect">
            <a:avLst/>
          </a:prstGeom>
          <a:noFill/>
          <a:ln/>
        </p:spPr>
        <p:txBody>
          <a:bodyPr wrap="square" lIns="0" tIns="0" rIns="0" bIns="0" rtlCol="0" anchor="ctr"/>
          <a:lstStyle/>
          <a:p>
            <a:pPr marL="0" indent="0">
              <a:buNone/>
            </a:pPr>
            <a:r>
              <a:rPr lang="en-US" sz="1400" b="1" dirty="0">
                <a:solidFill>
                  <a:srgbClr val="6B2F8A"/>
                </a:solidFill>
              </a:rPr>
              <a:t>The ask</a:t>
            </a:r>
            <a:endParaRPr lang="en-US" sz="1400" dirty="0"/>
          </a:p>
        </p:txBody>
      </p:sp>
      <p:sp>
        <p:nvSpPr>
          <p:cNvPr id="10" name="Text 8"/>
          <p:cNvSpPr/>
          <p:nvPr/>
        </p:nvSpPr>
        <p:spPr>
          <a:xfrm>
            <a:off x="7909560" y="1664208"/>
            <a:ext cx="3246120" cy="1188720"/>
          </a:xfrm>
          <a:prstGeom prst="rect">
            <a:avLst/>
          </a:prstGeom>
          <a:noFill/>
          <a:ln/>
        </p:spPr>
        <p:txBody>
          <a:bodyPr wrap="square" lIns="0" tIns="0" rIns="0" bIns="0" rtlCol="0" anchor="ctr">
            <a:normAutofit fontScale="92500" lnSpcReduction="20000"/>
          </a:bodyPr>
          <a:lstStyle/>
          <a:p>
            <a:pPr marL="0" indent="0">
              <a:buNone/>
            </a:pPr>
            <a:r>
              <a:rPr lang="en-US" sz="1900" b="1" dirty="0">
                <a:solidFill>
                  <a:srgbClr val="162033"/>
                </a:solidFill>
              </a:rPr>
              <a:t>Move beyond expiry tracking and evaluate a controlled way to initiate renewals from the dashboard using existing tower automation.</a:t>
            </a:r>
            <a:endParaRPr lang="en-US" sz="1900" dirty="0"/>
          </a:p>
        </p:txBody>
      </p:sp>
      <p:sp>
        <p:nvSpPr>
          <p:cNvPr id="13" name="Text 10"/>
          <p:cNvSpPr/>
          <p:nvPr/>
        </p:nvSpPr>
        <p:spPr>
          <a:xfrm>
            <a:off x="502920" y="6537960"/>
            <a:ext cx="5486400" cy="155448"/>
          </a:xfrm>
          <a:prstGeom prst="rect">
            <a:avLst/>
          </a:prstGeom>
          <a:noFill/>
          <a:ln/>
        </p:spPr>
        <p:txBody>
          <a:bodyPr wrap="square" lIns="0" tIns="0" rIns="0" bIns="0" rtlCol="0" anchor="ctr"/>
          <a:lstStyle/>
          <a:p>
            <a:pPr marL="0" indent="0">
              <a:buNone/>
            </a:pPr>
            <a:r>
              <a:rPr lang="en-US" sz="800" dirty="0">
                <a:solidFill>
                  <a:srgbClr val="8B95A1"/>
                </a:solidFill>
              </a:rPr>
              <a:t>GPN SRE • Centralized Certificate Renewal Dashboard</a:t>
            </a:r>
            <a:endParaRPr lang="en-US" sz="800" dirty="0"/>
          </a:p>
        </p:txBody>
      </p:sp>
      <p:sp>
        <p:nvSpPr>
          <p:cNvPr id="14" name="Text 11"/>
          <p:cNvSpPr/>
          <p:nvPr/>
        </p:nvSpPr>
        <p:spPr>
          <a:xfrm>
            <a:off x="11475720" y="6519672"/>
            <a:ext cx="228600" cy="155448"/>
          </a:xfrm>
          <a:prstGeom prst="rect">
            <a:avLst/>
          </a:prstGeom>
          <a:noFill/>
          <a:ln/>
        </p:spPr>
        <p:txBody>
          <a:bodyPr wrap="square" lIns="0" tIns="0" rIns="0" bIns="0" rtlCol="0" anchor="ctr"/>
          <a:lstStyle/>
          <a:p>
            <a:pPr marL="0" indent="0" algn="r">
              <a:buNone/>
            </a:pPr>
            <a:r>
              <a:rPr lang="en-US" sz="800" dirty="0">
                <a:solidFill>
                  <a:srgbClr val="8B95A1"/>
                </a:solidFill>
              </a:rPr>
              <a:t>1</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6B2F8A"/>
          </a:solidFill>
          <a:ln w="12700">
            <a:solidFill>
              <a:srgbClr val="6B2F8A"/>
            </a:solidFill>
            <a:prstDash val="solid"/>
          </a:ln>
        </p:spPr>
      </p:sp>
      <p:sp>
        <p:nvSpPr>
          <p:cNvPr id="3" name="Text 1"/>
          <p:cNvSpPr/>
          <p:nvPr/>
        </p:nvSpPr>
        <p:spPr>
          <a:xfrm>
            <a:off x="502920" y="320040"/>
            <a:ext cx="9601200" cy="438912"/>
          </a:xfrm>
          <a:prstGeom prst="rect">
            <a:avLst/>
          </a:prstGeom>
          <a:noFill/>
          <a:ln/>
        </p:spPr>
        <p:txBody>
          <a:bodyPr wrap="square" lIns="127" tIns="127" rIns="127" bIns="127" rtlCol="0" anchor="ctr">
            <a:normAutofit lnSpcReduction="10000"/>
          </a:bodyPr>
          <a:lstStyle/>
          <a:p>
            <a:pPr marL="0" indent="0">
              <a:buNone/>
            </a:pPr>
            <a:r>
              <a:rPr lang="en-US" sz="3000" b="1" dirty="0">
                <a:solidFill>
                  <a:srgbClr val="162033"/>
                </a:solidFill>
                <a:latin typeface="Aptos Display" pitchFamily="34" charset="0"/>
                <a:ea typeface="Aptos Display" pitchFamily="34" charset="-122"/>
                <a:cs typeface="Aptos Display" pitchFamily="34" charset="-120"/>
              </a:rPr>
              <a:t>Background: why this matters</a:t>
            </a:r>
            <a:endParaRPr lang="en-US" sz="3000" dirty="0"/>
          </a:p>
        </p:txBody>
      </p:sp>
      <p:sp>
        <p:nvSpPr>
          <p:cNvPr id="4" name="Text 2"/>
          <p:cNvSpPr/>
          <p:nvPr/>
        </p:nvSpPr>
        <p:spPr>
          <a:xfrm>
            <a:off x="521208" y="804672"/>
            <a:ext cx="10515600" cy="256032"/>
          </a:xfrm>
          <a:prstGeom prst="rect">
            <a:avLst/>
          </a:prstGeom>
          <a:noFill/>
          <a:ln/>
        </p:spPr>
        <p:txBody>
          <a:bodyPr wrap="square" lIns="127" tIns="127" rIns="127" bIns="127" rtlCol="0" anchor="ctr">
            <a:normAutofit/>
          </a:bodyPr>
          <a:lstStyle/>
          <a:p>
            <a:pPr marL="0" indent="0">
              <a:buNone/>
            </a:pPr>
            <a:r>
              <a:rPr lang="en-US" sz="1200" dirty="0">
                <a:solidFill>
                  <a:srgbClr val="667085"/>
                </a:solidFill>
              </a:rPr>
              <a:t>Certificate renewal is still tower-specific, which creates both visibility and execution gaps.</a:t>
            </a:r>
            <a:endParaRPr lang="en-US" sz="1200" dirty="0"/>
          </a:p>
        </p:txBody>
      </p:sp>
      <p:sp>
        <p:nvSpPr>
          <p:cNvPr id="5" name="Shape 3"/>
          <p:cNvSpPr/>
          <p:nvPr/>
        </p:nvSpPr>
        <p:spPr>
          <a:xfrm>
            <a:off x="502920" y="1097280"/>
            <a:ext cx="11201400" cy="0"/>
          </a:xfrm>
          <a:prstGeom prst="line">
            <a:avLst/>
          </a:prstGeom>
          <a:noFill/>
          <a:ln w="12700">
            <a:solidFill>
              <a:srgbClr val="D8DEE9"/>
            </a:solidFill>
            <a:prstDash val="solid"/>
          </a:ln>
        </p:spPr>
      </p:sp>
      <p:sp>
        <p:nvSpPr>
          <p:cNvPr id="6" name="Text 4"/>
          <p:cNvSpPr/>
          <p:nvPr/>
        </p:nvSpPr>
        <p:spPr>
          <a:xfrm>
            <a:off x="685800" y="1508760"/>
            <a:ext cx="3337560" cy="1417320"/>
          </a:xfrm>
          <a:prstGeom prst="rect">
            <a:avLst/>
          </a:prstGeom>
          <a:solidFill>
            <a:srgbClr val="F7F9FC"/>
          </a:solidFill>
          <a:ln w="12700">
            <a:solidFill>
              <a:srgbClr val="E6EAF0"/>
            </a:solidFill>
          </a:ln>
        </p:spPr>
        <p:txBody>
          <a:bodyPr wrap="square" lIns="1905" tIns="1905" rIns="1905" bIns="1905" rtlCol="0" anchor="t">
            <a:normAutofit/>
          </a:bodyPr>
          <a:lstStyle/>
          <a:p>
            <a:pPr marL="0" indent="0">
              <a:buNone/>
            </a:pPr>
            <a:r>
              <a:rPr lang="en-US" sz="1400" b="1" dirty="0">
                <a:solidFill>
                  <a:srgbClr val="6B2F8A"/>
                </a:solidFill>
              </a:rPr>
              <a:t>What Soumya identified
</a:t>
            </a:r>
            <a:r>
              <a:rPr lang="en-US" sz="1400" dirty="0">
                <a:solidFill>
                  <a:srgbClr val="162033"/>
                </a:solidFill>
              </a:rPr>
              <a:t>We needed one place to see GPN certificate ownership, expiry, and renewal status instead of chasing tower-by-tower updates.</a:t>
            </a:r>
            <a:endParaRPr lang="en-US" sz="1400" dirty="0"/>
          </a:p>
        </p:txBody>
      </p:sp>
      <p:sp>
        <p:nvSpPr>
          <p:cNvPr id="7" name="Text 5"/>
          <p:cNvSpPr/>
          <p:nvPr/>
        </p:nvSpPr>
        <p:spPr>
          <a:xfrm>
            <a:off x="685800" y="3154680"/>
            <a:ext cx="3337560" cy="1417320"/>
          </a:xfrm>
          <a:prstGeom prst="rect">
            <a:avLst/>
          </a:prstGeom>
          <a:solidFill>
            <a:srgbClr val="F7F9FC"/>
          </a:solidFill>
          <a:ln w="12700">
            <a:solidFill>
              <a:srgbClr val="E6EAF0"/>
            </a:solidFill>
          </a:ln>
        </p:spPr>
        <p:txBody>
          <a:bodyPr wrap="square" lIns="1905" tIns="1905" rIns="1905" bIns="1905" rtlCol="0" anchor="t">
            <a:normAutofit/>
          </a:bodyPr>
          <a:lstStyle/>
          <a:p>
            <a:pPr marL="0" indent="0">
              <a:buNone/>
            </a:pPr>
            <a:r>
              <a:rPr lang="en-US" sz="1400" b="1" dirty="0">
                <a:solidFill>
                  <a:srgbClr val="1565C0"/>
                </a:solidFill>
              </a:rPr>
              <a:t>What we found
</a:t>
            </a:r>
            <a:r>
              <a:rPr lang="en-US" sz="1400" dirty="0">
                <a:solidFill>
                  <a:srgbClr val="162033"/>
                </a:solidFill>
              </a:rPr>
              <a:t>Different towers use different platforms, renewal models, runbooks, approvals, and automation maturity.</a:t>
            </a:r>
            <a:endParaRPr lang="en-US" sz="1400" dirty="0"/>
          </a:p>
        </p:txBody>
      </p:sp>
      <p:sp>
        <p:nvSpPr>
          <p:cNvPr id="8" name="Text 6"/>
          <p:cNvSpPr/>
          <p:nvPr/>
        </p:nvSpPr>
        <p:spPr>
          <a:xfrm>
            <a:off x="685800" y="4800600"/>
            <a:ext cx="3337560" cy="1051560"/>
          </a:xfrm>
          <a:prstGeom prst="rect">
            <a:avLst/>
          </a:prstGeom>
          <a:solidFill>
            <a:srgbClr val="F7F9FC"/>
          </a:solidFill>
          <a:ln w="12700">
            <a:solidFill>
              <a:srgbClr val="E6EAF0"/>
            </a:solidFill>
          </a:ln>
        </p:spPr>
        <p:txBody>
          <a:bodyPr wrap="square" lIns="1905" tIns="1905" rIns="1905" bIns="1905" rtlCol="0" anchor="t">
            <a:normAutofit/>
          </a:bodyPr>
          <a:lstStyle/>
          <a:p>
            <a:pPr marL="0" indent="0">
              <a:buNone/>
            </a:pPr>
            <a:r>
              <a:rPr lang="en-US" sz="1400" b="1" dirty="0">
                <a:solidFill>
                  <a:srgbClr val="B76E00"/>
                </a:solidFill>
              </a:rPr>
              <a:t>Immediate risk
</a:t>
            </a:r>
            <a:r>
              <a:rPr lang="en-US" sz="1400" dirty="0">
                <a:solidFill>
                  <a:srgbClr val="162033"/>
                </a:solidFill>
              </a:rPr>
              <a:t>September production expirations still require direct follow-up to confirm that every renewal is planned.</a:t>
            </a:r>
            <a:endParaRPr lang="en-US" sz="1400" dirty="0"/>
          </a:p>
        </p:txBody>
      </p:sp>
      <p:sp>
        <p:nvSpPr>
          <p:cNvPr id="9" name="Text 7"/>
          <p:cNvSpPr/>
          <p:nvPr/>
        </p:nvSpPr>
        <p:spPr>
          <a:xfrm>
            <a:off x="4572000" y="1508760"/>
            <a:ext cx="4846320" cy="320040"/>
          </a:xfrm>
          <a:prstGeom prst="rect">
            <a:avLst/>
          </a:prstGeom>
          <a:noFill/>
          <a:ln/>
        </p:spPr>
        <p:txBody>
          <a:bodyPr wrap="square" lIns="0" tIns="0" rIns="0" bIns="0" rtlCol="0" anchor="ctr"/>
          <a:lstStyle/>
          <a:p>
            <a:pPr marL="0" indent="0">
              <a:buNone/>
            </a:pPr>
            <a:r>
              <a:rPr lang="en-US" sz="2000" b="1" dirty="0">
                <a:solidFill>
                  <a:srgbClr val="162033"/>
                </a:solidFill>
              </a:rPr>
              <a:t>So the work split into two tracks</a:t>
            </a:r>
            <a:endParaRPr lang="en-US" sz="2000" dirty="0"/>
          </a:p>
        </p:txBody>
      </p:sp>
      <p:sp>
        <p:nvSpPr>
          <p:cNvPr id="10" name="Text 8"/>
          <p:cNvSpPr/>
          <p:nvPr/>
        </p:nvSpPr>
        <p:spPr>
          <a:xfrm>
            <a:off x="4645152" y="2148840"/>
            <a:ext cx="438912" cy="438912"/>
          </a:xfrm>
          <a:prstGeom prst="rect">
            <a:avLst/>
          </a:prstGeom>
          <a:solidFill>
            <a:srgbClr val="1565C0"/>
          </a:solidFill>
          <a:ln>
            <a:solidFill>
              <a:srgbClr val="1565C0"/>
            </a:solidFill>
          </a:ln>
        </p:spPr>
        <p:txBody>
          <a:bodyPr wrap="square" lIns="0" tIns="0" rIns="0" bIns="0" rtlCol="0" anchor="ctr"/>
          <a:lstStyle/>
          <a:p>
            <a:pPr marL="0" indent="0" algn="ctr">
              <a:buNone/>
            </a:pPr>
            <a:r>
              <a:rPr lang="en-US" sz="1600" b="1" dirty="0">
                <a:solidFill>
                  <a:srgbClr val="FFFFFF"/>
                </a:solidFill>
              </a:rPr>
              <a:t>1</a:t>
            </a:r>
            <a:endParaRPr lang="en-US" sz="1600" dirty="0"/>
          </a:p>
        </p:txBody>
      </p:sp>
      <p:sp>
        <p:nvSpPr>
          <p:cNvPr id="11" name="Text 9"/>
          <p:cNvSpPr/>
          <p:nvPr/>
        </p:nvSpPr>
        <p:spPr>
          <a:xfrm>
            <a:off x="5257800" y="2103120"/>
            <a:ext cx="3657600" cy="274320"/>
          </a:xfrm>
          <a:prstGeom prst="rect">
            <a:avLst/>
          </a:prstGeom>
          <a:noFill/>
          <a:ln/>
        </p:spPr>
        <p:txBody>
          <a:bodyPr wrap="square" lIns="0" tIns="0" rIns="0" bIns="0" rtlCol="0" anchor="ctr"/>
          <a:lstStyle/>
          <a:p>
            <a:pPr marL="0" indent="0">
              <a:buNone/>
            </a:pPr>
            <a:r>
              <a:rPr lang="en-US" sz="1800" b="1" dirty="0">
                <a:solidFill>
                  <a:srgbClr val="162033"/>
                </a:solidFill>
              </a:rPr>
              <a:t>Operational tracking</a:t>
            </a:r>
            <a:endParaRPr lang="en-US" sz="1800" dirty="0"/>
          </a:p>
        </p:txBody>
      </p:sp>
      <p:sp>
        <p:nvSpPr>
          <p:cNvPr id="12" name="Text 10"/>
          <p:cNvSpPr/>
          <p:nvPr/>
        </p:nvSpPr>
        <p:spPr>
          <a:xfrm>
            <a:off x="5257800" y="2468880"/>
            <a:ext cx="5074920" cy="420624"/>
          </a:xfrm>
          <a:prstGeom prst="rect">
            <a:avLst/>
          </a:prstGeom>
          <a:noFill/>
          <a:ln/>
        </p:spPr>
        <p:txBody>
          <a:bodyPr wrap="square" lIns="0" tIns="0" rIns="0" bIns="0" rtlCol="0" anchor="ctr">
            <a:normAutofit lnSpcReduction="10000"/>
          </a:bodyPr>
          <a:lstStyle/>
          <a:p>
            <a:pPr marL="0" indent="0">
              <a:buNone/>
            </a:pPr>
            <a:r>
              <a:rPr lang="en-US" sz="1400" dirty="0">
                <a:solidFill>
                  <a:srgbClr val="667085"/>
                </a:solidFill>
              </a:rPr>
              <a:t>Validate production renewals, owners, and current plans for near-term expirations.</a:t>
            </a:r>
            <a:endParaRPr lang="en-US" sz="1400" dirty="0"/>
          </a:p>
        </p:txBody>
      </p:sp>
      <p:sp>
        <p:nvSpPr>
          <p:cNvPr id="13" name="Text 11"/>
          <p:cNvSpPr/>
          <p:nvPr/>
        </p:nvSpPr>
        <p:spPr>
          <a:xfrm>
            <a:off x="4645152" y="3383280"/>
            <a:ext cx="438912" cy="438912"/>
          </a:xfrm>
          <a:prstGeom prst="rect">
            <a:avLst/>
          </a:prstGeom>
          <a:solidFill>
            <a:srgbClr val="008C8C"/>
          </a:solidFill>
          <a:ln>
            <a:solidFill>
              <a:srgbClr val="008C8C"/>
            </a:solidFill>
          </a:ln>
        </p:spPr>
        <p:txBody>
          <a:bodyPr wrap="square" lIns="0" tIns="0" rIns="0" bIns="0" rtlCol="0" anchor="ctr"/>
          <a:lstStyle/>
          <a:p>
            <a:pPr marL="0" indent="0" algn="ctr">
              <a:buNone/>
            </a:pPr>
            <a:r>
              <a:rPr lang="en-US" sz="1600" b="1" dirty="0">
                <a:solidFill>
                  <a:srgbClr val="FFFFFF"/>
                </a:solidFill>
              </a:rPr>
              <a:t>2</a:t>
            </a:r>
            <a:endParaRPr lang="en-US" sz="1600" dirty="0"/>
          </a:p>
        </p:txBody>
      </p:sp>
      <p:sp>
        <p:nvSpPr>
          <p:cNvPr id="14" name="Text 12"/>
          <p:cNvSpPr/>
          <p:nvPr/>
        </p:nvSpPr>
        <p:spPr>
          <a:xfrm>
            <a:off x="5257800" y="3337560"/>
            <a:ext cx="3657600" cy="274320"/>
          </a:xfrm>
          <a:prstGeom prst="rect">
            <a:avLst/>
          </a:prstGeom>
          <a:noFill/>
          <a:ln/>
        </p:spPr>
        <p:txBody>
          <a:bodyPr wrap="square" lIns="0" tIns="0" rIns="0" bIns="0" rtlCol="0" anchor="ctr"/>
          <a:lstStyle/>
          <a:p>
            <a:pPr marL="0" indent="0">
              <a:buNone/>
            </a:pPr>
            <a:r>
              <a:rPr lang="en-US" sz="1800" b="1" dirty="0">
                <a:solidFill>
                  <a:srgbClr val="162033"/>
                </a:solidFill>
              </a:rPr>
              <a:t>Future-state enablement</a:t>
            </a:r>
            <a:endParaRPr lang="en-US" sz="1800" dirty="0"/>
          </a:p>
        </p:txBody>
      </p:sp>
      <p:sp>
        <p:nvSpPr>
          <p:cNvPr id="15" name="Text 13"/>
          <p:cNvSpPr/>
          <p:nvPr/>
        </p:nvSpPr>
        <p:spPr>
          <a:xfrm>
            <a:off x="5257800" y="3703320"/>
            <a:ext cx="5257800" cy="420624"/>
          </a:xfrm>
          <a:prstGeom prst="rect">
            <a:avLst/>
          </a:prstGeom>
          <a:noFill/>
          <a:ln/>
        </p:spPr>
        <p:txBody>
          <a:bodyPr wrap="square" lIns="0" tIns="0" rIns="0" bIns="0" rtlCol="0" anchor="ctr">
            <a:normAutofit lnSpcReduction="10000"/>
          </a:bodyPr>
          <a:lstStyle/>
          <a:p>
            <a:pPr marL="0" indent="0">
              <a:buNone/>
            </a:pPr>
            <a:r>
              <a:rPr lang="en-US" sz="1400" dirty="0">
                <a:solidFill>
                  <a:srgbClr val="667085"/>
                </a:solidFill>
              </a:rPr>
              <a:t>Determine if the dashboard can become a safe entry point to trigger existing renewal automation.</a:t>
            </a:r>
            <a:endParaRPr lang="en-US" sz="1400" dirty="0"/>
          </a:p>
        </p:txBody>
      </p:sp>
      <p:sp>
        <p:nvSpPr>
          <p:cNvPr id="16" name="Text 14"/>
          <p:cNvSpPr/>
          <p:nvPr/>
        </p:nvSpPr>
        <p:spPr>
          <a:xfrm>
            <a:off x="4645152" y="4892040"/>
            <a:ext cx="1828800" cy="201168"/>
          </a:xfrm>
          <a:prstGeom prst="rect">
            <a:avLst/>
          </a:prstGeom>
          <a:noFill/>
          <a:ln/>
        </p:spPr>
        <p:txBody>
          <a:bodyPr wrap="square" lIns="0" tIns="0" rIns="0" bIns="0" rtlCol="0" anchor="ctr"/>
          <a:lstStyle/>
          <a:p>
            <a:pPr marL="0" indent="0">
              <a:buNone/>
            </a:pPr>
            <a:r>
              <a:rPr lang="en-US" sz="1250" b="1" dirty="0">
                <a:solidFill>
                  <a:srgbClr val="667085"/>
                </a:solidFill>
              </a:rPr>
              <a:t>Working principle</a:t>
            </a:r>
            <a:endParaRPr lang="en-US" sz="1250" dirty="0"/>
          </a:p>
        </p:txBody>
      </p:sp>
      <p:sp>
        <p:nvSpPr>
          <p:cNvPr id="17" name="Text 15"/>
          <p:cNvSpPr/>
          <p:nvPr/>
        </p:nvSpPr>
        <p:spPr>
          <a:xfrm>
            <a:off x="4645152" y="5212080"/>
            <a:ext cx="6126480" cy="530352"/>
          </a:xfrm>
          <a:prstGeom prst="rect">
            <a:avLst/>
          </a:prstGeom>
          <a:noFill/>
          <a:ln/>
        </p:spPr>
        <p:txBody>
          <a:bodyPr wrap="square" lIns="0" tIns="0" rIns="0" bIns="0" rtlCol="0" anchor="ctr">
            <a:normAutofit fontScale="92500" lnSpcReduction="20000"/>
          </a:bodyPr>
          <a:lstStyle/>
          <a:p>
            <a:pPr marL="0" indent="0">
              <a:buNone/>
            </a:pPr>
            <a:r>
              <a:rPr lang="en-US" sz="2300" b="1" dirty="0">
                <a:solidFill>
                  <a:srgbClr val="162033"/>
                </a:solidFill>
              </a:rPr>
              <a:t>Reuse existing tower automation - don’t rebuild it inside the dashboard.</a:t>
            </a:r>
            <a:endParaRPr lang="en-US" sz="2300" dirty="0"/>
          </a:p>
        </p:txBody>
      </p:sp>
      <p:sp>
        <p:nvSpPr>
          <p:cNvPr id="20" name="Text 17"/>
          <p:cNvSpPr/>
          <p:nvPr/>
        </p:nvSpPr>
        <p:spPr>
          <a:xfrm>
            <a:off x="11475720" y="6519672"/>
            <a:ext cx="228600" cy="155448"/>
          </a:xfrm>
          <a:prstGeom prst="rect">
            <a:avLst/>
          </a:prstGeom>
          <a:noFill/>
          <a:ln/>
        </p:spPr>
        <p:txBody>
          <a:bodyPr wrap="square" lIns="0" tIns="0" rIns="0" bIns="0" rtlCol="0" anchor="ctr"/>
          <a:lstStyle/>
          <a:p>
            <a:pPr marL="0" indent="0" algn="r">
              <a:buNone/>
            </a:pPr>
            <a:r>
              <a:rPr lang="en-US" sz="800" dirty="0">
                <a:solidFill>
                  <a:srgbClr val="8B95A1"/>
                </a:solidFill>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6B2F8A"/>
          </a:solidFill>
          <a:ln w="12700">
            <a:solidFill>
              <a:srgbClr val="6B2F8A"/>
            </a:solidFill>
            <a:prstDash val="solid"/>
          </a:ln>
        </p:spPr>
      </p:sp>
      <p:sp>
        <p:nvSpPr>
          <p:cNvPr id="3" name="Text 1"/>
          <p:cNvSpPr/>
          <p:nvPr/>
        </p:nvSpPr>
        <p:spPr>
          <a:xfrm>
            <a:off x="502920" y="320040"/>
            <a:ext cx="9601200" cy="438912"/>
          </a:xfrm>
          <a:prstGeom prst="rect">
            <a:avLst/>
          </a:prstGeom>
          <a:noFill/>
          <a:ln/>
        </p:spPr>
        <p:txBody>
          <a:bodyPr wrap="square" lIns="127" tIns="127" rIns="127" bIns="127" rtlCol="0" anchor="ctr">
            <a:normAutofit lnSpcReduction="10000"/>
          </a:bodyPr>
          <a:lstStyle/>
          <a:p>
            <a:pPr marL="0" indent="0">
              <a:buNone/>
            </a:pPr>
            <a:r>
              <a:rPr lang="en-US" sz="3000" b="1" dirty="0">
                <a:solidFill>
                  <a:srgbClr val="162033"/>
                </a:solidFill>
                <a:latin typeface="Aptos Display" pitchFamily="34" charset="0"/>
                <a:ea typeface="Aptos Display" pitchFamily="34" charset="-122"/>
                <a:cs typeface="Aptos Display" pitchFamily="34" charset="-120"/>
              </a:rPr>
              <a:t>What we completed so far</a:t>
            </a:r>
            <a:endParaRPr lang="en-US" sz="3000" dirty="0"/>
          </a:p>
        </p:txBody>
      </p:sp>
      <p:sp>
        <p:nvSpPr>
          <p:cNvPr id="4" name="Text 2"/>
          <p:cNvSpPr/>
          <p:nvPr/>
        </p:nvSpPr>
        <p:spPr>
          <a:xfrm>
            <a:off x="521208" y="804672"/>
            <a:ext cx="10515600" cy="256032"/>
          </a:xfrm>
          <a:prstGeom prst="rect">
            <a:avLst/>
          </a:prstGeom>
          <a:noFill/>
          <a:ln/>
        </p:spPr>
        <p:txBody>
          <a:bodyPr wrap="square" lIns="127" tIns="127" rIns="127" bIns="127" rtlCol="0" anchor="ctr">
            <a:normAutofit/>
          </a:bodyPr>
          <a:lstStyle/>
          <a:p>
            <a:pPr marL="0" indent="0">
              <a:buNone/>
            </a:pPr>
            <a:r>
              <a:rPr lang="en-US" sz="1200" dirty="0">
                <a:solidFill>
                  <a:srgbClr val="667085"/>
                </a:solidFill>
              </a:rPr>
              <a:t>We created a current-state baseline before committing to any build approach.</a:t>
            </a:r>
            <a:endParaRPr lang="en-US" sz="1200" dirty="0"/>
          </a:p>
        </p:txBody>
      </p:sp>
      <p:sp>
        <p:nvSpPr>
          <p:cNvPr id="5" name="Shape 3"/>
          <p:cNvSpPr/>
          <p:nvPr/>
        </p:nvSpPr>
        <p:spPr>
          <a:xfrm>
            <a:off x="502920" y="1097280"/>
            <a:ext cx="11201400" cy="0"/>
          </a:xfrm>
          <a:prstGeom prst="line">
            <a:avLst/>
          </a:prstGeom>
          <a:noFill/>
          <a:ln w="12700">
            <a:solidFill>
              <a:srgbClr val="D8DEE9"/>
            </a:solidFill>
            <a:prstDash val="solid"/>
          </a:ln>
        </p:spPr>
      </p:sp>
      <p:sp>
        <p:nvSpPr>
          <p:cNvPr id="6" name="Text 4"/>
          <p:cNvSpPr/>
          <p:nvPr/>
        </p:nvSpPr>
        <p:spPr>
          <a:xfrm>
            <a:off x="685800" y="1417320"/>
            <a:ext cx="4389120" cy="310896"/>
          </a:xfrm>
          <a:prstGeom prst="rect">
            <a:avLst/>
          </a:prstGeom>
          <a:noFill/>
          <a:ln/>
        </p:spPr>
        <p:txBody>
          <a:bodyPr wrap="square" lIns="0" tIns="0" rIns="0" bIns="0" rtlCol="0" anchor="ctr"/>
          <a:lstStyle/>
          <a:p>
            <a:pPr marL="0" indent="0">
              <a:buNone/>
            </a:pPr>
            <a:r>
              <a:rPr lang="en-US" sz="2000" b="1" dirty="0">
                <a:solidFill>
                  <a:srgbClr val="162033"/>
                </a:solidFill>
              </a:rPr>
              <a:t>Current work completed / in progress</a:t>
            </a:r>
            <a:endParaRPr lang="en-US" sz="2000" dirty="0"/>
          </a:p>
        </p:txBody>
      </p:sp>
      <p:sp>
        <p:nvSpPr>
          <p:cNvPr id="7" name="Text 5"/>
          <p:cNvSpPr/>
          <p:nvPr/>
        </p:nvSpPr>
        <p:spPr>
          <a:xfrm>
            <a:off x="731520" y="1874520"/>
            <a:ext cx="5669280" cy="2926080"/>
          </a:xfrm>
          <a:prstGeom prst="rect">
            <a:avLst/>
          </a:prstGeom>
          <a:noFill/>
          <a:ln/>
        </p:spPr>
        <p:txBody>
          <a:bodyPr wrap="square" lIns="381" tIns="381" rIns="381" bIns="381" rtlCol="0" anchor="ctr">
            <a:normAutofit/>
          </a:bodyPr>
          <a:lstStyle/>
          <a:p>
            <a:pPr marL="165100" indent="-165100">
              <a:buSzPct val="100000"/>
              <a:buChar char="•"/>
            </a:pPr>
            <a:r>
              <a:rPr lang="en-US" sz="1650" dirty="0">
                <a:solidFill>
                  <a:srgbClr val="162033"/>
                </a:solidFill>
              </a:rPr>
              <a:t>Reached out to tower teams to validate renewal ownership and process.</a:t>
            </a:r>
            <a:endParaRPr lang="en-US" sz="1650" dirty="0"/>
          </a:p>
          <a:p>
            <a:pPr marL="165100" indent="-165100">
              <a:buSzPct val="100000"/>
              <a:buChar char="•"/>
            </a:pPr>
            <a:r>
              <a:rPr lang="en-US" sz="1650" dirty="0">
                <a:solidFill>
                  <a:srgbClr val="162033"/>
                </a:solidFill>
              </a:rPr>
              <a:t>Built a current-state tower matrix covering automation status, method, POC, and references.</a:t>
            </a:r>
            <a:endParaRPr lang="en-US" sz="1650" dirty="0"/>
          </a:p>
          <a:p>
            <a:pPr marL="165100" indent="-165100">
              <a:buSzPct val="100000"/>
              <a:buChar char="•"/>
            </a:pPr>
            <a:r>
              <a:rPr lang="en-US" sz="1650" dirty="0">
                <a:solidFill>
                  <a:srgbClr val="162033"/>
                </a:solidFill>
              </a:rPr>
              <a:t>Captured Digital automation details through walkthrough and repo review.</a:t>
            </a:r>
            <a:endParaRPr lang="en-US" sz="1650" dirty="0"/>
          </a:p>
          <a:p>
            <a:pPr marL="165100" indent="-165100">
              <a:buSzPct val="100000"/>
              <a:buChar char="•"/>
            </a:pPr>
            <a:r>
              <a:rPr lang="en-US" sz="1650" dirty="0">
                <a:solidFill>
                  <a:srgbClr val="162033"/>
                </a:solidFill>
              </a:rPr>
              <a:t>Reviewed DCI NetAuth as another priority automation candidate.</a:t>
            </a:r>
            <a:endParaRPr lang="en-US" sz="1650" dirty="0"/>
          </a:p>
          <a:p>
            <a:pPr marL="165100" indent="-165100">
              <a:buSzPct val="100000"/>
              <a:buChar char="•"/>
            </a:pPr>
            <a:r>
              <a:rPr lang="en-US" sz="1650" dirty="0">
                <a:solidFill>
                  <a:srgbClr val="162033"/>
                </a:solidFill>
              </a:rPr>
              <a:t>Started discussion with Mike, Andrew, and Alan to align with the broader COF convergence direction.</a:t>
            </a:r>
            <a:endParaRPr lang="en-US" sz="1650" dirty="0"/>
          </a:p>
        </p:txBody>
      </p:sp>
      <p:sp>
        <p:nvSpPr>
          <p:cNvPr id="8" name="Text 6"/>
          <p:cNvSpPr/>
          <p:nvPr/>
        </p:nvSpPr>
        <p:spPr>
          <a:xfrm>
            <a:off x="6812280" y="1417320"/>
            <a:ext cx="3200400" cy="310896"/>
          </a:xfrm>
          <a:prstGeom prst="rect">
            <a:avLst/>
          </a:prstGeom>
          <a:noFill/>
          <a:ln/>
        </p:spPr>
        <p:txBody>
          <a:bodyPr wrap="square" lIns="0" tIns="0" rIns="0" bIns="0" rtlCol="0" anchor="ctr"/>
          <a:lstStyle/>
          <a:p>
            <a:pPr marL="0" indent="0">
              <a:buNone/>
            </a:pPr>
            <a:r>
              <a:rPr lang="en-US" sz="2000" b="1" dirty="0">
                <a:solidFill>
                  <a:srgbClr val="162033"/>
                </a:solidFill>
              </a:rPr>
              <a:t>Why the matrix matters</a:t>
            </a:r>
            <a:endParaRPr lang="en-US" sz="2000" dirty="0"/>
          </a:p>
        </p:txBody>
      </p:sp>
      <p:sp>
        <p:nvSpPr>
          <p:cNvPr id="9" name="Text 7"/>
          <p:cNvSpPr/>
          <p:nvPr/>
        </p:nvSpPr>
        <p:spPr>
          <a:xfrm>
            <a:off x="6812280" y="1874520"/>
            <a:ext cx="1325880" cy="402336"/>
          </a:xfrm>
          <a:prstGeom prst="rect">
            <a:avLst/>
          </a:prstGeom>
          <a:solidFill>
            <a:srgbClr val="EEF4FF"/>
          </a:solidFill>
          <a:ln w="10160">
            <a:solidFill>
              <a:srgbClr val="D0D5DD"/>
            </a:solidFill>
          </a:ln>
        </p:spPr>
        <p:txBody>
          <a:bodyPr wrap="square" lIns="889" tIns="889" rIns="889" bIns="889" rtlCol="0" anchor="ctr">
            <a:normAutofit/>
          </a:bodyPr>
          <a:lstStyle/>
          <a:p>
            <a:pPr marL="0" indent="0">
              <a:buNone/>
            </a:pPr>
            <a:r>
              <a:rPr lang="en-US" sz="1120" b="1" dirty="0">
                <a:solidFill>
                  <a:srgbClr val="162033"/>
                </a:solidFill>
              </a:rPr>
              <a:t>Field</a:t>
            </a:r>
            <a:endParaRPr lang="en-US" sz="1120" dirty="0"/>
          </a:p>
        </p:txBody>
      </p:sp>
      <p:sp>
        <p:nvSpPr>
          <p:cNvPr id="10" name="Text 8"/>
          <p:cNvSpPr/>
          <p:nvPr/>
        </p:nvSpPr>
        <p:spPr>
          <a:xfrm>
            <a:off x="8138160" y="1874520"/>
            <a:ext cx="3520440" cy="402336"/>
          </a:xfrm>
          <a:prstGeom prst="rect">
            <a:avLst/>
          </a:prstGeom>
          <a:solidFill>
            <a:srgbClr val="EEF4FF"/>
          </a:solidFill>
          <a:ln w="10160">
            <a:solidFill>
              <a:srgbClr val="D0D5DD"/>
            </a:solidFill>
          </a:ln>
        </p:spPr>
        <p:txBody>
          <a:bodyPr wrap="square" lIns="889" tIns="889" rIns="889" bIns="889" rtlCol="0" anchor="ctr">
            <a:normAutofit/>
          </a:bodyPr>
          <a:lstStyle/>
          <a:p>
            <a:pPr marL="0" indent="0">
              <a:buNone/>
            </a:pPr>
            <a:r>
              <a:rPr lang="en-US" sz="1120" b="1" dirty="0">
                <a:solidFill>
                  <a:srgbClr val="162033"/>
                </a:solidFill>
              </a:rPr>
              <a:t>Why it matters</a:t>
            </a:r>
            <a:endParaRPr lang="en-US" sz="1120" dirty="0"/>
          </a:p>
        </p:txBody>
      </p:sp>
      <p:sp>
        <p:nvSpPr>
          <p:cNvPr id="11" name="Text 9"/>
          <p:cNvSpPr/>
          <p:nvPr/>
        </p:nvSpPr>
        <p:spPr>
          <a:xfrm>
            <a:off x="6812280" y="2276856"/>
            <a:ext cx="1325880" cy="530352"/>
          </a:xfrm>
          <a:prstGeom prst="rect">
            <a:avLst/>
          </a:prstGeom>
          <a:solidFill>
            <a:srgbClr val="FFFFFF"/>
          </a:solidFill>
          <a:ln w="10160">
            <a:solidFill>
              <a:srgbClr val="D0D5DD"/>
            </a:solidFill>
          </a:ln>
        </p:spPr>
        <p:txBody>
          <a:bodyPr wrap="square" lIns="889" tIns="889" rIns="889" bIns="889" rtlCol="0" anchor="ctr">
            <a:normAutofit/>
          </a:bodyPr>
          <a:lstStyle/>
          <a:p>
            <a:pPr marL="0" indent="0">
              <a:buNone/>
            </a:pPr>
            <a:r>
              <a:rPr lang="en-US" sz="1090" dirty="0">
                <a:solidFill>
                  <a:srgbClr val="162033"/>
                </a:solidFill>
              </a:rPr>
              <a:t>Owner</a:t>
            </a:r>
            <a:endParaRPr lang="en-US" sz="1090" dirty="0"/>
          </a:p>
        </p:txBody>
      </p:sp>
      <p:sp>
        <p:nvSpPr>
          <p:cNvPr id="12" name="Text 10"/>
          <p:cNvSpPr/>
          <p:nvPr/>
        </p:nvSpPr>
        <p:spPr>
          <a:xfrm>
            <a:off x="8138160" y="2276856"/>
            <a:ext cx="3520440" cy="530352"/>
          </a:xfrm>
          <a:prstGeom prst="rect">
            <a:avLst/>
          </a:prstGeom>
          <a:solidFill>
            <a:srgbClr val="FFFFFF"/>
          </a:solidFill>
          <a:ln w="10160">
            <a:solidFill>
              <a:srgbClr val="D0D5DD"/>
            </a:solidFill>
          </a:ln>
        </p:spPr>
        <p:txBody>
          <a:bodyPr wrap="square" lIns="889" tIns="889" rIns="889" bIns="889" rtlCol="0" anchor="ctr">
            <a:normAutofit/>
          </a:bodyPr>
          <a:lstStyle/>
          <a:p>
            <a:pPr marL="0" indent="0">
              <a:buNone/>
            </a:pPr>
            <a:r>
              <a:rPr lang="en-US" sz="1090" dirty="0">
                <a:solidFill>
                  <a:srgbClr val="162033"/>
                </a:solidFill>
              </a:rPr>
              <a:t>Prevents chasing the wrong team</a:t>
            </a:r>
            <a:endParaRPr lang="en-US" sz="1090" dirty="0"/>
          </a:p>
        </p:txBody>
      </p:sp>
      <p:sp>
        <p:nvSpPr>
          <p:cNvPr id="13" name="Text 11"/>
          <p:cNvSpPr/>
          <p:nvPr/>
        </p:nvSpPr>
        <p:spPr>
          <a:xfrm>
            <a:off x="6812280" y="2807208"/>
            <a:ext cx="1325880" cy="530352"/>
          </a:xfrm>
          <a:prstGeom prst="rect">
            <a:avLst/>
          </a:prstGeom>
          <a:solidFill>
            <a:srgbClr val="FFFFFF"/>
          </a:solidFill>
          <a:ln w="10160">
            <a:solidFill>
              <a:srgbClr val="D0D5DD"/>
            </a:solidFill>
          </a:ln>
        </p:spPr>
        <p:txBody>
          <a:bodyPr wrap="square" lIns="889" tIns="889" rIns="889" bIns="889" rtlCol="0" anchor="ctr">
            <a:normAutofit/>
          </a:bodyPr>
          <a:lstStyle/>
          <a:p>
            <a:pPr marL="0" indent="0">
              <a:buNone/>
            </a:pPr>
            <a:r>
              <a:rPr lang="en-US" sz="1090" dirty="0">
                <a:solidFill>
                  <a:srgbClr val="162033"/>
                </a:solidFill>
              </a:rPr>
              <a:t>Method</a:t>
            </a:r>
            <a:endParaRPr lang="en-US" sz="1090" dirty="0"/>
          </a:p>
        </p:txBody>
      </p:sp>
      <p:sp>
        <p:nvSpPr>
          <p:cNvPr id="14" name="Text 12"/>
          <p:cNvSpPr/>
          <p:nvPr/>
        </p:nvSpPr>
        <p:spPr>
          <a:xfrm>
            <a:off x="8138160" y="2807208"/>
            <a:ext cx="3520440" cy="530352"/>
          </a:xfrm>
          <a:prstGeom prst="rect">
            <a:avLst/>
          </a:prstGeom>
          <a:solidFill>
            <a:srgbClr val="FFFFFF"/>
          </a:solidFill>
          <a:ln w="10160">
            <a:solidFill>
              <a:srgbClr val="D0D5DD"/>
            </a:solidFill>
          </a:ln>
        </p:spPr>
        <p:txBody>
          <a:bodyPr wrap="square" lIns="889" tIns="889" rIns="889" bIns="889" rtlCol="0" anchor="ctr">
            <a:normAutofit/>
          </a:bodyPr>
          <a:lstStyle/>
          <a:p>
            <a:pPr marL="0" indent="0">
              <a:buNone/>
            </a:pPr>
            <a:r>
              <a:rPr lang="en-US" sz="1090" dirty="0">
                <a:solidFill>
                  <a:srgbClr val="162033"/>
                </a:solidFill>
              </a:rPr>
              <a:t>Separates AAP, manual, deployment-based renewals</a:t>
            </a:r>
            <a:endParaRPr lang="en-US" sz="1090" dirty="0"/>
          </a:p>
        </p:txBody>
      </p:sp>
      <p:sp>
        <p:nvSpPr>
          <p:cNvPr id="15" name="Text 13"/>
          <p:cNvSpPr/>
          <p:nvPr/>
        </p:nvSpPr>
        <p:spPr>
          <a:xfrm>
            <a:off x="6812280" y="3337560"/>
            <a:ext cx="1325880" cy="530352"/>
          </a:xfrm>
          <a:prstGeom prst="rect">
            <a:avLst/>
          </a:prstGeom>
          <a:solidFill>
            <a:srgbClr val="FFFFFF"/>
          </a:solidFill>
          <a:ln w="10160">
            <a:solidFill>
              <a:srgbClr val="D0D5DD"/>
            </a:solidFill>
          </a:ln>
        </p:spPr>
        <p:txBody>
          <a:bodyPr wrap="square" lIns="889" tIns="889" rIns="889" bIns="889" rtlCol="0" anchor="ctr">
            <a:normAutofit/>
          </a:bodyPr>
          <a:lstStyle/>
          <a:p>
            <a:pPr marL="0" indent="0">
              <a:buNone/>
            </a:pPr>
            <a:r>
              <a:rPr lang="en-US" sz="1090" dirty="0">
                <a:solidFill>
                  <a:srgbClr val="162033"/>
                </a:solidFill>
              </a:rPr>
              <a:t>Status</a:t>
            </a:r>
            <a:endParaRPr lang="en-US" sz="1090" dirty="0"/>
          </a:p>
        </p:txBody>
      </p:sp>
      <p:sp>
        <p:nvSpPr>
          <p:cNvPr id="16" name="Text 14"/>
          <p:cNvSpPr/>
          <p:nvPr/>
        </p:nvSpPr>
        <p:spPr>
          <a:xfrm>
            <a:off x="8138160" y="3337560"/>
            <a:ext cx="3520440" cy="530352"/>
          </a:xfrm>
          <a:prstGeom prst="rect">
            <a:avLst/>
          </a:prstGeom>
          <a:solidFill>
            <a:srgbClr val="FFFFFF"/>
          </a:solidFill>
          <a:ln w="10160">
            <a:solidFill>
              <a:srgbClr val="D0D5DD"/>
            </a:solidFill>
          </a:ln>
        </p:spPr>
        <p:txBody>
          <a:bodyPr wrap="square" lIns="889" tIns="889" rIns="889" bIns="889" rtlCol="0" anchor="ctr">
            <a:normAutofit/>
          </a:bodyPr>
          <a:lstStyle/>
          <a:p>
            <a:pPr marL="0" indent="0">
              <a:buNone/>
            </a:pPr>
            <a:r>
              <a:rPr lang="en-US" sz="1090" dirty="0">
                <a:solidFill>
                  <a:srgbClr val="162033"/>
                </a:solidFill>
              </a:rPr>
              <a:t>Shows automated, partial, manual, and TBD</a:t>
            </a:r>
            <a:endParaRPr lang="en-US" sz="1090" dirty="0"/>
          </a:p>
        </p:txBody>
      </p:sp>
      <p:sp>
        <p:nvSpPr>
          <p:cNvPr id="17" name="Text 15"/>
          <p:cNvSpPr/>
          <p:nvPr/>
        </p:nvSpPr>
        <p:spPr>
          <a:xfrm>
            <a:off x="6812280" y="3867912"/>
            <a:ext cx="1325880" cy="530352"/>
          </a:xfrm>
          <a:prstGeom prst="rect">
            <a:avLst/>
          </a:prstGeom>
          <a:solidFill>
            <a:srgbClr val="FFFFFF"/>
          </a:solidFill>
          <a:ln w="10160">
            <a:solidFill>
              <a:srgbClr val="D0D5DD"/>
            </a:solidFill>
          </a:ln>
        </p:spPr>
        <p:txBody>
          <a:bodyPr wrap="square" lIns="889" tIns="889" rIns="889" bIns="889" rtlCol="0" anchor="ctr">
            <a:normAutofit/>
          </a:bodyPr>
          <a:lstStyle/>
          <a:p>
            <a:pPr marL="0" indent="0">
              <a:buNone/>
            </a:pPr>
            <a:r>
              <a:rPr lang="en-US" sz="1090" dirty="0">
                <a:solidFill>
                  <a:srgbClr val="162033"/>
                </a:solidFill>
              </a:rPr>
              <a:t>Reference</a:t>
            </a:r>
            <a:endParaRPr lang="en-US" sz="1090" dirty="0"/>
          </a:p>
        </p:txBody>
      </p:sp>
      <p:sp>
        <p:nvSpPr>
          <p:cNvPr id="18" name="Text 16"/>
          <p:cNvSpPr/>
          <p:nvPr/>
        </p:nvSpPr>
        <p:spPr>
          <a:xfrm>
            <a:off x="8138160" y="3867912"/>
            <a:ext cx="3520440" cy="530352"/>
          </a:xfrm>
          <a:prstGeom prst="rect">
            <a:avLst/>
          </a:prstGeom>
          <a:solidFill>
            <a:srgbClr val="FFFFFF"/>
          </a:solidFill>
          <a:ln w="10160">
            <a:solidFill>
              <a:srgbClr val="D0D5DD"/>
            </a:solidFill>
          </a:ln>
        </p:spPr>
        <p:txBody>
          <a:bodyPr wrap="square" lIns="889" tIns="889" rIns="889" bIns="889" rtlCol="0" anchor="ctr">
            <a:normAutofit/>
          </a:bodyPr>
          <a:lstStyle/>
          <a:p>
            <a:pPr marL="0" indent="0">
              <a:buNone/>
            </a:pPr>
            <a:r>
              <a:rPr lang="en-US" sz="1090" dirty="0">
                <a:solidFill>
                  <a:srgbClr val="162033"/>
                </a:solidFill>
              </a:rPr>
              <a:t>Keeps repo/SOP/CHG/runbook links attached</a:t>
            </a:r>
            <a:endParaRPr lang="en-US" sz="1090" dirty="0"/>
          </a:p>
        </p:txBody>
      </p:sp>
      <p:sp>
        <p:nvSpPr>
          <p:cNvPr id="19" name="Text 17"/>
          <p:cNvSpPr/>
          <p:nvPr/>
        </p:nvSpPr>
        <p:spPr>
          <a:xfrm>
            <a:off x="6812280" y="4956048"/>
            <a:ext cx="2926080" cy="219456"/>
          </a:xfrm>
          <a:prstGeom prst="rect">
            <a:avLst/>
          </a:prstGeom>
          <a:noFill/>
          <a:ln/>
        </p:spPr>
        <p:txBody>
          <a:bodyPr wrap="square" lIns="0" tIns="0" rIns="0" bIns="0" rtlCol="0" anchor="ctr"/>
          <a:lstStyle/>
          <a:p>
            <a:pPr marL="0" indent="0">
              <a:buNone/>
            </a:pPr>
            <a:endParaRPr lang="en-US" sz="1350" dirty="0"/>
          </a:p>
        </p:txBody>
      </p:sp>
      <p:sp>
        <p:nvSpPr>
          <p:cNvPr id="20" name="Text 18"/>
          <p:cNvSpPr/>
          <p:nvPr/>
        </p:nvSpPr>
        <p:spPr>
          <a:xfrm>
            <a:off x="6812280" y="5285232"/>
            <a:ext cx="4389120" cy="475488"/>
          </a:xfrm>
          <a:prstGeom prst="rect">
            <a:avLst/>
          </a:prstGeom>
          <a:noFill/>
          <a:ln/>
        </p:spPr>
        <p:txBody>
          <a:bodyPr wrap="square" lIns="0" tIns="0" rIns="0" bIns="0" rtlCol="0" anchor="ctr">
            <a:normAutofit fontScale="85000" lnSpcReduction="10000"/>
          </a:bodyPr>
          <a:lstStyle/>
          <a:p>
            <a:pPr marL="0" indent="0">
              <a:buNone/>
            </a:pPr>
            <a:r>
              <a:rPr lang="en-US" sz="1900" b="1" dirty="0">
                <a:solidFill>
                  <a:srgbClr val="162033"/>
                </a:solidFill>
              </a:rPr>
              <a:t>We are not guessing. We are validating tower-by-tower before defining the integration path.</a:t>
            </a:r>
            <a:endParaRPr lang="en-US" sz="1900" dirty="0"/>
          </a:p>
        </p:txBody>
      </p:sp>
      <p:sp>
        <p:nvSpPr>
          <p:cNvPr id="23" name="Text 20"/>
          <p:cNvSpPr/>
          <p:nvPr/>
        </p:nvSpPr>
        <p:spPr>
          <a:xfrm>
            <a:off x="11475720" y="6519672"/>
            <a:ext cx="228600" cy="155448"/>
          </a:xfrm>
          <a:prstGeom prst="rect">
            <a:avLst/>
          </a:prstGeom>
          <a:noFill/>
          <a:ln/>
        </p:spPr>
        <p:txBody>
          <a:bodyPr wrap="square" lIns="0" tIns="0" rIns="0" bIns="0" rtlCol="0" anchor="ctr"/>
          <a:lstStyle/>
          <a:p>
            <a:pPr marL="0" indent="0" algn="r">
              <a:buNone/>
            </a:pPr>
            <a:r>
              <a:rPr lang="en-US" sz="800" dirty="0">
                <a:solidFill>
                  <a:srgbClr val="8B95A1"/>
                </a:solidFill>
              </a:rPr>
              <a:t>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6B2F8A"/>
          </a:solidFill>
          <a:ln w="12700">
            <a:solidFill>
              <a:srgbClr val="6B2F8A"/>
            </a:solidFill>
            <a:prstDash val="solid"/>
          </a:ln>
        </p:spPr>
      </p:sp>
      <p:sp>
        <p:nvSpPr>
          <p:cNvPr id="3" name="Text 1"/>
          <p:cNvSpPr/>
          <p:nvPr/>
        </p:nvSpPr>
        <p:spPr>
          <a:xfrm>
            <a:off x="502920" y="320040"/>
            <a:ext cx="9601200" cy="438912"/>
          </a:xfrm>
          <a:prstGeom prst="rect">
            <a:avLst/>
          </a:prstGeom>
          <a:noFill/>
          <a:ln/>
        </p:spPr>
        <p:txBody>
          <a:bodyPr wrap="square" lIns="127" tIns="127" rIns="127" bIns="127" rtlCol="0" anchor="ctr">
            <a:normAutofit lnSpcReduction="10000"/>
          </a:bodyPr>
          <a:lstStyle/>
          <a:p>
            <a:pPr marL="0" indent="0">
              <a:buNone/>
            </a:pPr>
            <a:r>
              <a:rPr lang="en-US" sz="3000" b="1" dirty="0">
                <a:solidFill>
                  <a:srgbClr val="162033"/>
                </a:solidFill>
                <a:latin typeface="Aptos Display" pitchFamily="34" charset="0"/>
                <a:ea typeface="Aptos Display" pitchFamily="34" charset="-122"/>
                <a:cs typeface="Aptos Display" pitchFamily="34" charset="-120"/>
              </a:rPr>
              <a:t>Current state: mixed renewal models</a:t>
            </a:r>
            <a:endParaRPr lang="en-US" sz="3000" dirty="0"/>
          </a:p>
        </p:txBody>
      </p:sp>
      <p:sp>
        <p:nvSpPr>
          <p:cNvPr id="4" name="Text 2"/>
          <p:cNvSpPr/>
          <p:nvPr/>
        </p:nvSpPr>
        <p:spPr>
          <a:xfrm>
            <a:off x="521208" y="804672"/>
            <a:ext cx="10515600" cy="256032"/>
          </a:xfrm>
          <a:prstGeom prst="rect">
            <a:avLst/>
          </a:prstGeom>
          <a:noFill/>
          <a:ln/>
        </p:spPr>
        <p:txBody>
          <a:bodyPr wrap="square" lIns="127" tIns="127" rIns="127" bIns="127" rtlCol="0" anchor="ctr">
            <a:normAutofit/>
          </a:bodyPr>
          <a:lstStyle/>
          <a:p>
            <a:pPr marL="0" indent="0">
              <a:buNone/>
            </a:pPr>
            <a:r>
              <a:rPr lang="en-US" sz="1200" dirty="0">
                <a:solidFill>
                  <a:srgbClr val="667085"/>
                </a:solidFill>
              </a:rPr>
              <a:t>Not every certificate should be treated the same way.</a:t>
            </a:r>
            <a:endParaRPr lang="en-US" sz="1200" dirty="0"/>
          </a:p>
        </p:txBody>
      </p:sp>
      <p:sp>
        <p:nvSpPr>
          <p:cNvPr id="5" name="Shape 3"/>
          <p:cNvSpPr/>
          <p:nvPr/>
        </p:nvSpPr>
        <p:spPr>
          <a:xfrm>
            <a:off x="502920" y="1097280"/>
            <a:ext cx="11201400" cy="0"/>
          </a:xfrm>
          <a:prstGeom prst="line">
            <a:avLst/>
          </a:prstGeom>
          <a:noFill/>
          <a:ln w="12700">
            <a:solidFill>
              <a:srgbClr val="D8DEE9"/>
            </a:solidFill>
            <a:prstDash val="solid"/>
          </a:ln>
        </p:spPr>
      </p:sp>
      <p:sp>
        <p:nvSpPr>
          <p:cNvPr id="6" name="Text 4"/>
          <p:cNvSpPr/>
          <p:nvPr/>
        </p:nvSpPr>
        <p:spPr>
          <a:xfrm>
            <a:off x="594360" y="1417320"/>
            <a:ext cx="1828800" cy="411480"/>
          </a:xfrm>
          <a:prstGeom prst="rect">
            <a:avLst/>
          </a:prstGeom>
          <a:solidFill>
            <a:srgbClr val="EEF4FF"/>
          </a:solidFill>
          <a:ln w="10160">
            <a:solidFill>
              <a:srgbClr val="D0D5DD"/>
            </a:solidFill>
          </a:ln>
        </p:spPr>
        <p:txBody>
          <a:bodyPr wrap="square" lIns="889" tIns="889" rIns="889" bIns="889" rtlCol="0" anchor="ctr">
            <a:normAutofit/>
          </a:bodyPr>
          <a:lstStyle/>
          <a:p>
            <a:pPr marL="0" indent="0">
              <a:buNone/>
            </a:pPr>
            <a:r>
              <a:rPr lang="en-US" sz="1150" b="1" dirty="0">
                <a:solidFill>
                  <a:srgbClr val="162033"/>
                </a:solidFill>
              </a:rPr>
              <a:t>Tower / area</a:t>
            </a:r>
            <a:endParaRPr lang="en-US" sz="1150" dirty="0"/>
          </a:p>
        </p:txBody>
      </p:sp>
      <p:sp>
        <p:nvSpPr>
          <p:cNvPr id="7" name="Text 5"/>
          <p:cNvSpPr/>
          <p:nvPr/>
        </p:nvSpPr>
        <p:spPr>
          <a:xfrm>
            <a:off x="2423160" y="1417320"/>
            <a:ext cx="4800600" cy="411480"/>
          </a:xfrm>
          <a:prstGeom prst="rect">
            <a:avLst/>
          </a:prstGeom>
          <a:solidFill>
            <a:srgbClr val="EEF4FF"/>
          </a:solidFill>
          <a:ln w="10160">
            <a:solidFill>
              <a:srgbClr val="D0D5DD"/>
            </a:solidFill>
          </a:ln>
        </p:spPr>
        <p:txBody>
          <a:bodyPr wrap="square" lIns="889" tIns="889" rIns="889" bIns="889" rtlCol="0" anchor="ctr">
            <a:normAutofit/>
          </a:bodyPr>
          <a:lstStyle/>
          <a:p>
            <a:pPr marL="0" indent="0">
              <a:buNone/>
            </a:pPr>
            <a:r>
              <a:rPr lang="en-US" sz="1150" b="1" dirty="0">
                <a:solidFill>
                  <a:srgbClr val="162033"/>
                </a:solidFill>
              </a:rPr>
              <a:t>Current renewal model</a:t>
            </a:r>
            <a:endParaRPr lang="en-US" sz="1150" dirty="0"/>
          </a:p>
        </p:txBody>
      </p:sp>
      <p:sp>
        <p:nvSpPr>
          <p:cNvPr id="8" name="Text 6"/>
          <p:cNvSpPr/>
          <p:nvPr/>
        </p:nvSpPr>
        <p:spPr>
          <a:xfrm>
            <a:off x="7223760" y="1417320"/>
            <a:ext cx="4297680" cy="411480"/>
          </a:xfrm>
          <a:prstGeom prst="rect">
            <a:avLst/>
          </a:prstGeom>
          <a:solidFill>
            <a:srgbClr val="EEF4FF"/>
          </a:solidFill>
          <a:ln w="10160">
            <a:solidFill>
              <a:srgbClr val="D0D5DD"/>
            </a:solidFill>
          </a:ln>
        </p:spPr>
        <p:txBody>
          <a:bodyPr wrap="square" lIns="889" tIns="889" rIns="889" bIns="889" rtlCol="0" anchor="ctr">
            <a:normAutofit/>
          </a:bodyPr>
          <a:lstStyle/>
          <a:p>
            <a:pPr marL="0" indent="0">
              <a:buNone/>
            </a:pPr>
            <a:r>
              <a:rPr lang="en-US" sz="1150" b="1" dirty="0">
                <a:solidFill>
                  <a:srgbClr val="162033"/>
                </a:solidFill>
              </a:rPr>
              <a:t>POC readout</a:t>
            </a:r>
            <a:endParaRPr lang="en-US" sz="1150" dirty="0"/>
          </a:p>
        </p:txBody>
      </p:sp>
      <p:sp>
        <p:nvSpPr>
          <p:cNvPr id="9" name="Text 7"/>
          <p:cNvSpPr/>
          <p:nvPr/>
        </p:nvSpPr>
        <p:spPr>
          <a:xfrm>
            <a:off x="594360" y="1828800"/>
            <a:ext cx="1828800" cy="749808"/>
          </a:xfrm>
          <a:prstGeom prst="rect">
            <a:avLst/>
          </a:prstGeom>
          <a:solidFill>
            <a:srgbClr val="FFFFFF"/>
          </a:solidFill>
          <a:ln w="10160">
            <a:solidFill>
              <a:srgbClr val="D0D5DD"/>
            </a:solidFill>
          </a:ln>
        </p:spPr>
        <p:txBody>
          <a:bodyPr wrap="square" lIns="889" tIns="889" rIns="889" bIns="889" rtlCol="0" anchor="ctr">
            <a:normAutofit/>
          </a:bodyPr>
          <a:lstStyle/>
          <a:p>
            <a:pPr marL="0" indent="0">
              <a:buNone/>
            </a:pPr>
            <a:r>
              <a:rPr lang="en-US" sz="1120" dirty="0">
                <a:solidFill>
                  <a:srgbClr val="162033"/>
                </a:solidFill>
              </a:rPr>
              <a:t>Digital</a:t>
            </a:r>
            <a:endParaRPr lang="en-US" sz="1120" dirty="0"/>
          </a:p>
        </p:txBody>
      </p:sp>
      <p:sp>
        <p:nvSpPr>
          <p:cNvPr id="10" name="Text 8"/>
          <p:cNvSpPr/>
          <p:nvPr/>
        </p:nvSpPr>
        <p:spPr>
          <a:xfrm>
            <a:off x="2423160" y="1828800"/>
            <a:ext cx="4800600" cy="749808"/>
          </a:xfrm>
          <a:prstGeom prst="rect">
            <a:avLst/>
          </a:prstGeom>
          <a:solidFill>
            <a:srgbClr val="FFFFFF"/>
          </a:solidFill>
          <a:ln w="10160">
            <a:solidFill>
              <a:srgbClr val="D0D5DD"/>
            </a:solidFill>
          </a:ln>
        </p:spPr>
        <p:txBody>
          <a:bodyPr wrap="square" lIns="889" tIns="889" rIns="889" bIns="889" rtlCol="0" anchor="ctr">
            <a:normAutofit/>
          </a:bodyPr>
          <a:lstStyle/>
          <a:p>
            <a:pPr marL="0" indent="0">
              <a:buNone/>
            </a:pPr>
            <a:r>
              <a:rPr lang="en-US" sz="1120" dirty="0">
                <a:solidFill>
                  <a:srgbClr val="162033"/>
                </a:solidFill>
              </a:rPr>
              <a:t>Ansible/AAP automation for Tomcat, F5, WebSphere, Apache, external client certs</a:t>
            </a:r>
            <a:endParaRPr lang="en-US" sz="1120" dirty="0"/>
          </a:p>
        </p:txBody>
      </p:sp>
      <p:sp>
        <p:nvSpPr>
          <p:cNvPr id="11" name="Text 9"/>
          <p:cNvSpPr/>
          <p:nvPr/>
        </p:nvSpPr>
        <p:spPr>
          <a:xfrm>
            <a:off x="7223760" y="1828800"/>
            <a:ext cx="4297680" cy="749808"/>
          </a:xfrm>
          <a:prstGeom prst="rect">
            <a:avLst/>
          </a:prstGeom>
          <a:solidFill>
            <a:srgbClr val="FFFFFF"/>
          </a:solidFill>
          <a:ln w="10160">
            <a:solidFill>
              <a:srgbClr val="D0D5DD"/>
            </a:solidFill>
          </a:ln>
        </p:spPr>
        <p:txBody>
          <a:bodyPr wrap="square" lIns="889" tIns="889" rIns="889" bIns="889" rtlCol="0" anchor="ctr">
            <a:normAutofit/>
          </a:bodyPr>
          <a:lstStyle/>
          <a:p>
            <a:pPr marL="0" indent="0">
              <a:buNone/>
            </a:pPr>
            <a:r>
              <a:rPr lang="en-US" sz="1120" dirty="0">
                <a:solidFill>
                  <a:srgbClr val="162033"/>
                </a:solidFill>
              </a:rPr>
              <a:t>Strong POC candidate; need trigger inputs and status output</a:t>
            </a:r>
            <a:endParaRPr lang="en-US" sz="1120" dirty="0"/>
          </a:p>
        </p:txBody>
      </p:sp>
      <p:sp>
        <p:nvSpPr>
          <p:cNvPr id="12" name="Text 10"/>
          <p:cNvSpPr/>
          <p:nvPr/>
        </p:nvSpPr>
        <p:spPr>
          <a:xfrm>
            <a:off x="594360" y="2578608"/>
            <a:ext cx="1828800" cy="749808"/>
          </a:xfrm>
          <a:prstGeom prst="rect">
            <a:avLst/>
          </a:prstGeom>
          <a:solidFill>
            <a:srgbClr val="FFFFFF"/>
          </a:solidFill>
          <a:ln w="10160">
            <a:solidFill>
              <a:srgbClr val="D0D5DD"/>
            </a:solidFill>
          </a:ln>
        </p:spPr>
        <p:txBody>
          <a:bodyPr wrap="square" lIns="889" tIns="889" rIns="889" bIns="889" rtlCol="0" anchor="ctr">
            <a:normAutofit/>
          </a:bodyPr>
          <a:lstStyle/>
          <a:p>
            <a:pPr marL="0" indent="0">
              <a:buNone/>
            </a:pPr>
            <a:r>
              <a:rPr lang="en-US" sz="1120" dirty="0">
                <a:solidFill>
                  <a:srgbClr val="162033"/>
                </a:solidFill>
              </a:rPr>
              <a:t>DCI NetAuth</a:t>
            </a:r>
            <a:endParaRPr lang="en-US" sz="1120" dirty="0"/>
          </a:p>
        </p:txBody>
      </p:sp>
      <p:sp>
        <p:nvSpPr>
          <p:cNvPr id="13" name="Text 11"/>
          <p:cNvSpPr/>
          <p:nvPr/>
        </p:nvSpPr>
        <p:spPr>
          <a:xfrm>
            <a:off x="2423160" y="2578608"/>
            <a:ext cx="4800600" cy="749808"/>
          </a:xfrm>
          <a:prstGeom prst="rect">
            <a:avLst/>
          </a:prstGeom>
          <a:solidFill>
            <a:srgbClr val="FFFFFF"/>
          </a:solidFill>
          <a:ln w="10160">
            <a:solidFill>
              <a:srgbClr val="D0D5DD"/>
            </a:solidFill>
          </a:ln>
        </p:spPr>
        <p:txBody>
          <a:bodyPr wrap="square" lIns="889" tIns="889" rIns="889" bIns="889" rtlCol="0" anchor="ctr">
            <a:normAutofit/>
          </a:bodyPr>
          <a:lstStyle/>
          <a:p>
            <a:pPr marL="0" indent="0">
              <a:buNone/>
            </a:pPr>
            <a:r>
              <a:rPr lang="en-US" sz="1120" dirty="0">
                <a:solidFill>
                  <a:srgbClr val="162033"/>
                </a:solidFill>
              </a:rPr>
              <a:t>AAP-based automation exists / in progress for NetAuth certs</a:t>
            </a:r>
            <a:endParaRPr lang="en-US" sz="1120" dirty="0"/>
          </a:p>
        </p:txBody>
      </p:sp>
      <p:sp>
        <p:nvSpPr>
          <p:cNvPr id="14" name="Text 12"/>
          <p:cNvSpPr/>
          <p:nvPr/>
        </p:nvSpPr>
        <p:spPr>
          <a:xfrm>
            <a:off x="7223760" y="2578608"/>
            <a:ext cx="4297680" cy="749808"/>
          </a:xfrm>
          <a:prstGeom prst="rect">
            <a:avLst/>
          </a:prstGeom>
          <a:solidFill>
            <a:srgbClr val="FFFFFF"/>
          </a:solidFill>
          <a:ln w="10160">
            <a:solidFill>
              <a:srgbClr val="D0D5DD"/>
            </a:solidFill>
          </a:ln>
        </p:spPr>
        <p:txBody>
          <a:bodyPr wrap="square" lIns="889" tIns="889" rIns="889" bIns="889" rtlCol="0" anchor="ctr">
            <a:normAutofit/>
          </a:bodyPr>
          <a:lstStyle/>
          <a:p>
            <a:pPr marL="0" indent="0">
              <a:buNone/>
            </a:pPr>
            <a:r>
              <a:rPr lang="en-US" sz="1120" dirty="0">
                <a:solidFill>
                  <a:srgbClr val="162033"/>
                </a:solidFill>
              </a:rPr>
              <a:t>Priority candidate to validate reusable approach</a:t>
            </a:r>
            <a:endParaRPr lang="en-US" sz="1120" dirty="0"/>
          </a:p>
        </p:txBody>
      </p:sp>
      <p:sp>
        <p:nvSpPr>
          <p:cNvPr id="15" name="Text 13"/>
          <p:cNvSpPr/>
          <p:nvPr/>
        </p:nvSpPr>
        <p:spPr>
          <a:xfrm>
            <a:off x="594360" y="3328416"/>
            <a:ext cx="1828800" cy="749808"/>
          </a:xfrm>
          <a:prstGeom prst="rect">
            <a:avLst/>
          </a:prstGeom>
          <a:solidFill>
            <a:srgbClr val="FFFFFF"/>
          </a:solidFill>
          <a:ln w="10160">
            <a:solidFill>
              <a:srgbClr val="D0D5DD"/>
            </a:solidFill>
          </a:ln>
        </p:spPr>
        <p:txBody>
          <a:bodyPr wrap="square" lIns="889" tIns="889" rIns="889" bIns="889" rtlCol="0" anchor="ctr">
            <a:normAutofit/>
          </a:bodyPr>
          <a:lstStyle/>
          <a:p>
            <a:pPr marL="0" indent="0">
              <a:buNone/>
            </a:pPr>
            <a:r>
              <a:rPr lang="en-US" sz="1120" dirty="0">
                <a:solidFill>
                  <a:srgbClr val="162033"/>
                </a:solidFill>
              </a:rPr>
              <a:t>Settlements</a:t>
            </a:r>
            <a:endParaRPr lang="en-US" sz="1120" dirty="0"/>
          </a:p>
        </p:txBody>
      </p:sp>
      <p:sp>
        <p:nvSpPr>
          <p:cNvPr id="16" name="Text 14"/>
          <p:cNvSpPr/>
          <p:nvPr/>
        </p:nvSpPr>
        <p:spPr>
          <a:xfrm>
            <a:off x="2423160" y="3328416"/>
            <a:ext cx="4800600" cy="749808"/>
          </a:xfrm>
          <a:prstGeom prst="rect">
            <a:avLst/>
          </a:prstGeom>
          <a:solidFill>
            <a:srgbClr val="FFFFFF"/>
          </a:solidFill>
          <a:ln w="10160">
            <a:solidFill>
              <a:srgbClr val="D0D5DD"/>
            </a:solidFill>
          </a:ln>
        </p:spPr>
        <p:txBody>
          <a:bodyPr wrap="square" lIns="889" tIns="889" rIns="889" bIns="889" rtlCol="0" anchor="ctr">
            <a:normAutofit/>
          </a:bodyPr>
          <a:lstStyle/>
          <a:p>
            <a:pPr marL="0" indent="0">
              <a:buNone/>
            </a:pPr>
            <a:r>
              <a:rPr lang="en-US" sz="1120" dirty="0">
                <a:solidFill>
                  <a:srgbClr val="162033"/>
                </a:solidFill>
              </a:rPr>
              <a:t>Some production certs are manual; WMS v1 is being replaced; WMS v2 handled in deployment</a:t>
            </a:r>
            <a:endParaRPr lang="en-US" sz="1120" dirty="0"/>
          </a:p>
        </p:txBody>
      </p:sp>
      <p:sp>
        <p:nvSpPr>
          <p:cNvPr id="17" name="Text 15"/>
          <p:cNvSpPr/>
          <p:nvPr/>
        </p:nvSpPr>
        <p:spPr>
          <a:xfrm>
            <a:off x="7223760" y="3328416"/>
            <a:ext cx="4297680" cy="749808"/>
          </a:xfrm>
          <a:prstGeom prst="rect">
            <a:avLst/>
          </a:prstGeom>
          <a:solidFill>
            <a:srgbClr val="FFFFFF"/>
          </a:solidFill>
          <a:ln w="10160">
            <a:solidFill>
              <a:srgbClr val="D0D5DD"/>
            </a:solidFill>
          </a:ln>
        </p:spPr>
        <p:txBody>
          <a:bodyPr wrap="square" lIns="889" tIns="889" rIns="889" bIns="889" rtlCol="0" anchor="ctr">
            <a:normAutofit/>
          </a:bodyPr>
          <a:lstStyle/>
          <a:p>
            <a:pPr marL="0" indent="0">
              <a:buNone/>
            </a:pPr>
            <a:r>
              <a:rPr lang="en-US" sz="1120" dirty="0">
                <a:solidFill>
                  <a:srgbClr val="162033"/>
                </a:solidFill>
              </a:rPr>
              <a:t>Good for inventory and risk tracking, not first trigger POC</a:t>
            </a:r>
            <a:endParaRPr lang="en-US" sz="1120" dirty="0"/>
          </a:p>
        </p:txBody>
      </p:sp>
      <p:sp>
        <p:nvSpPr>
          <p:cNvPr id="18" name="Text 16"/>
          <p:cNvSpPr/>
          <p:nvPr/>
        </p:nvSpPr>
        <p:spPr>
          <a:xfrm>
            <a:off x="594360" y="4078224"/>
            <a:ext cx="1828800" cy="749808"/>
          </a:xfrm>
          <a:prstGeom prst="rect">
            <a:avLst/>
          </a:prstGeom>
          <a:solidFill>
            <a:srgbClr val="FFFFFF"/>
          </a:solidFill>
          <a:ln w="10160">
            <a:solidFill>
              <a:srgbClr val="D0D5DD"/>
            </a:solidFill>
          </a:ln>
        </p:spPr>
        <p:txBody>
          <a:bodyPr wrap="square" lIns="889" tIns="889" rIns="889" bIns="889" rtlCol="0" anchor="ctr">
            <a:normAutofit/>
          </a:bodyPr>
          <a:lstStyle/>
          <a:p>
            <a:pPr marL="0" indent="0">
              <a:buNone/>
            </a:pPr>
            <a:r>
              <a:rPr lang="en-US" sz="1120" dirty="0">
                <a:solidFill>
                  <a:srgbClr val="162033"/>
                </a:solidFill>
              </a:rPr>
              <a:t>DN Pulse &amp; Disputes</a:t>
            </a:r>
            <a:endParaRPr lang="en-US" sz="1120" dirty="0"/>
          </a:p>
        </p:txBody>
      </p:sp>
      <p:sp>
        <p:nvSpPr>
          <p:cNvPr id="19" name="Text 17"/>
          <p:cNvSpPr/>
          <p:nvPr/>
        </p:nvSpPr>
        <p:spPr>
          <a:xfrm>
            <a:off x="2423160" y="4078224"/>
            <a:ext cx="4800600" cy="749808"/>
          </a:xfrm>
          <a:prstGeom prst="rect">
            <a:avLst/>
          </a:prstGeom>
          <a:solidFill>
            <a:srgbClr val="FFFFFF"/>
          </a:solidFill>
          <a:ln w="10160">
            <a:solidFill>
              <a:srgbClr val="D0D5DD"/>
            </a:solidFill>
          </a:ln>
        </p:spPr>
        <p:txBody>
          <a:bodyPr wrap="square" lIns="889" tIns="889" rIns="889" bIns="889" rtlCol="0" anchor="ctr">
            <a:normAutofit/>
          </a:bodyPr>
          <a:lstStyle/>
          <a:p>
            <a:pPr marL="0" indent="0">
              <a:buNone/>
            </a:pPr>
            <a:r>
              <a:rPr lang="en-US" sz="1120" dirty="0">
                <a:solidFill>
                  <a:srgbClr val="162033"/>
                </a:solidFill>
              </a:rPr>
              <a:t>CSR generation via Ansible; approval and downstream steps still need clarity</a:t>
            </a:r>
            <a:endParaRPr lang="en-US" sz="1120" dirty="0"/>
          </a:p>
        </p:txBody>
      </p:sp>
      <p:sp>
        <p:nvSpPr>
          <p:cNvPr id="20" name="Text 18"/>
          <p:cNvSpPr/>
          <p:nvPr/>
        </p:nvSpPr>
        <p:spPr>
          <a:xfrm>
            <a:off x="7223760" y="4078224"/>
            <a:ext cx="4297680" cy="749808"/>
          </a:xfrm>
          <a:prstGeom prst="rect">
            <a:avLst/>
          </a:prstGeom>
          <a:solidFill>
            <a:srgbClr val="FFFFFF"/>
          </a:solidFill>
          <a:ln w="10160">
            <a:solidFill>
              <a:srgbClr val="D0D5DD"/>
            </a:solidFill>
          </a:ln>
        </p:spPr>
        <p:txBody>
          <a:bodyPr wrap="square" lIns="889" tIns="889" rIns="889" bIns="889" rtlCol="0" anchor="ctr">
            <a:normAutofit/>
          </a:bodyPr>
          <a:lstStyle/>
          <a:p>
            <a:pPr marL="0" indent="0">
              <a:buNone/>
            </a:pPr>
            <a:r>
              <a:rPr lang="en-US" sz="1120" dirty="0">
                <a:solidFill>
                  <a:srgbClr val="162033"/>
                </a:solidFill>
              </a:rPr>
              <a:t>Potential later phase once workflow/status is understood</a:t>
            </a:r>
            <a:endParaRPr lang="en-US" sz="1120" dirty="0"/>
          </a:p>
        </p:txBody>
      </p:sp>
      <p:sp>
        <p:nvSpPr>
          <p:cNvPr id="21" name="Text 19"/>
          <p:cNvSpPr/>
          <p:nvPr/>
        </p:nvSpPr>
        <p:spPr>
          <a:xfrm>
            <a:off x="685800" y="5166360"/>
            <a:ext cx="1828800" cy="237744"/>
          </a:xfrm>
          <a:prstGeom prst="rect">
            <a:avLst/>
          </a:prstGeom>
          <a:noFill/>
          <a:ln/>
        </p:spPr>
        <p:txBody>
          <a:bodyPr wrap="square" lIns="0" tIns="0" rIns="0" bIns="0" rtlCol="0" anchor="ctr"/>
          <a:lstStyle/>
          <a:p>
            <a:pPr marL="0" indent="0">
              <a:buNone/>
            </a:pPr>
            <a:r>
              <a:rPr lang="en-US" sz="1400" b="1" dirty="0">
                <a:solidFill>
                  <a:srgbClr val="6B2F8A"/>
                </a:solidFill>
              </a:rPr>
              <a:t>Key takeaway</a:t>
            </a:r>
            <a:endParaRPr lang="en-US" sz="1400" dirty="0"/>
          </a:p>
        </p:txBody>
      </p:sp>
      <p:sp>
        <p:nvSpPr>
          <p:cNvPr id="22" name="Text 20"/>
          <p:cNvSpPr/>
          <p:nvPr/>
        </p:nvSpPr>
        <p:spPr>
          <a:xfrm>
            <a:off x="685800" y="5486400"/>
            <a:ext cx="10287000" cy="438912"/>
          </a:xfrm>
          <a:prstGeom prst="rect">
            <a:avLst/>
          </a:prstGeom>
          <a:noFill/>
          <a:ln/>
        </p:spPr>
        <p:txBody>
          <a:bodyPr wrap="square" lIns="0" tIns="0" rIns="0" bIns="0" rtlCol="0" anchor="ctr">
            <a:normAutofit fontScale="85000" lnSpcReduction="20000"/>
          </a:bodyPr>
          <a:lstStyle/>
          <a:p>
            <a:pPr marL="0" indent="0">
              <a:buNone/>
            </a:pPr>
            <a:r>
              <a:rPr lang="en-US" sz="2000" b="1" dirty="0">
                <a:solidFill>
                  <a:srgbClr val="162033"/>
                </a:solidFill>
              </a:rPr>
              <a:t>The dashboard should standardize the entry point and status view, not force every tower into one renewal implementation.</a:t>
            </a:r>
            <a:endParaRPr lang="en-US" sz="2000" dirty="0"/>
          </a:p>
        </p:txBody>
      </p:sp>
      <p:sp>
        <p:nvSpPr>
          <p:cNvPr id="24" name="Text 21"/>
          <p:cNvSpPr/>
          <p:nvPr/>
        </p:nvSpPr>
        <p:spPr>
          <a:xfrm>
            <a:off x="502920" y="6537960"/>
            <a:ext cx="5486400" cy="155448"/>
          </a:xfrm>
          <a:prstGeom prst="rect">
            <a:avLst/>
          </a:prstGeom>
          <a:noFill/>
          <a:ln/>
        </p:spPr>
        <p:txBody>
          <a:bodyPr wrap="square" lIns="0" tIns="0" rIns="0" bIns="0" rtlCol="0" anchor="ctr"/>
          <a:lstStyle/>
          <a:p>
            <a:pPr marL="0" indent="0">
              <a:buNone/>
            </a:pPr>
            <a:r>
              <a:rPr lang="en-US" sz="800" dirty="0">
                <a:solidFill>
                  <a:srgbClr val="8B95A1"/>
                </a:solidFill>
              </a:rPr>
              <a:t>GPN SRE • Centralized Certificate Renewal Dashboard</a:t>
            </a:r>
            <a:endParaRPr lang="en-US" sz="800" dirty="0"/>
          </a:p>
        </p:txBody>
      </p:sp>
      <p:sp>
        <p:nvSpPr>
          <p:cNvPr id="25" name="Text 22"/>
          <p:cNvSpPr/>
          <p:nvPr/>
        </p:nvSpPr>
        <p:spPr>
          <a:xfrm>
            <a:off x="11475720" y="6519672"/>
            <a:ext cx="228600" cy="155448"/>
          </a:xfrm>
          <a:prstGeom prst="rect">
            <a:avLst/>
          </a:prstGeom>
          <a:noFill/>
          <a:ln/>
        </p:spPr>
        <p:txBody>
          <a:bodyPr wrap="square" lIns="0" tIns="0" rIns="0" bIns="0" rtlCol="0" anchor="ctr"/>
          <a:lstStyle/>
          <a:p>
            <a:pPr marL="0" indent="0" algn="r">
              <a:buNone/>
            </a:pPr>
            <a:r>
              <a:rPr lang="en-US" sz="800" dirty="0">
                <a:solidFill>
                  <a:srgbClr val="8B95A1"/>
                </a:solidFill>
              </a:rPr>
              <a:t>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6B2F8A"/>
          </a:solidFill>
          <a:ln w="12700">
            <a:solidFill>
              <a:srgbClr val="6B2F8A"/>
            </a:solidFill>
            <a:prstDash val="solid"/>
          </a:ln>
        </p:spPr>
      </p:sp>
      <p:sp>
        <p:nvSpPr>
          <p:cNvPr id="3" name="Text 1"/>
          <p:cNvSpPr/>
          <p:nvPr/>
        </p:nvSpPr>
        <p:spPr>
          <a:xfrm>
            <a:off x="502920" y="320040"/>
            <a:ext cx="9601200" cy="438912"/>
          </a:xfrm>
          <a:prstGeom prst="rect">
            <a:avLst/>
          </a:prstGeom>
          <a:noFill/>
          <a:ln/>
        </p:spPr>
        <p:txBody>
          <a:bodyPr wrap="square" lIns="127" tIns="127" rIns="127" bIns="127" rtlCol="0" anchor="ctr">
            <a:normAutofit lnSpcReduction="10000"/>
          </a:bodyPr>
          <a:lstStyle/>
          <a:p>
            <a:pPr marL="0" indent="0">
              <a:buNone/>
            </a:pPr>
            <a:r>
              <a:rPr lang="en-US" sz="3000" b="1" dirty="0">
                <a:solidFill>
                  <a:srgbClr val="162033"/>
                </a:solidFill>
                <a:latin typeface="Aptos Display" pitchFamily="34" charset="0"/>
                <a:ea typeface="Aptos Display" pitchFamily="34" charset="-122"/>
                <a:cs typeface="Aptos Display" pitchFamily="34" charset="-120"/>
              </a:rPr>
              <a:t>Future state: dashboard as the renewal front door</a:t>
            </a:r>
            <a:endParaRPr lang="en-US" sz="3000" dirty="0"/>
          </a:p>
        </p:txBody>
      </p:sp>
      <p:sp>
        <p:nvSpPr>
          <p:cNvPr id="4" name="Text 2"/>
          <p:cNvSpPr/>
          <p:nvPr/>
        </p:nvSpPr>
        <p:spPr>
          <a:xfrm>
            <a:off x="521208" y="804672"/>
            <a:ext cx="10515600" cy="256032"/>
          </a:xfrm>
          <a:prstGeom prst="rect">
            <a:avLst/>
          </a:prstGeom>
          <a:noFill/>
          <a:ln/>
        </p:spPr>
        <p:txBody>
          <a:bodyPr wrap="square" lIns="127" tIns="127" rIns="127" bIns="127" rtlCol="0" anchor="ctr">
            <a:normAutofit/>
          </a:bodyPr>
          <a:lstStyle/>
          <a:p>
            <a:pPr marL="0" indent="0">
              <a:buNone/>
            </a:pPr>
            <a:r>
              <a:rPr lang="en-US" sz="1200" dirty="0">
                <a:solidFill>
                  <a:srgbClr val="667085"/>
                </a:solidFill>
              </a:rPr>
              <a:t>The dashboard routes the request; the tower automation still performs the work.</a:t>
            </a:r>
            <a:endParaRPr lang="en-US" sz="1200" dirty="0"/>
          </a:p>
        </p:txBody>
      </p:sp>
      <p:sp>
        <p:nvSpPr>
          <p:cNvPr id="5" name="Shape 3"/>
          <p:cNvSpPr/>
          <p:nvPr/>
        </p:nvSpPr>
        <p:spPr>
          <a:xfrm>
            <a:off x="502920" y="1097280"/>
            <a:ext cx="11201400" cy="0"/>
          </a:xfrm>
          <a:prstGeom prst="line">
            <a:avLst/>
          </a:prstGeom>
          <a:noFill/>
          <a:ln w="12700">
            <a:solidFill>
              <a:srgbClr val="D8DEE9"/>
            </a:solidFill>
            <a:prstDash val="solid"/>
          </a:ln>
        </p:spPr>
      </p:sp>
      <p:sp>
        <p:nvSpPr>
          <p:cNvPr id="6" name="Shape 4"/>
          <p:cNvSpPr/>
          <p:nvPr/>
        </p:nvSpPr>
        <p:spPr>
          <a:xfrm>
            <a:off x="2103120" y="2322576"/>
            <a:ext cx="960120" cy="0"/>
          </a:xfrm>
          <a:prstGeom prst="line">
            <a:avLst/>
          </a:prstGeom>
          <a:noFill/>
          <a:ln w="19050">
            <a:solidFill>
              <a:srgbClr val="B9C2CF"/>
            </a:solidFill>
            <a:prstDash val="solid"/>
            <a:tailEnd type="triangle"/>
          </a:ln>
        </p:spPr>
      </p:sp>
      <p:sp>
        <p:nvSpPr>
          <p:cNvPr id="7" name="Shape 5"/>
          <p:cNvSpPr/>
          <p:nvPr/>
        </p:nvSpPr>
        <p:spPr>
          <a:xfrm>
            <a:off x="4041648" y="2322576"/>
            <a:ext cx="932688" cy="0"/>
          </a:xfrm>
          <a:prstGeom prst="line">
            <a:avLst/>
          </a:prstGeom>
          <a:noFill/>
          <a:ln w="19050">
            <a:solidFill>
              <a:srgbClr val="B9C2CF"/>
            </a:solidFill>
            <a:prstDash val="solid"/>
            <a:tailEnd type="triangle"/>
          </a:ln>
        </p:spPr>
      </p:sp>
      <p:sp>
        <p:nvSpPr>
          <p:cNvPr id="8" name="Shape 6"/>
          <p:cNvSpPr/>
          <p:nvPr/>
        </p:nvSpPr>
        <p:spPr>
          <a:xfrm>
            <a:off x="5925312" y="2322576"/>
            <a:ext cx="932688" cy="0"/>
          </a:xfrm>
          <a:prstGeom prst="line">
            <a:avLst/>
          </a:prstGeom>
          <a:noFill/>
          <a:ln w="19050">
            <a:solidFill>
              <a:srgbClr val="B9C2CF"/>
            </a:solidFill>
            <a:prstDash val="solid"/>
            <a:tailEnd type="triangle"/>
          </a:ln>
        </p:spPr>
      </p:sp>
      <p:sp>
        <p:nvSpPr>
          <p:cNvPr id="9" name="Shape 7"/>
          <p:cNvSpPr/>
          <p:nvPr/>
        </p:nvSpPr>
        <p:spPr>
          <a:xfrm>
            <a:off x="7818120" y="2322576"/>
            <a:ext cx="932688" cy="0"/>
          </a:xfrm>
          <a:prstGeom prst="line">
            <a:avLst/>
          </a:prstGeom>
          <a:noFill/>
          <a:ln w="19050">
            <a:solidFill>
              <a:srgbClr val="B9C2CF"/>
            </a:solidFill>
            <a:prstDash val="solid"/>
            <a:tailEnd type="triangle"/>
          </a:ln>
        </p:spPr>
      </p:sp>
      <p:sp>
        <p:nvSpPr>
          <p:cNvPr id="10" name="Shape 8"/>
          <p:cNvSpPr/>
          <p:nvPr/>
        </p:nvSpPr>
        <p:spPr>
          <a:xfrm>
            <a:off x="9710928" y="2322576"/>
            <a:ext cx="749808" cy="0"/>
          </a:xfrm>
          <a:prstGeom prst="line">
            <a:avLst/>
          </a:prstGeom>
          <a:noFill/>
          <a:ln w="19050">
            <a:solidFill>
              <a:srgbClr val="B9C2CF"/>
            </a:solidFill>
            <a:prstDash val="solid"/>
            <a:tailEnd type="triangle"/>
          </a:ln>
        </p:spPr>
      </p:sp>
      <p:sp>
        <p:nvSpPr>
          <p:cNvPr id="11" name="Text 9"/>
          <p:cNvSpPr/>
          <p:nvPr/>
        </p:nvSpPr>
        <p:spPr>
          <a:xfrm>
            <a:off x="658368" y="1938528"/>
            <a:ext cx="1417320" cy="868680"/>
          </a:xfrm>
          <a:prstGeom prst="rect">
            <a:avLst/>
          </a:prstGeom>
          <a:solidFill>
            <a:srgbClr val="1565C0"/>
          </a:solidFill>
          <a:ln>
            <a:solidFill>
              <a:srgbClr val="1565C0"/>
            </a:solidFill>
          </a:ln>
        </p:spPr>
        <p:txBody>
          <a:bodyPr wrap="square" lIns="635" tIns="635" rIns="635" bIns="635" rtlCol="0" anchor="ctr">
            <a:normAutofit/>
          </a:bodyPr>
          <a:lstStyle/>
          <a:p>
            <a:pPr marL="0" indent="0" algn="ctr">
              <a:buNone/>
            </a:pPr>
            <a:r>
              <a:rPr lang="en-US" sz="1060" b="1" dirty="0">
                <a:solidFill>
                  <a:srgbClr val="FFFFFF"/>
                </a:solidFill>
              </a:rPr>
              <a:t>Select
</a:t>
            </a:r>
            <a:r>
              <a:rPr lang="en-US" sz="1060" dirty="0">
                <a:solidFill>
                  <a:srgbClr val="FFFFFF"/>
                </a:solidFill>
              </a:rPr>
              <a:t>certificate</a:t>
            </a:r>
            <a:endParaRPr lang="en-US" sz="1060" dirty="0"/>
          </a:p>
          <a:p>
            <a:pPr marL="0" indent="0" algn="ctr">
              <a:buNone/>
            </a:pPr>
            <a:r>
              <a:rPr lang="en-US" sz="1060" dirty="0">
                <a:solidFill>
                  <a:srgbClr val="FFFFFF"/>
                </a:solidFill>
              </a:rPr>
              <a:t>in dashboard</a:t>
            </a:r>
            <a:endParaRPr lang="en-US" sz="1060" dirty="0"/>
          </a:p>
        </p:txBody>
      </p:sp>
      <p:sp>
        <p:nvSpPr>
          <p:cNvPr id="12" name="Text 10"/>
          <p:cNvSpPr/>
          <p:nvPr/>
        </p:nvSpPr>
        <p:spPr>
          <a:xfrm>
            <a:off x="3063240" y="1938528"/>
            <a:ext cx="960120" cy="868680"/>
          </a:xfrm>
          <a:prstGeom prst="rect">
            <a:avLst/>
          </a:prstGeom>
          <a:solidFill>
            <a:srgbClr val="6B2F8A"/>
          </a:solidFill>
          <a:ln>
            <a:solidFill>
              <a:srgbClr val="6B2F8A"/>
            </a:solidFill>
          </a:ln>
        </p:spPr>
        <p:txBody>
          <a:bodyPr wrap="square" lIns="635" tIns="635" rIns="635" bIns="635" rtlCol="0" anchor="ctr">
            <a:normAutofit/>
          </a:bodyPr>
          <a:lstStyle/>
          <a:p>
            <a:pPr marL="0" indent="0" algn="ctr">
              <a:buNone/>
            </a:pPr>
            <a:r>
              <a:rPr lang="en-US" sz="1060" b="1" dirty="0">
                <a:solidFill>
                  <a:srgbClr val="FFFFFF"/>
                </a:solidFill>
              </a:rPr>
              <a:t>Renew
</a:t>
            </a:r>
            <a:r>
              <a:rPr lang="en-US" sz="1060" dirty="0">
                <a:solidFill>
                  <a:srgbClr val="FFFFFF"/>
                </a:solidFill>
              </a:rPr>
              <a:t>controlled</a:t>
            </a:r>
            <a:endParaRPr lang="en-US" sz="1060" dirty="0"/>
          </a:p>
          <a:p>
            <a:pPr marL="0" indent="0" algn="ctr">
              <a:buNone/>
            </a:pPr>
            <a:r>
              <a:rPr lang="en-US" sz="1060" dirty="0">
                <a:solidFill>
                  <a:srgbClr val="FFFFFF"/>
                </a:solidFill>
              </a:rPr>
              <a:t>action</a:t>
            </a:r>
            <a:endParaRPr lang="en-US" sz="1060" dirty="0"/>
          </a:p>
        </p:txBody>
      </p:sp>
      <p:sp>
        <p:nvSpPr>
          <p:cNvPr id="13" name="Text 11"/>
          <p:cNvSpPr/>
          <p:nvPr/>
        </p:nvSpPr>
        <p:spPr>
          <a:xfrm>
            <a:off x="4983480" y="1938528"/>
            <a:ext cx="960120" cy="868680"/>
          </a:xfrm>
          <a:prstGeom prst="rect">
            <a:avLst/>
          </a:prstGeom>
          <a:solidFill>
            <a:srgbClr val="008C8C"/>
          </a:solidFill>
          <a:ln>
            <a:solidFill>
              <a:srgbClr val="008C8C"/>
            </a:solidFill>
          </a:ln>
        </p:spPr>
        <p:txBody>
          <a:bodyPr wrap="square" lIns="635" tIns="635" rIns="635" bIns="635" rtlCol="0" anchor="ctr">
            <a:normAutofit/>
          </a:bodyPr>
          <a:lstStyle/>
          <a:p>
            <a:pPr marL="0" indent="0" algn="ctr">
              <a:buNone/>
            </a:pPr>
            <a:r>
              <a:rPr lang="en-US" sz="1060" b="1" dirty="0">
                <a:solidFill>
                  <a:srgbClr val="FFFFFF"/>
                </a:solidFill>
              </a:rPr>
              <a:t>Validate
</a:t>
            </a:r>
            <a:r>
              <a:rPr lang="en-US" sz="1060" dirty="0">
                <a:solidFill>
                  <a:srgbClr val="FFFFFF"/>
                </a:solidFill>
              </a:rPr>
              <a:t>owner, env,</a:t>
            </a:r>
            <a:endParaRPr lang="en-US" sz="1060" dirty="0"/>
          </a:p>
          <a:p>
            <a:pPr marL="0" indent="0" algn="ctr">
              <a:buNone/>
            </a:pPr>
            <a:r>
              <a:rPr lang="en-US" sz="1060" dirty="0">
                <a:solidFill>
                  <a:srgbClr val="FFFFFF"/>
                </a:solidFill>
              </a:rPr>
              <a:t>method</a:t>
            </a:r>
            <a:endParaRPr lang="en-US" sz="1060" dirty="0"/>
          </a:p>
        </p:txBody>
      </p:sp>
      <p:sp>
        <p:nvSpPr>
          <p:cNvPr id="14" name="Text 12"/>
          <p:cNvSpPr/>
          <p:nvPr/>
        </p:nvSpPr>
        <p:spPr>
          <a:xfrm>
            <a:off x="6876288" y="1938528"/>
            <a:ext cx="960120" cy="868680"/>
          </a:xfrm>
          <a:prstGeom prst="rect">
            <a:avLst/>
          </a:prstGeom>
          <a:solidFill>
            <a:srgbClr val="B76E00"/>
          </a:solidFill>
          <a:ln>
            <a:solidFill>
              <a:srgbClr val="B76E00"/>
            </a:solidFill>
          </a:ln>
        </p:spPr>
        <p:txBody>
          <a:bodyPr wrap="square" lIns="635" tIns="635" rIns="635" bIns="635" rtlCol="0" anchor="ctr">
            <a:normAutofit/>
          </a:bodyPr>
          <a:lstStyle/>
          <a:p>
            <a:pPr marL="0" indent="0" algn="ctr">
              <a:buNone/>
            </a:pPr>
            <a:r>
              <a:rPr lang="en-US" sz="1060" b="1" dirty="0">
                <a:solidFill>
                  <a:srgbClr val="FFFFFF"/>
                </a:solidFill>
              </a:rPr>
              <a:t>Trigger
</a:t>
            </a:r>
            <a:r>
              <a:rPr lang="en-US" sz="1060" dirty="0">
                <a:solidFill>
                  <a:srgbClr val="FFFFFF"/>
                </a:solidFill>
              </a:rPr>
              <a:t>existing</a:t>
            </a:r>
            <a:endParaRPr lang="en-US" sz="1060" dirty="0"/>
          </a:p>
          <a:p>
            <a:pPr marL="0" indent="0" algn="ctr">
              <a:buNone/>
            </a:pPr>
            <a:r>
              <a:rPr lang="en-US" sz="1060" dirty="0">
                <a:solidFill>
                  <a:srgbClr val="FFFFFF"/>
                </a:solidFill>
              </a:rPr>
              <a:t>AAP job</a:t>
            </a:r>
            <a:endParaRPr lang="en-US" sz="1060" dirty="0"/>
          </a:p>
        </p:txBody>
      </p:sp>
      <p:sp>
        <p:nvSpPr>
          <p:cNvPr id="15" name="Text 13"/>
          <p:cNvSpPr/>
          <p:nvPr/>
        </p:nvSpPr>
        <p:spPr>
          <a:xfrm>
            <a:off x="8759952" y="1938528"/>
            <a:ext cx="960120" cy="868680"/>
          </a:xfrm>
          <a:prstGeom prst="rect">
            <a:avLst/>
          </a:prstGeom>
          <a:solidFill>
            <a:srgbClr val="162033"/>
          </a:solidFill>
          <a:ln>
            <a:solidFill>
              <a:srgbClr val="162033"/>
            </a:solidFill>
          </a:ln>
        </p:spPr>
        <p:txBody>
          <a:bodyPr wrap="square" lIns="635" tIns="635" rIns="635" bIns="635" rtlCol="0" anchor="ctr">
            <a:normAutofit/>
          </a:bodyPr>
          <a:lstStyle/>
          <a:p>
            <a:pPr marL="0" indent="0" algn="ctr">
              <a:buNone/>
            </a:pPr>
            <a:r>
              <a:rPr lang="en-US" sz="1060" b="1" dirty="0">
                <a:solidFill>
                  <a:srgbClr val="FFFFFF"/>
                </a:solidFill>
              </a:rPr>
              <a:t>Control
</a:t>
            </a:r>
            <a:r>
              <a:rPr lang="en-US" sz="1060" dirty="0">
                <a:solidFill>
                  <a:srgbClr val="FFFFFF"/>
                </a:solidFill>
              </a:rPr>
              <a:t>RITM / CHG</a:t>
            </a:r>
            <a:endParaRPr lang="en-US" sz="1060" dirty="0"/>
          </a:p>
          <a:p>
            <a:pPr marL="0" indent="0" algn="ctr">
              <a:buNone/>
            </a:pPr>
            <a:r>
              <a:rPr lang="en-US" sz="1060" dirty="0">
                <a:solidFill>
                  <a:srgbClr val="FFFFFF"/>
                </a:solidFill>
              </a:rPr>
              <a:t>approval</a:t>
            </a:r>
            <a:endParaRPr lang="en-US" sz="1060" dirty="0"/>
          </a:p>
        </p:txBody>
      </p:sp>
      <p:sp>
        <p:nvSpPr>
          <p:cNvPr id="16" name="Text 14"/>
          <p:cNvSpPr/>
          <p:nvPr/>
        </p:nvSpPr>
        <p:spPr>
          <a:xfrm>
            <a:off x="10469880" y="1938528"/>
            <a:ext cx="1051560" cy="868680"/>
          </a:xfrm>
          <a:prstGeom prst="rect">
            <a:avLst/>
          </a:prstGeom>
          <a:solidFill>
            <a:srgbClr val="2E7D32"/>
          </a:solidFill>
          <a:ln>
            <a:solidFill>
              <a:srgbClr val="2E7D32"/>
            </a:solidFill>
          </a:ln>
        </p:spPr>
        <p:txBody>
          <a:bodyPr wrap="square" lIns="635" tIns="635" rIns="635" bIns="635" rtlCol="0" anchor="ctr">
            <a:normAutofit/>
          </a:bodyPr>
          <a:lstStyle/>
          <a:p>
            <a:pPr marL="0" indent="0" algn="ctr">
              <a:buNone/>
            </a:pPr>
            <a:r>
              <a:rPr lang="en-US" sz="1060" b="1" dirty="0">
                <a:solidFill>
                  <a:srgbClr val="FFFFFF"/>
                </a:solidFill>
              </a:rPr>
              <a:t>Status
</a:t>
            </a:r>
            <a:r>
              <a:rPr lang="en-US" sz="1060" dirty="0">
                <a:solidFill>
                  <a:srgbClr val="FFFFFF"/>
                </a:solidFill>
              </a:rPr>
              <a:t>result back</a:t>
            </a:r>
            <a:endParaRPr lang="en-US" sz="1060" dirty="0"/>
          </a:p>
          <a:p>
            <a:pPr marL="0" indent="0" algn="ctr">
              <a:buNone/>
            </a:pPr>
            <a:r>
              <a:rPr lang="en-US" sz="1060" dirty="0">
                <a:solidFill>
                  <a:srgbClr val="FFFFFF"/>
                </a:solidFill>
              </a:rPr>
              <a:t>to dashboard</a:t>
            </a:r>
            <a:endParaRPr lang="en-US" sz="1060" dirty="0"/>
          </a:p>
        </p:txBody>
      </p:sp>
      <p:sp>
        <p:nvSpPr>
          <p:cNvPr id="17" name="Text 15"/>
          <p:cNvSpPr/>
          <p:nvPr/>
        </p:nvSpPr>
        <p:spPr>
          <a:xfrm>
            <a:off x="777240" y="3977640"/>
            <a:ext cx="2011680" cy="274320"/>
          </a:xfrm>
          <a:prstGeom prst="rect">
            <a:avLst/>
          </a:prstGeom>
          <a:noFill/>
          <a:ln/>
        </p:spPr>
        <p:txBody>
          <a:bodyPr wrap="square" lIns="0" tIns="0" rIns="0" bIns="0" rtlCol="0" anchor="ctr"/>
          <a:lstStyle/>
          <a:p>
            <a:pPr marL="0" indent="0">
              <a:buNone/>
            </a:pPr>
            <a:r>
              <a:rPr lang="en-US" sz="1800" b="1" dirty="0">
                <a:solidFill>
                  <a:srgbClr val="162033"/>
                </a:solidFill>
              </a:rPr>
              <a:t>What changes</a:t>
            </a:r>
            <a:endParaRPr lang="en-US" sz="1800" dirty="0"/>
          </a:p>
        </p:txBody>
      </p:sp>
      <p:sp>
        <p:nvSpPr>
          <p:cNvPr id="18" name="Text 16"/>
          <p:cNvSpPr/>
          <p:nvPr/>
        </p:nvSpPr>
        <p:spPr>
          <a:xfrm>
            <a:off x="822960" y="4407408"/>
            <a:ext cx="5257800" cy="1234440"/>
          </a:xfrm>
          <a:prstGeom prst="rect">
            <a:avLst/>
          </a:prstGeom>
          <a:noFill/>
          <a:ln/>
        </p:spPr>
        <p:txBody>
          <a:bodyPr wrap="square" lIns="381" tIns="381" rIns="381" bIns="381" rtlCol="0" anchor="ctr">
            <a:normAutofit fontScale="92500" lnSpcReduction="10000"/>
          </a:bodyPr>
          <a:lstStyle/>
          <a:p>
            <a:pPr marL="165100" indent="-165100">
              <a:buSzPct val="100000"/>
              <a:buChar char="•"/>
            </a:pPr>
            <a:r>
              <a:rPr lang="en-US" sz="1550" dirty="0">
                <a:solidFill>
                  <a:srgbClr val="162033"/>
                </a:solidFill>
              </a:rPr>
              <a:t>SREs start from one place instead of hunting for the right runbook or job.</a:t>
            </a:r>
            <a:endParaRPr lang="en-US" sz="1550" dirty="0"/>
          </a:p>
          <a:p>
            <a:pPr marL="165100" indent="-165100">
              <a:buSzPct val="100000"/>
              <a:buChar char="•"/>
            </a:pPr>
            <a:r>
              <a:rPr lang="en-US" sz="1550" dirty="0">
                <a:solidFill>
                  <a:srgbClr val="162033"/>
                </a:solidFill>
              </a:rPr>
              <a:t>The dashboard maps certificate → owner → renewal method → automation path.</a:t>
            </a:r>
            <a:endParaRPr lang="en-US" sz="1550" dirty="0"/>
          </a:p>
          <a:p>
            <a:pPr marL="165100" indent="-165100">
              <a:buSzPct val="100000"/>
              <a:buChar char="•"/>
            </a:pPr>
            <a:r>
              <a:rPr lang="en-US" sz="1550" dirty="0">
                <a:solidFill>
                  <a:srgbClr val="162033"/>
                </a:solidFill>
              </a:rPr>
              <a:t>Renewal status becomes visible to the same audience tracking expiry.</a:t>
            </a:r>
            <a:endParaRPr lang="en-US" sz="1550" dirty="0"/>
          </a:p>
        </p:txBody>
      </p:sp>
      <p:sp>
        <p:nvSpPr>
          <p:cNvPr id="19" name="Text 17"/>
          <p:cNvSpPr/>
          <p:nvPr/>
        </p:nvSpPr>
        <p:spPr>
          <a:xfrm>
            <a:off x="6492240" y="3977640"/>
            <a:ext cx="2286000" cy="274320"/>
          </a:xfrm>
          <a:prstGeom prst="rect">
            <a:avLst/>
          </a:prstGeom>
          <a:noFill/>
          <a:ln/>
        </p:spPr>
        <p:txBody>
          <a:bodyPr wrap="square" lIns="0" tIns="0" rIns="0" bIns="0" rtlCol="0" anchor="ctr"/>
          <a:lstStyle/>
          <a:p>
            <a:pPr marL="0" indent="0">
              <a:buNone/>
            </a:pPr>
            <a:r>
              <a:rPr lang="en-US" sz="1800" b="1" dirty="0">
                <a:solidFill>
                  <a:srgbClr val="162033"/>
                </a:solidFill>
              </a:rPr>
              <a:t>What stays intact</a:t>
            </a:r>
            <a:endParaRPr lang="en-US" sz="1800" dirty="0"/>
          </a:p>
        </p:txBody>
      </p:sp>
      <p:sp>
        <p:nvSpPr>
          <p:cNvPr id="20" name="Text 18"/>
          <p:cNvSpPr/>
          <p:nvPr/>
        </p:nvSpPr>
        <p:spPr>
          <a:xfrm>
            <a:off x="6537960" y="4407408"/>
            <a:ext cx="4663440" cy="1234440"/>
          </a:xfrm>
          <a:prstGeom prst="rect">
            <a:avLst/>
          </a:prstGeom>
          <a:noFill/>
          <a:ln/>
        </p:spPr>
        <p:txBody>
          <a:bodyPr wrap="square" lIns="381" tIns="381" rIns="381" bIns="381" rtlCol="0" anchor="ctr">
            <a:normAutofit/>
          </a:bodyPr>
          <a:lstStyle/>
          <a:p>
            <a:pPr marL="165100" indent="-165100">
              <a:buSzPct val="100000"/>
              <a:buChar char="•"/>
            </a:pPr>
            <a:r>
              <a:rPr lang="en-US" sz="1550" dirty="0">
                <a:solidFill>
                  <a:srgbClr val="162033"/>
                </a:solidFill>
              </a:rPr>
              <a:t>Tower teams keep ownership of their automation.</a:t>
            </a:r>
            <a:endParaRPr lang="en-US" sz="1550" dirty="0"/>
          </a:p>
          <a:p>
            <a:pPr marL="165100" indent="-165100">
              <a:buSzPct val="100000"/>
              <a:buChar char="•"/>
            </a:pPr>
            <a:r>
              <a:rPr lang="en-US" sz="1550" dirty="0">
                <a:solidFill>
                  <a:srgbClr val="162033"/>
                </a:solidFill>
              </a:rPr>
              <a:t>Production approvals and change controls are not bypassed.</a:t>
            </a:r>
            <a:endParaRPr lang="en-US" sz="1550" dirty="0"/>
          </a:p>
          <a:p>
            <a:pPr marL="165100" indent="-165100">
              <a:buSzPct val="100000"/>
              <a:buChar char="•"/>
            </a:pPr>
            <a:r>
              <a:rPr lang="en-US" sz="1550" dirty="0">
                <a:solidFill>
                  <a:srgbClr val="162033"/>
                </a:solidFill>
              </a:rPr>
              <a:t>The dashboard does not become a second automation framework.</a:t>
            </a:r>
            <a:endParaRPr lang="en-US" sz="1550" dirty="0"/>
          </a:p>
        </p:txBody>
      </p:sp>
      <p:sp>
        <p:nvSpPr>
          <p:cNvPr id="22" name="Text 19"/>
          <p:cNvSpPr/>
          <p:nvPr/>
        </p:nvSpPr>
        <p:spPr>
          <a:xfrm>
            <a:off x="502920" y="6537960"/>
            <a:ext cx="5486400" cy="155448"/>
          </a:xfrm>
          <a:prstGeom prst="rect">
            <a:avLst/>
          </a:prstGeom>
          <a:noFill/>
          <a:ln/>
        </p:spPr>
        <p:txBody>
          <a:bodyPr wrap="square" lIns="0" tIns="0" rIns="0" bIns="0" rtlCol="0" anchor="ctr"/>
          <a:lstStyle/>
          <a:p>
            <a:pPr marL="0" indent="0">
              <a:buNone/>
            </a:pPr>
            <a:r>
              <a:rPr lang="en-US" sz="800" dirty="0">
                <a:solidFill>
                  <a:srgbClr val="8B95A1"/>
                </a:solidFill>
              </a:rPr>
              <a:t>GPN SRE • Centralized Certificate Renewal Dashboard</a:t>
            </a:r>
            <a:endParaRPr lang="en-US" sz="800" dirty="0"/>
          </a:p>
        </p:txBody>
      </p:sp>
      <p:sp>
        <p:nvSpPr>
          <p:cNvPr id="23" name="Text 20"/>
          <p:cNvSpPr/>
          <p:nvPr/>
        </p:nvSpPr>
        <p:spPr>
          <a:xfrm>
            <a:off x="11475720" y="6519672"/>
            <a:ext cx="228600" cy="155448"/>
          </a:xfrm>
          <a:prstGeom prst="rect">
            <a:avLst/>
          </a:prstGeom>
          <a:noFill/>
          <a:ln/>
        </p:spPr>
        <p:txBody>
          <a:bodyPr wrap="square" lIns="0" tIns="0" rIns="0" bIns="0" rtlCol="0" anchor="ctr"/>
          <a:lstStyle/>
          <a:p>
            <a:pPr marL="0" indent="0" algn="r">
              <a:buNone/>
            </a:pPr>
            <a:r>
              <a:rPr lang="en-US" sz="800" dirty="0">
                <a:solidFill>
                  <a:srgbClr val="8B95A1"/>
                </a:solidFill>
              </a:rPr>
              <a:t>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6B2F8A"/>
          </a:solidFill>
          <a:ln w="12700">
            <a:solidFill>
              <a:srgbClr val="6B2F8A"/>
            </a:solidFill>
            <a:prstDash val="solid"/>
          </a:ln>
        </p:spPr>
      </p:sp>
      <p:sp>
        <p:nvSpPr>
          <p:cNvPr id="3" name="Text 1"/>
          <p:cNvSpPr/>
          <p:nvPr/>
        </p:nvSpPr>
        <p:spPr>
          <a:xfrm>
            <a:off x="502920" y="320040"/>
            <a:ext cx="9601200" cy="438912"/>
          </a:xfrm>
          <a:prstGeom prst="rect">
            <a:avLst/>
          </a:prstGeom>
          <a:noFill/>
          <a:ln/>
        </p:spPr>
        <p:txBody>
          <a:bodyPr wrap="square" lIns="127" tIns="127" rIns="127" bIns="127" rtlCol="0" anchor="ctr">
            <a:normAutofit lnSpcReduction="10000"/>
          </a:bodyPr>
          <a:lstStyle/>
          <a:p>
            <a:pPr marL="0" indent="0">
              <a:buNone/>
            </a:pPr>
            <a:r>
              <a:rPr lang="en-US" sz="3000" b="1" dirty="0">
                <a:solidFill>
                  <a:srgbClr val="162033"/>
                </a:solidFill>
                <a:latin typeface="Aptos Display" pitchFamily="34" charset="0"/>
                <a:ea typeface="Aptos Display" pitchFamily="34" charset="-122"/>
                <a:cs typeface="Aptos Display" pitchFamily="34" charset="-120"/>
              </a:rPr>
              <a:t>POC scope and success criteria</a:t>
            </a:r>
            <a:endParaRPr lang="en-US" sz="3000" dirty="0"/>
          </a:p>
        </p:txBody>
      </p:sp>
      <p:sp>
        <p:nvSpPr>
          <p:cNvPr id="5" name="Shape 3"/>
          <p:cNvSpPr/>
          <p:nvPr/>
        </p:nvSpPr>
        <p:spPr>
          <a:xfrm>
            <a:off x="502920" y="1097280"/>
            <a:ext cx="11201400" cy="0"/>
          </a:xfrm>
          <a:prstGeom prst="line">
            <a:avLst/>
          </a:prstGeom>
          <a:noFill/>
          <a:ln w="12700">
            <a:solidFill>
              <a:srgbClr val="D8DEE9"/>
            </a:solidFill>
            <a:prstDash val="solid"/>
          </a:ln>
        </p:spPr>
      </p:sp>
      <p:sp>
        <p:nvSpPr>
          <p:cNvPr id="6" name="Text 4"/>
          <p:cNvSpPr/>
          <p:nvPr/>
        </p:nvSpPr>
        <p:spPr>
          <a:xfrm>
            <a:off x="685800" y="1508760"/>
            <a:ext cx="5120640" cy="1234440"/>
          </a:xfrm>
          <a:prstGeom prst="rect">
            <a:avLst/>
          </a:prstGeom>
          <a:solidFill>
            <a:srgbClr val="F7F9FC"/>
          </a:solidFill>
          <a:ln w="12700">
            <a:solidFill>
              <a:srgbClr val="E6EAF0"/>
            </a:solidFill>
          </a:ln>
        </p:spPr>
        <p:txBody>
          <a:bodyPr wrap="square" lIns="1905" tIns="1905" rIns="1905" bIns="1905" rtlCol="0" anchor="t">
            <a:normAutofit/>
          </a:bodyPr>
          <a:lstStyle/>
          <a:p>
            <a:pPr marL="0" indent="0">
              <a:buNone/>
            </a:pPr>
            <a:r>
              <a:rPr lang="en-US" sz="1400" b="1" dirty="0">
                <a:solidFill>
                  <a:srgbClr val="1565C0"/>
                </a:solidFill>
              </a:rPr>
              <a:t>Digital
</a:t>
            </a:r>
            <a:r>
              <a:rPr lang="en-US" sz="1400" dirty="0">
                <a:solidFill>
                  <a:srgbClr val="162033"/>
                </a:solidFill>
              </a:rPr>
              <a:t>Existing AAP/Ansible automation with walkthrough completed. Good candidate to validate the first SNOW → AAP integration flow.</a:t>
            </a:r>
            <a:endParaRPr lang="en-US" sz="1400" dirty="0"/>
          </a:p>
        </p:txBody>
      </p:sp>
      <p:sp>
        <p:nvSpPr>
          <p:cNvPr id="7" name="Text 5"/>
          <p:cNvSpPr/>
          <p:nvPr/>
        </p:nvSpPr>
        <p:spPr>
          <a:xfrm>
            <a:off x="685800" y="2971800"/>
            <a:ext cx="5120640" cy="1234440"/>
          </a:xfrm>
          <a:prstGeom prst="rect">
            <a:avLst/>
          </a:prstGeom>
          <a:solidFill>
            <a:srgbClr val="F7F9FC"/>
          </a:solidFill>
          <a:ln w="12700">
            <a:solidFill>
              <a:srgbClr val="E6EAF0"/>
            </a:solidFill>
          </a:ln>
        </p:spPr>
        <p:txBody>
          <a:bodyPr wrap="square" lIns="1905" tIns="1905" rIns="1905" bIns="1905" rtlCol="0" anchor="t">
            <a:normAutofit/>
          </a:bodyPr>
          <a:lstStyle/>
          <a:p>
            <a:pPr marL="0" indent="0">
              <a:buNone/>
            </a:pPr>
            <a:r>
              <a:rPr lang="en-US" sz="1400" b="1" dirty="0">
                <a:solidFill>
                  <a:srgbClr val="6B2F8A"/>
                </a:solidFill>
              </a:rPr>
              <a:t>DCI NetAuth
</a:t>
            </a:r>
            <a:r>
              <a:rPr lang="en-US" sz="1400" dirty="0">
                <a:solidFill>
                  <a:srgbClr val="162033"/>
                </a:solidFill>
              </a:rPr>
              <a:t>Existing / in-progress AAP-based renewal work. Use as the next validation point to confirm reusability across towers.</a:t>
            </a:r>
            <a:endParaRPr lang="en-US" sz="1400" dirty="0"/>
          </a:p>
        </p:txBody>
      </p:sp>
      <p:sp>
        <p:nvSpPr>
          <p:cNvPr id="8" name="Text 6"/>
          <p:cNvSpPr/>
          <p:nvPr/>
        </p:nvSpPr>
        <p:spPr>
          <a:xfrm>
            <a:off x="6446520" y="1508760"/>
            <a:ext cx="4480560" cy="310896"/>
          </a:xfrm>
          <a:prstGeom prst="rect">
            <a:avLst/>
          </a:prstGeom>
          <a:noFill/>
          <a:ln/>
        </p:spPr>
        <p:txBody>
          <a:bodyPr wrap="square" lIns="0" tIns="0" rIns="0" bIns="0" rtlCol="0" anchor="ctr"/>
          <a:lstStyle/>
          <a:p>
            <a:pPr marL="0" indent="0">
              <a:buNone/>
            </a:pPr>
            <a:r>
              <a:rPr lang="en-US" sz="2000" b="1" dirty="0">
                <a:solidFill>
                  <a:srgbClr val="162033"/>
                </a:solidFill>
              </a:rPr>
              <a:t>POC success means we can answer</a:t>
            </a:r>
            <a:endParaRPr lang="en-US" sz="2000" dirty="0"/>
          </a:p>
        </p:txBody>
      </p:sp>
      <p:sp>
        <p:nvSpPr>
          <p:cNvPr id="9" name="Text 7"/>
          <p:cNvSpPr/>
          <p:nvPr/>
        </p:nvSpPr>
        <p:spPr>
          <a:xfrm>
            <a:off x="6446520" y="1965960"/>
            <a:ext cx="384048" cy="384048"/>
          </a:xfrm>
          <a:prstGeom prst="rect">
            <a:avLst/>
          </a:prstGeom>
          <a:solidFill>
            <a:srgbClr val="008C8C"/>
          </a:solidFill>
          <a:ln>
            <a:solidFill>
              <a:srgbClr val="008C8C"/>
            </a:solidFill>
          </a:ln>
        </p:spPr>
        <p:txBody>
          <a:bodyPr wrap="square" lIns="0" tIns="0" rIns="0" bIns="0" rtlCol="0" anchor="ctr"/>
          <a:lstStyle/>
          <a:p>
            <a:pPr marL="0" indent="0" algn="ctr">
              <a:buNone/>
            </a:pPr>
            <a:r>
              <a:rPr lang="en-US" sz="1500" b="1" dirty="0">
                <a:solidFill>
                  <a:srgbClr val="FFFFFF"/>
                </a:solidFill>
              </a:rPr>
              <a:t>1</a:t>
            </a:r>
            <a:endParaRPr lang="en-US" sz="1500" dirty="0"/>
          </a:p>
        </p:txBody>
      </p:sp>
      <p:sp>
        <p:nvSpPr>
          <p:cNvPr id="10" name="Text 8"/>
          <p:cNvSpPr/>
          <p:nvPr/>
        </p:nvSpPr>
        <p:spPr>
          <a:xfrm>
            <a:off x="6995160" y="1956816"/>
            <a:ext cx="4206240" cy="411480"/>
          </a:xfrm>
          <a:prstGeom prst="rect">
            <a:avLst/>
          </a:prstGeom>
          <a:noFill/>
          <a:ln/>
        </p:spPr>
        <p:txBody>
          <a:bodyPr wrap="square" lIns="0" tIns="0" rIns="0" bIns="0" rtlCol="0" anchor="ctr">
            <a:normAutofit lnSpcReduction="10000"/>
          </a:bodyPr>
          <a:lstStyle/>
          <a:p>
            <a:pPr marL="0" indent="0">
              <a:buNone/>
            </a:pPr>
            <a:r>
              <a:rPr lang="en-US" sz="1450" dirty="0">
                <a:solidFill>
                  <a:srgbClr val="162033"/>
                </a:solidFill>
              </a:rPr>
              <a:t>Can the dashboard safely trigger the right existing AAP job?</a:t>
            </a:r>
            <a:endParaRPr lang="en-US" sz="1450" dirty="0"/>
          </a:p>
        </p:txBody>
      </p:sp>
      <p:sp>
        <p:nvSpPr>
          <p:cNvPr id="11" name="Text 9"/>
          <p:cNvSpPr/>
          <p:nvPr/>
        </p:nvSpPr>
        <p:spPr>
          <a:xfrm>
            <a:off x="6446520" y="2715768"/>
            <a:ext cx="384048" cy="384048"/>
          </a:xfrm>
          <a:prstGeom prst="rect">
            <a:avLst/>
          </a:prstGeom>
          <a:solidFill>
            <a:srgbClr val="008C8C"/>
          </a:solidFill>
          <a:ln>
            <a:solidFill>
              <a:srgbClr val="008C8C"/>
            </a:solidFill>
          </a:ln>
        </p:spPr>
        <p:txBody>
          <a:bodyPr wrap="square" lIns="0" tIns="0" rIns="0" bIns="0" rtlCol="0" anchor="ctr"/>
          <a:lstStyle/>
          <a:p>
            <a:pPr marL="0" indent="0" algn="ctr">
              <a:buNone/>
            </a:pPr>
            <a:r>
              <a:rPr lang="en-US" sz="1500" b="1" dirty="0">
                <a:solidFill>
                  <a:srgbClr val="FFFFFF"/>
                </a:solidFill>
              </a:rPr>
              <a:t>2</a:t>
            </a:r>
            <a:endParaRPr lang="en-US" sz="1500" dirty="0"/>
          </a:p>
        </p:txBody>
      </p:sp>
      <p:sp>
        <p:nvSpPr>
          <p:cNvPr id="12" name="Text 10"/>
          <p:cNvSpPr/>
          <p:nvPr/>
        </p:nvSpPr>
        <p:spPr>
          <a:xfrm>
            <a:off x="6995160" y="2706624"/>
            <a:ext cx="4206240" cy="411480"/>
          </a:xfrm>
          <a:prstGeom prst="rect">
            <a:avLst/>
          </a:prstGeom>
          <a:noFill/>
          <a:ln/>
        </p:spPr>
        <p:txBody>
          <a:bodyPr wrap="square" lIns="0" tIns="0" rIns="0" bIns="0" rtlCol="0" anchor="ctr">
            <a:normAutofit lnSpcReduction="10000"/>
          </a:bodyPr>
          <a:lstStyle/>
          <a:p>
            <a:pPr marL="0" indent="0">
              <a:buNone/>
            </a:pPr>
            <a:r>
              <a:rPr lang="en-US" sz="1450" dirty="0">
                <a:solidFill>
                  <a:srgbClr val="162033"/>
                </a:solidFill>
              </a:rPr>
              <a:t>Can we pass the required certificate/environment inputs?</a:t>
            </a:r>
            <a:endParaRPr lang="en-US" sz="1450" dirty="0"/>
          </a:p>
        </p:txBody>
      </p:sp>
      <p:sp>
        <p:nvSpPr>
          <p:cNvPr id="13" name="Text 11"/>
          <p:cNvSpPr/>
          <p:nvPr/>
        </p:nvSpPr>
        <p:spPr>
          <a:xfrm>
            <a:off x="6446520" y="3465576"/>
            <a:ext cx="384048" cy="384048"/>
          </a:xfrm>
          <a:prstGeom prst="rect">
            <a:avLst/>
          </a:prstGeom>
          <a:solidFill>
            <a:srgbClr val="008C8C"/>
          </a:solidFill>
          <a:ln>
            <a:solidFill>
              <a:srgbClr val="008C8C"/>
            </a:solidFill>
          </a:ln>
        </p:spPr>
        <p:txBody>
          <a:bodyPr wrap="square" lIns="0" tIns="0" rIns="0" bIns="0" rtlCol="0" anchor="ctr"/>
          <a:lstStyle/>
          <a:p>
            <a:pPr marL="0" indent="0" algn="ctr">
              <a:buNone/>
            </a:pPr>
            <a:r>
              <a:rPr lang="en-US" sz="1500" b="1" dirty="0">
                <a:solidFill>
                  <a:srgbClr val="FFFFFF"/>
                </a:solidFill>
              </a:rPr>
              <a:t>3</a:t>
            </a:r>
            <a:endParaRPr lang="en-US" sz="1500" dirty="0"/>
          </a:p>
        </p:txBody>
      </p:sp>
      <p:sp>
        <p:nvSpPr>
          <p:cNvPr id="14" name="Text 12"/>
          <p:cNvSpPr/>
          <p:nvPr/>
        </p:nvSpPr>
        <p:spPr>
          <a:xfrm>
            <a:off x="6995160" y="3456432"/>
            <a:ext cx="4206240" cy="411480"/>
          </a:xfrm>
          <a:prstGeom prst="rect">
            <a:avLst/>
          </a:prstGeom>
          <a:noFill/>
          <a:ln/>
        </p:spPr>
        <p:txBody>
          <a:bodyPr wrap="square" lIns="0" tIns="0" rIns="0" bIns="0" rtlCol="0" anchor="ctr">
            <a:normAutofit/>
          </a:bodyPr>
          <a:lstStyle/>
          <a:p>
            <a:pPr marL="0" indent="0">
              <a:buNone/>
            </a:pPr>
            <a:r>
              <a:rPr lang="en-US" sz="1450" dirty="0">
                <a:solidFill>
                  <a:srgbClr val="162033"/>
                </a:solidFill>
              </a:rPr>
              <a:t>Can we retrieve job ID, status, and result?</a:t>
            </a:r>
            <a:endParaRPr lang="en-US" sz="1450" dirty="0"/>
          </a:p>
        </p:txBody>
      </p:sp>
      <p:sp>
        <p:nvSpPr>
          <p:cNvPr id="15" name="Text 13"/>
          <p:cNvSpPr/>
          <p:nvPr/>
        </p:nvSpPr>
        <p:spPr>
          <a:xfrm>
            <a:off x="6446520" y="4215384"/>
            <a:ext cx="384048" cy="384048"/>
          </a:xfrm>
          <a:prstGeom prst="rect">
            <a:avLst/>
          </a:prstGeom>
          <a:solidFill>
            <a:srgbClr val="008C8C"/>
          </a:solidFill>
          <a:ln>
            <a:solidFill>
              <a:srgbClr val="008C8C"/>
            </a:solidFill>
          </a:ln>
        </p:spPr>
        <p:txBody>
          <a:bodyPr wrap="square" lIns="0" tIns="0" rIns="0" bIns="0" rtlCol="0" anchor="ctr"/>
          <a:lstStyle/>
          <a:p>
            <a:pPr marL="0" indent="0" algn="ctr">
              <a:buNone/>
            </a:pPr>
            <a:r>
              <a:rPr lang="en-US" sz="1500" b="1" dirty="0">
                <a:solidFill>
                  <a:srgbClr val="FFFFFF"/>
                </a:solidFill>
              </a:rPr>
              <a:t>4</a:t>
            </a:r>
            <a:endParaRPr lang="en-US" sz="1500" dirty="0"/>
          </a:p>
        </p:txBody>
      </p:sp>
      <p:sp>
        <p:nvSpPr>
          <p:cNvPr id="16" name="Text 14"/>
          <p:cNvSpPr/>
          <p:nvPr/>
        </p:nvSpPr>
        <p:spPr>
          <a:xfrm>
            <a:off x="6995160" y="4206240"/>
            <a:ext cx="4206240" cy="411480"/>
          </a:xfrm>
          <a:prstGeom prst="rect">
            <a:avLst/>
          </a:prstGeom>
          <a:noFill/>
          <a:ln/>
        </p:spPr>
        <p:txBody>
          <a:bodyPr wrap="square" lIns="0" tIns="0" rIns="0" bIns="0" rtlCol="0" anchor="ctr">
            <a:normAutofit/>
          </a:bodyPr>
          <a:lstStyle/>
          <a:p>
            <a:pPr marL="0" indent="0">
              <a:buNone/>
            </a:pPr>
            <a:r>
              <a:rPr lang="en-US" sz="1450" dirty="0">
                <a:solidFill>
                  <a:srgbClr val="162033"/>
                </a:solidFill>
              </a:rPr>
              <a:t>Can RITM/CHG/approval controls remain intact?</a:t>
            </a:r>
            <a:endParaRPr lang="en-US" sz="1450" dirty="0"/>
          </a:p>
        </p:txBody>
      </p:sp>
      <p:sp>
        <p:nvSpPr>
          <p:cNvPr id="17" name="Text 15"/>
          <p:cNvSpPr/>
          <p:nvPr/>
        </p:nvSpPr>
        <p:spPr>
          <a:xfrm>
            <a:off x="777240" y="5074920"/>
            <a:ext cx="2011680" cy="228600"/>
          </a:xfrm>
          <a:prstGeom prst="rect">
            <a:avLst/>
          </a:prstGeom>
          <a:noFill/>
          <a:ln/>
        </p:spPr>
        <p:txBody>
          <a:bodyPr wrap="square" lIns="0" tIns="0" rIns="0" bIns="0" rtlCol="0" anchor="ctr"/>
          <a:lstStyle/>
          <a:p>
            <a:pPr marL="0" indent="0">
              <a:buNone/>
            </a:pPr>
            <a:r>
              <a:rPr lang="en-US" sz="1350" b="1" dirty="0">
                <a:solidFill>
                  <a:srgbClr val="6B2F8A"/>
                </a:solidFill>
              </a:rPr>
              <a:t>POC mindset</a:t>
            </a:r>
            <a:endParaRPr lang="en-US" sz="1350" dirty="0"/>
          </a:p>
        </p:txBody>
      </p:sp>
      <p:sp>
        <p:nvSpPr>
          <p:cNvPr id="18" name="Text 16"/>
          <p:cNvSpPr/>
          <p:nvPr/>
        </p:nvSpPr>
        <p:spPr>
          <a:xfrm>
            <a:off x="777240" y="5394960"/>
            <a:ext cx="9966960" cy="502920"/>
          </a:xfrm>
          <a:prstGeom prst="rect">
            <a:avLst/>
          </a:prstGeom>
          <a:noFill/>
          <a:ln/>
        </p:spPr>
        <p:txBody>
          <a:bodyPr wrap="square" lIns="0" tIns="0" rIns="0" bIns="0" rtlCol="0" anchor="ctr">
            <a:normAutofit fontScale="92500" lnSpcReduction="20000"/>
          </a:bodyPr>
          <a:lstStyle/>
          <a:p>
            <a:pPr marL="0" indent="0">
              <a:buNone/>
            </a:pPr>
            <a:r>
              <a:rPr lang="en-US" sz="2100" b="1" dirty="0">
                <a:solidFill>
                  <a:srgbClr val="162033"/>
                </a:solidFill>
              </a:rPr>
              <a:t>Start controlled in non-prod, document the integration contract, and reuse the learning for the next tower.</a:t>
            </a:r>
            <a:endParaRPr lang="en-US" sz="2100" dirty="0"/>
          </a:p>
        </p:txBody>
      </p:sp>
      <p:sp>
        <p:nvSpPr>
          <p:cNvPr id="20" name="Text 17"/>
          <p:cNvSpPr/>
          <p:nvPr/>
        </p:nvSpPr>
        <p:spPr>
          <a:xfrm>
            <a:off x="502920" y="6537960"/>
            <a:ext cx="5486400" cy="155448"/>
          </a:xfrm>
          <a:prstGeom prst="rect">
            <a:avLst/>
          </a:prstGeom>
          <a:noFill/>
          <a:ln/>
        </p:spPr>
        <p:txBody>
          <a:bodyPr wrap="square" lIns="0" tIns="0" rIns="0" bIns="0" rtlCol="0" anchor="ctr"/>
          <a:lstStyle/>
          <a:p>
            <a:pPr marL="0" indent="0">
              <a:buNone/>
            </a:pPr>
            <a:r>
              <a:rPr lang="en-US" sz="800" dirty="0">
                <a:solidFill>
                  <a:srgbClr val="8B95A1"/>
                </a:solidFill>
              </a:rPr>
              <a:t>GPN SRE • Centralized Certificate Renewal Dashboard</a:t>
            </a:r>
            <a:endParaRPr lang="en-US" sz="800" dirty="0"/>
          </a:p>
        </p:txBody>
      </p:sp>
      <p:sp>
        <p:nvSpPr>
          <p:cNvPr id="21" name="Text 18"/>
          <p:cNvSpPr/>
          <p:nvPr/>
        </p:nvSpPr>
        <p:spPr>
          <a:xfrm>
            <a:off x="11475720" y="6519672"/>
            <a:ext cx="228600" cy="155448"/>
          </a:xfrm>
          <a:prstGeom prst="rect">
            <a:avLst/>
          </a:prstGeom>
          <a:noFill/>
          <a:ln/>
        </p:spPr>
        <p:txBody>
          <a:bodyPr wrap="square" lIns="0" tIns="0" rIns="0" bIns="0" rtlCol="0" anchor="ctr"/>
          <a:lstStyle/>
          <a:p>
            <a:pPr marL="0" indent="0" algn="r">
              <a:buNone/>
            </a:pPr>
            <a:r>
              <a:rPr lang="en-US" sz="800" dirty="0">
                <a:solidFill>
                  <a:srgbClr val="8B95A1"/>
                </a:solidFill>
              </a:rPr>
              <a:t>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6B2F8A"/>
          </a:solidFill>
          <a:ln w="12700">
            <a:solidFill>
              <a:srgbClr val="6B2F8A"/>
            </a:solidFill>
            <a:prstDash val="solid"/>
          </a:ln>
        </p:spPr>
      </p:sp>
      <p:sp>
        <p:nvSpPr>
          <p:cNvPr id="3" name="Text 1"/>
          <p:cNvSpPr/>
          <p:nvPr/>
        </p:nvSpPr>
        <p:spPr>
          <a:xfrm>
            <a:off x="502920" y="320040"/>
            <a:ext cx="9601200" cy="438912"/>
          </a:xfrm>
          <a:prstGeom prst="rect">
            <a:avLst/>
          </a:prstGeom>
          <a:noFill/>
          <a:ln/>
        </p:spPr>
        <p:txBody>
          <a:bodyPr wrap="square" lIns="127" tIns="127" rIns="127" bIns="127" rtlCol="0" anchor="ctr">
            <a:normAutofit lnSpcReduction="10000"/>
          </a:bodyPr>
          <a:lstStyle/>
          <a:p>
            <a:pPr marL="0" indent="0">
              <a:buNone/>
            </a:pPr>
            <a:r>
              <a:rPr lang="en-US" sz="3000" b="1" dirty="0">
                <a:solidFill>
                  <a:srgbClr val="162033"/>
                </a:solidFill>
                <a:latin typeface="Aptos Display" pitchFamily="34" charset="0"/>
                <a:ea typeface="Aptos Display" pitchFamily="34" charset="-122"/>
                <a:cs typeface="Aptos Display" pitchFamily="34" charset="-120"/>
              </a:rPr>
              <a:t>Open dependencies</a:t>
            </a:r>
            <a:endParaRPr lang="en-US" sz="3000" dirty="0"/>
          </a:p>
        </p:txBody>
      </p:sp>
      <p:sp>
        <p:nvSpPr>
          <p:cNvPr id="4" name="Text 2"/>
          <p:cNvSpPr/>
          <p:nvPr/>
        </p:nvSpPr>
        <p:spPr>
          <a:xfrm>
            <a:off x="521208" y="804672"/>
            <a:ext cx="10515600" cy="256032"/>
          </a:xfrm>
          <a:prstGeom prst="rect">
            <a:avLst/>
          </a:prstGeom>
          <a:noFill/>
          <a:ln/>
        </p:spPr>
        <p:txBody>
          <a:bodyPr wrap="square" lIns="127" tIns="127" rIns="127" bIns="127" rtlCol="0" anchor="ctr">
            <a:normAutofit/>
          </a:bodyPr>
          <a:lstStyle/>
          <a:p>
            <a:pPr marL="0" indent="0">
              <a:buNone/>
            </a:pPr>
            <a:r>
              <a:rPr lang="en-US" sz="1200" dirty="0">
                <a:solidFill>
                  <a:srgbClr val="667085"/>
                </a:solidFill>
              </a:rPr>
              <a:t>These are the items that decide where and how we build the POC.</a:t>
            </a:r>
            <a:endParaRPr lang="en-US" sz="1200" dirty="0"/>
          </a:p>
        </p:txBody>
      </p:sp>
      <p:sp>
        <p:nvSpPr>
          <p:cNvPr id="5" name="Shape 3"/>
          <p:cNvSpPr/>
          <p:nvPr/>
        </p:nvSpPr>
        <p:spPr>
          <a:xfrm>
            <a:off x="502920" y="1097280"/>
            <a:ext cx="11201400" cy="0"/>
          </a:xfrm>
          <a:prstGeom prst="line">
            <a:avLst/>
          </a:prstGeom>
          <a:noFill/>
          <a:ln w="12700">
            <a:solidFill>
              <a:srgbClr val="D8DEE9"/>
            </a:solidFill>
            <a:prstDash val="solid"/>
          </a:ln>
        </p:spPr>
      </p:sp>
      <p:sp>
        <p:nvSpPr>
          <p:cNvPr id="6" name="Text 4"/>
          <p:cNvSpPr/>
          <p:nvPr/>
        </p:nvSpPr>
        <p:spPr>
          <a:xfrm>
            <a:off x="594360" y="1417320"/>
            <a:ext cx="2331720" cy="411480"/>
          </a:xfrm>
          <a:prstGeom prst="rect">
            <a:avLst/>
          </a:prstGeom>
          <a:solidFill>
            <a:srgbClr val="EEF4FF"/>
          </a:solidFill>
          <a:ln w="10160">
            <a:solidFill>
              <a:srgbClr val="D0D5DD"/>
            </a:solidFill>
          </a:ln>
        </p:spPr>
        <p:txBody>
          <a:bodyPr wrap="square" lIns="889" tIns="889" rIns="889" bIns="889" rtlCol="0" anchor="ctr">
            <a:normAutofit/>
          </a:bodyPr>
          <a:lstStyle/>
          <a:p>
            <a:pPr marL="0" indent="0">
              <a:buNone/>
            </a:pPr>
            <a:r>
              <a:rPr lang="en-US" sz="1130" b="1" dirty="0">
                <a:solidFill>
                  <a:srgbClr val="162033"/>
                </a:solidFill>
              </a:rPr>
              <a:t>Dependency</a:t>
            </a:r>
            <a:endParaRPr lang="en-US" sz="1130" dirty="0"/>
          </a:p>
        </p:txBody>
      </p:sp>
      <p:sp>
        <p:nvSpPr>
          <p:cNvPr id="7" name="Text 5"/>
          <p:cNvSpPr/>
          <p:nvPr/>
        </p:nvSpPr>
        <p:spPr>
          <a:xfrm>
            <a:off x="2926080" y="1417320"/>
            <a:ext cx="4023360" cy="411480"/>
          </a:xfrm>
          <a:prstGeom prst="rect">
            <a:avLst/>
          </a:prstGeom>
          <a:solidFill>
            <a:srgbClr val="EEF4FF"/>
          </a:solidFill>
          <a:ln w="10160">
            <a:solidFill>
              <a:srgbClr val="D0D5DD"/>
            </a:solidFill>
          </a:ln>
        </p:spPr>
        <p:txBody>
          <a:bodyPr wrap="square" lIns="889" tIns="889" rIns="889" bIns="889" rtlCol="0" anchor="ctr">
            <a:normAutofit/>
          </a:bodyPr>
          <a:lstStyle/>
          <a:p>
            <a:pPr marL="0" indent="0">
              <a:buNone/>
            </a:pPr>
            <a:r>
              <a:rPr lang="en-US" sz="1130" b="1" dirty="0">
                <a:solidFill>
                  <a:srgbClr val="162033"/>
                </a:solidFill>
              </a:rPr>
              <a:t>Current status</a:t>
            </a:r>
            <a:endParaRPr lang="en-US" sz="1130" dirty="0"/>
          </a:p>
        </p:txBody>
      </p:sp>
      <p:sp>
        <p:nvSpPr>
          <p:cNvPr id="8" name="Text 6"/>
          <p:cNvSpPr/>
          <p:nvPr/>
        </p:nvSpPr>
        <p:spPr>
          <a:xfrm>
            <a:off x="6949440" y="1417320"/>
            <a:ext cx="4572000" cy="411480"/>
          </a:xfrm>
          <a:prstGeom prst="rect">
            <a:avLst/>
          </a:prstGeom>
          <a:solidFill>
            <a:srgbClr val="EEF4FF"/>
          </a:solidFill>
          <a:ln w="10160">
            <a:solidFill>
              <a:srgbClr val="D0D5DD"/>
            </a:solidFill>
          </a:ln>
        </p:spPr>
        <p:txBody>
          <a:bodyPr wrap="square" lIns="889" tIns="889" rIns="889" bIns="889" rtlCol="0" anchor="ctr">
            <a:normAutofit/>
          </a:bodyPr>
          <a:lstStyle/>
          <a:p>
            <a:pPr marL="0" indent="0">
              <a:buNone/>
            </a:pPr>
            <a:r>
              <a:rPr lang="en-US" sz="1130" b="1" dirty="0">
                <a:solidFill>
                  <a:srgbClr val="162033"/>
                </a:solidFill>
              </a:rPr>
              <a:t>Decision / need</a:t>
            </a:r>
            <a:endParaRPr lang="en-US" sz="1130" dirty="0"/>
          </a:p>
        </p:txBody>
      </p:sp>
      <p:sp>
        <p:nvSpPr>
          <p:cNvPr id="9" name="Text 7"/>
          <p:cNvSpPr/>
          <p:nvPr/>
        </p:nvSpPr>
        <p:spPr>
          <a:xfrm>
            <a:off x="594360" y="1828800"/>
            <a:ext cx="2331720" cy="694944"/>
          </a:xfrm>
          <a:prstGeom prst="rect">
            <a:avLst/>
          </a:prstGeom>
          <a:solidFill>
            <a:srgbClr val="FFFFFF"/>
          </a:solidFill>
          <a:ln w="10160">
            <a:solidFill>
              <a:srgbClr val="D0D5DD"/>
            </a:solidFill>
          </a:ln>
        </p:spPr>
        <p:txBody>
          <a:bodyPr wrap="square" lIns="889" tIns="889" rIns="889" bIns="889" rtlCol="0" anchor="ctr">
            <a:normAutofit/>
          </a:bodyPr>
          <a:lstStyle/>
          <a:p>
            <a:pPr marL="0" indent="0">
              <a:buNone/>
            </a:pPr>
            <a:r>
              <a:rPr lang="en-US" sz="1100" dirty="0">
                <a:solidFill>
                  <a:srgbClr val="162033"/>
                </a:solidFill>
              </a:rPr>
              <a:t>AAP integration path</a:t>
            </a:r>
            <a:endParaRPr lang="en-US" sz="1100" dirty="0"/>
          </a:p>
        </p:txBody>
      </p:sp>
      <p:sp>
        <p:nvSpPr>
          <p:cNvPr id="10" name="Text 8"/>
          <p:cNvSpPr/>
          <p:nvPr/>
        </p:nvSpPr>
        <p:spPr>
          <a:xfrm>
            <a:off x="2926080" y="1828800"/>
            <a:ext cx="4023360" cy="694944"/>
          </a:xfrm>
          <a:prstGeom prst="rect">
            <a:avLst/>
          </a:prstGeom>
          <a:solidFill>
            <a:srgbClr val="FFFFFF"/>
          </a:solidFill>
          <a:ln w="10160">
            <a:solidFill>
              <a:srgbClr val="D0D5DD"/>
            </a:solidFill>
          </a:ln>
        </p:spPr>
        <p:txBody>
          <a:bodyPr wrap="square" lIns="889" tIns="889" rIns="889" bIns="889" rtlCol="0" anchor="ctr">
            <a:normAutofit/>
          </a:bodyPr>
          <a:lstStyle/>
          <a:p>
            <a:pPr marL="0" indent="0">
              <a:buNone/>
            </a:pPr>
            <a:r>
              <a:rPr lang="en-US" sz="1100" dirty="0">
                <a:solidFill>
                  <a:srgbClr val="162033"/>
                </a:solidFill>
              </a:rPr>
              <a:t>dCloud ticket raised: INC24193491</a:t>
            </a:r>
            <a:endParaRPr lang="en-US" sz="1100" dirty="0"/>
          </a:p>
        </p:txBody>
      </p:sp>
      <p:sp>
        <p:nvSpPr>
          <p:cNvPr id="11" name="Text 9"/>
          <p:cNvSpPr/>
          <p:nvPr/>
        </p:nvSpPr>
        <p:spPr>
          <a:xfrm>
            <a:off x="6949440" y="1828800"/>
            <a:ext cx="4572000" cy="694944"/>
          </a:xfrm>
          <a:prstGeom prst="rect">
            <a:avLst/>
          </a:prstGeom>
          <a:solidFill>
            <a:srgbClr val="FFFFFF"/>
          </a:solidFill>
          <a:ln w="10160">
            <a:solidFill>
              <a:srgbClr val="D0D5DD"/>
            </a:solidFill>
          </a:ln>
        </p:spPr>
        <p:txBody>
          <a:bodyPr wrap="square" lIns="889" tIns="889" rIns="889" bIns="889" rtlCol="0" anchor="ctr">
            <a:normAutofit/>
          </a:bodyPr>
          <a:lstStyle/>
          <a:p>
            <a:pPr marL="0" indent="0">
              <a:buNone/>
            </a:pPr>
            <a:r>
              <a:rPr lang="en-US" sz="1100" dirty="0">
                <a:solidFill>
                  <a:srgbClr val="162033"/>
                </a:solidFill>
              </a:rPr>
              <a:t>Confirm supported API/spoke and job status retrieval</a:t>
            </a:r>
            <a:endParaRPr lang="en-US" sz="1100" dirty="0"/>
          </a:p>
        </p:txBody>
      </p:sp>
      <p:sp>
        <p:nvSpPr>
          <p:cNvPr id="12" name="Text 10"/>
          <p:cNvSpPr/>
          <p:nvPr/>
        </p:nvSpPr>
        <p:spPr>
          <a:xfrm>
            <a:off x="594360" y="2523744"/>
            <a:ext cx="2331720" cy="694944"/>
          </a:xfrm>
          <a:prstGeom prst="rect">
            <a:avLst/>
          </a:prstGeom>
          <a:solidFill>
            <a:srgbClr val="FFFFFF"/>
          </a:solidFill>
          <a:ln w="10160">
            <a:solidFill>
              <a:srgbClr val="D0D5DD"/>
            </a:solidFill>
          </a:ln>
        </p:spPr>
        <p:txBody>
          <a:bodyPr wrap="square" lIns="889" tIns="889" rIns="889" bIns="889" rtlCol="0" anchor="ctr">
            <a:normAutofit/>
          </a:bodyPr>
          <a:lstStyle/>
          <a:p>
            <a:pPr marL="0" indent="0">
              <a:buNone/>
            </a:pPr>
            <a:r>
              <a:rPr lang="en-US" sz="1100" dirty="0">
                <a:solidFill>
                  <a:srgbClr val="162033"/>
                </a:solidFill>
              </a:rPr>
              <a:t>ServiceNow build location</a:t>
            </a:r>
            <a:endParaRPr lang="en-US" sz="1100" dirty="0"/>
          </a:p>
        </p:txBody>
      </p:sp>
      <p:sp>
        <p:nvSpPr>
          <p:cNvPr id="13" name="Text 11"/>
          <p:cNvSpPr/>
          <p:nvPr/>
        </p:nvSpPr>
        <p:spPr>
          <a:xfrm>
            <a:off x="2926080" y="2523744"/>
            <a:ext cx="4023360" cy="694944"/>
          </a:xfrm>
          <a:prstGeom prst="rect">
            <a:avLst/>
          </a:prstGeom>
          <a:solidFill>
            <a:srgbClr val="FFFFFF"/>
          </a:solidFill>
          <a:ln w="10160">
            <a:solidFill>
              <a:srgbClr val="D0D5DD"/>
            </a:solidFill>
          </a:ln>
        </p:spPr>
        <p:txBody>
          <a:bodyPr wrap="square" lIns="889" tIns="889" rIns="889" bIns="889" rtlCol="0" anchor="ctr">
            <a:normAutofit/>
          </a:bodyPr>
          <a:lstStyle/>
          <a:p>
            <a:pPr marL="0" indent="0">
              <a:buNone/>
            </a:pPr>
            <a:r>
              <a:rPr lang="en-US" sz="1100" dirty="0">
                <a:solidFill>
                  <a:srgbClr val="162033"/>
                </a:solidFill>
              </a:rPr>
              <a:t>DFS ServiceNow has limited runway; COF convergence is a concern</a:t>
            </a:r>
            <a:endParaRPr lang="en-US" sz="1100" dirty="0"/>
          </a:p>
        </p:txBody>
      </p:sp>
      <p:sp>
        <p:nvSpPr>
          <p:cNvPr id="14" name="Text 12"/>
          <p:cNvSpPr/>
          <p:nvPr/>
        </p:nvSpPr>
        <p:spPr>
          <a:xfrm>
            <a:off x="6949440" y="2523744"/>
            <a:ext cx="4572000" cy="694944"/>
          </a:xfrm>
          <a:prstGeom prst="rect">
            <a:avLst/>
          </a:prstGeom>
          <a:solidFill>
            <a:srgbClr val="FFFFFF"/>
          </a:solidFill>
          <a:ln w="10160">
            <a:solidFill>
              <a:srgbClr val="D0D5DD"/>
            </a:solidFill>
          </a:ln>
        </p:spPr>
        <p:txBody>
          <a:bodyPr wrap="square" lIns="889" tIns="889" rIns="889" bIns="889" rtlCol="0" anchor="ctr">
            <a:normAutofit/>
          </a:bodyPr>
          <a:lstStyle/>
          <a:p>
            <a:pPr marL="0" indent="0">
              <a:buNone/>
            </a:pPr>
            <a:r>
              <a:rPr lang="en-US" sz="1100" dirty="0">
                <a:solidFill>
                  <a:srgbClr val="162033"/>
                </a:solidFill>
              </a:rPr>
              <a:t>Confirm target platform before building anything long-lived</a:t>
            </a:r>
            <a:endParaRPr lang="en-US" sz="1100" dirty="0"/>
          </a:p>
        </p:txBody>
      </p:sp>
      <p:sp>
        <p:nvSpPr>
          <p:cNvPr id="15" name="Text 13"/>
          <p:cNvSpPr/>
          <p:nvPr/>
        </p:nvSpPr>
        <p:spPr>
          <a:xfrm>
            <a:off x="594360" y="3218688"/>
            <a:ext cx="2331720" cy="694944"/>
          </a:xfrm>
          <a:prstGeom prst="rect">
            <a:avLst/>
          </a:prstGeom>
          <a:solidFill>
            <a:srgbClr val="FFFFFF"/>
          </a:solidFill>
          <a:ln w="10160">
            <a:solidFill>
              <a:srgbClr val="D0D5DD"/>
            </a:solidFill>
          </a:ln>
        </p:spPr>
        <p:txBody>
          <a:bodyPr wrap="square" lIns="889" tIns="889" rIns="889" bIns="889" rtlCol="0" anchor="ctr">
            <a:normAutofit/>
          </a:bodyPr>
          <a:lstStyle/>
          <a:p>
            <a:pPr marL="0" indent="0">
              <a:buNone/>
            </a:pPr>
            <a:r>
              <a:rPr lang="en-US" sz="1100" dirty="0">
                <a:solidFill>
                  <a:srgbClr val="162033"/>
                </a:solidFill>
              </a:rPr>
              <a:t>Non-prod access</a:t>
            </a:r>
            <a:endParaRPr lang="en-US" sz="1100" dirty="0"/>
          </a:p>
        </p:txBody>
      </p:sp>
      <p:sp>
        <p:nvSpPr>
          <p:cNvPr id="16" name="Text 14"/>
          <p:cNvSpPr/>
          <p:nvPr/>
        </p:nvSpPr>
        <p:spPr>
          <a:xfrm>
            <a:off x="2926080" y="3218688"/>
            <a:ext cx="4023360" cy="694944"/>
          </a:xfrm>
          <a:prstGeom prst="rect">
            <a:avLst/>
          </a:prstGeom>
          <a:solidFill>
            <a:srgbClr val="FFFFFF"/>
          </a:solidFill>
          <a:ln w="10160">
            <a:solidFill>
              <a:srgbClr val="D0D5DD"/>
            </a:solidFill>
          </a:ln>
        </p:spPr>
        <p:txBody>
          <a:bodyPr wrap="square" lIns="889" tIns="889" rIns="889" bIns="889" rtlCol="0" anchor="ctr">
            <a:normAutofit/>
          </a:bodyPr>
          <a:lstStyle/>
          <a:p>
            <a:pPr marL="0" indent="0">
              <a:buNone/>
            </a:pPr>
            <a:r>
              <a:rPr lang="en-US" sz="1100" dirty="0">
                <a:solidFill>
                  <a:srgbClr val="162033"/>
                </a:solidFill>
              </a:rPr>
              <a:t>Need safe lower environment for POC</a:t>
            </a:r>
            <a:endParaRPr lang="en-US" sz="1100" dirty="0"/>
          </a:p>
        </p:txBody>
      </p:sp>
      <p:sp>
        <p:nvSpPr>
          <p:cNvPr id="17" name="Text 15"/>
          <p:cNvSpPr/>
          <p:nvPr/>
        </p:nvSpPr>
        <p:spPr>
          <a:xfrm>
            <a:off x="6949440" y="3218688"/>
            <a:ext cx="4572000" cy="694944"/>
          </a:xfrm>
          <a:prstGeom prst="rect">
            <a:avLst/>
          </a:prstGeom>
          <a:solidFill>
            <a:srgbClr val="FFFFFF"/>
          </a:solidFill>
          <a:ln w="10160">
            <a:solidFill>
              <a:srgbClr val="D0D5DD"/>
            </a:solidFill>
          </a:ln>
        </p:spPr>
        <p:txBody>
          <a:bodyPr wrap="square" lIns="889" tIns="889" rIns="889" bIns="889" rtlCol="0" anchor="ctr">
            <a:normAutofit/>
          </a:bodyPr>
          <a:lstStyle/>
          <a:p>
            <a:pPr marL="0" indent="0">
              <a:buNone/>
            </a:pPr>
            <a:r>
              <a:rPr lang="en-US" sz="1100" dirty="0">
                <a:solidFill>
                  <a:srgbClr val="162033"/>
                </a:solidFill>
              </a:rPr>
              <a:t>Access for UI Action / Flow / integration testing</a:t>
            </a:r>
            <a:endParaRPr lang="en-US" sz="1100" dirty="0"/>
          </a:p>
        </p:txBody>
      </p:sp>
      <p:sp>
        <p:nvSpPr>
          <p:cNvPr id="18" name="Text 16"/>
          <p:cNvSpPr/>
          <p:nvPr/>
        </p:nvSpPr>
        <p:spPr>
          <a:xfrm>
            <a:off x="594360" y="3913632"/>
            <a:ext cx="2331720" cy="694944"/>
          </a:xfrm>
          <a:prstGeom prst="rect">
            <a:avLst/>
          </a:prstGeom>
          <a:solidFill>
            <a:srgbClr val="FFFFFF"/>
          </a:solidFill>
          <a:ln w="10160">
            <a:solidFill>
              <a:srgbClr val="D0D5DD"/>
            </a:solidFill>
          </a:ln>
        </p:spPr>
        <p:txBody>
          <a:bodyPr wrap="square" lIns="889" tIns="889" rIns="889" bIns="889" rtlCol="0" anchor="ctr">
            <a:normAutofit/>
          </a:bodyPr>
          <a:lstStyle/>
          <a:p>
            <a:pPr marL="0" indent="0">
              <a:buNone/>
            </a:pPr>
            <a:r>
              <a:rPr lang="en-US" sz="1100" dirty="0">
                <a:solidFill>
                  <a:srgbClr val="162033"/>
                </a:solidFill>
              </a:rPr>
              <a:t>Tower data quality</a:t>
            </a:r>
            <a:endParaRPr lang="en-US" sz="1100" dirty="0"/>
          </a:p>
        </p:txBody>
      </p:sp>
      <p:sp>
        <p:nvSpPr>
          <p:cNvPr id="19" name="Text 17"/>
          <p:cNvSpPr/>
          <p:nvPr/>
        </p:nvSpPr>
        <p:spPr>
          <a:xfrm>
            <a:off x="2926080" y="3913632"/>
            <a:ext cx="4023360" cy="694944"/>
          </a:xfrm>
          <a:prstGeom prst="rect">
            <a:avLst/>
          </a:prstGeom>
          <a:solidFill>
            <a:srgbClr val="FFFFFF"/>
          </a:solidFill>
          <a:ln w="10160">
            <a:solidFill>
              <a:srgbClr val="D0D5DD"/>
            </a:solidFill>
          </a:ln>
        </p:spPr>
        <p:txBody>
          <a:bodyPr wrap="square" lIns="889" tIns="889" rIns="889" bIns="889" rtlCol="0" anchor="ctr">
            <a:normAutofit/>
          </a:bodyPr>
          <a:lstStyle/>
          <a:p>
            <a:pPr marL="0" indent="0">
              <a:buNone/>
            </a:pPr>
            <a:r>
              <a:rPr lang="en-US" sz="1100" dirty="0">
                <a:solidFill>
                  <a:srgbClr val="162033"/>
                </a:solidFill>
              </a:rPr>
              <a:t>Inventory still being validated</a:t>
            </a:r>
            <a:endParaRPr lang="en-US" sz="1100" dirty="0"/>
          </a:p>
        </p:txBody>
      </p:sp>
      <p:sp>
        <p:nvSpPr>
          <p:cNvPr id="20" name="Text 18"/>
          <p:cNvSpPr/>
          <p:nvPr/>
        </p:nvSpPr>
        <p:spPr>
          <a:xfrm>
            <a:off x="6949440" y="3913632"/>
            <a:ext cx="4572000" cy="694944"/>
          </a:xfrm>
          <a:prstGeom prst="rect">
            <a:avLst/>
          </a:prstGeom>
          <a:solidFill>
            <a:srgbClr val="FFFFFF"/>
          </a:solidFill>
          <a:ln w="10160">
            <a:solidFill>
              <a:srgbClr val="D0D5DD"/>
            </a:solidFill>
          </a:ln>
        </p:spPr>
        <p:txBody>
          <a:bodyPr wrap="square" lIns="889" tIns="889" rIns="889" bIns="889" rtlCol="0" anchor="ctr">
            <a:normAutofit/>
          </a:bodyPr>
          <a:lstStyle/>
          <a:p>
            <a:pPr marL="0" indent="0">
              <a:buNone/>
            </a:pPr>
            <a:r>
              <a:rPr lang="en-US" sz="1100" dirty="0">
                <a:solidFill>
                  <a:srgbClr val="162033"/>
                </a:solidFill>
              </a:rPr>
              <a:t>Owner, method, environment, and references must be accurate</a:t>
            </a:r>
            <a:endParaRPr lang="en-US" sz="1100" dirty="0"/>
          </a:p>
        </p:txBody>
      </p:sp>
      <p:sp>
        <p:nvSpPr>
          <p:cNvPr id="21" name="Text 19"/>
          <p:cNvSpPr/>
          <p:nvPr/>
        </p:nvSpPr>
        <p:spPr>
          <a:xfrm>
            <a:off x="685800" y="5010912"/>
            <a:ext cx="3657600" cy="256032"/>
          </a:xfrm>
          <a:prstGeom prst="rect">
            <a:avLst/>
          </a:prstGeom>
          <a:noFill/>
          <a:ln/>
        </p:spPr>
        <p:txBody>
          <a:bodyPr wrap="square" lIns="0" tIns="0" rIns="0" bIns="0" rtlCol="0" anchor="ctr"/>
          <a:lstStyle/>
          <a:p>
            <a:pPr marL="0" indent="0">
              <a:buNone/>
            </a:pPr>
            <a:r>
              <a:rPr lang="en-US" sz="1600" b="1" dirty="0">
                <a:solidFill>
                  <a:srgbClr val="6B2F8A"/>
                </a:solidFill>
              </a:rPr>
              <a:t>Stakeholder alignment requested</a:t>
            </a:r>
            <a:endParaRPr lang="en-US" sz="1600" dirty="0"/>
          </a:p>
        </p:txBody>
      </p:sp>
      <p:sp>
        <p:nvSpPr>
          <p:cNvPr id="22" name="Text 20"/>
          <p:cNvSpPr/>
          <p:nvPr/>
        </p:nvSpPr>
        <p:spPr>
          <a:xfrm>
            <a:off x="731520" y="5394960"/>
            <a:ext cx="9509760" cy="777240"/>
          </a:xfrm>
          <a:prstGeom prst="rect">
            <a:avLst/>
          </a:prstGeom>
          <a:noFill/>
          <a:ln/>
        </p:spPr>
        <p:txBody>
          <a:bodyPr wrap="square" lIns="381" tIns="381" rIns="381" bIns="381" rtlCol="0" anchor="ctr">
            <a:normAutofit/>
          </a:bodyPr>
          <a:lstStyle/>
          <a:p>
            <a:pPr marL="165100" indent="-165100">
              <a:buSzPct val="100000"/>
              <a:buChar char="•"/>
            </a:pPr>
            <a:r>
              <a:rPr lang="en-US" sz="1550" dirty="0">
                <a:solidFill>
                  <a:srgbClr val="162033"/>
                </a:solidFill>
              </a:rPr>
              <a:t>Where should the long-term integration live after COF convergence?</a:t>
            </a:r>
            <a:endParaRPr lang="en-US" sz="1550" dirty="0"/>
          </a:p>
          <a:p>
            <a:pPr marL="165100" indent="-165100">
              <a:buSzPct val="100000"/>
              <a:buChar char="•"/>
            </a:pPr>
            <a:r>
              <a:rPr lang="en-US" sz="1550" dirty="0">
                <a:solidFill>
                  <a:srgbClr val="162033"/>
                </a:solidFill>
              </a:rPr>
              <a:t>Who owns the platform/AAP integration path?</a:t>
            </a:r>
            <a:endParaRPr lang="en-US" sz="1550" dirty="0"/>
          </a:p>
          <a:p>
            <a:pPr marL="165100" indent="-165100">
              <a:buSzPct val="100000"/>
              <a:buChar char="•"/>
            </a:pPr>
            <a:r>
              <a:rPr lang="en-US" sz="1550" dirty="0">
                <a:solidFill>
                  <a:srgbClr val="162033"/>
                </a:solidFill>
              </a:rPr>
              <a:t>Is Digital + DCI NetAuth the right POC scope to proceed with?</a:t>
            </a:r>
            <a:endParaRPr lang="en-US" sz="1550" dirty="0"/>
          </a:p>
        </p:txBody>
      </p:sp>
      <p:sp>
        <p:nvSpPr>
          <p:cNvPr id="24" name="Text 21"/>
          <p:cNvSpPr/>
          <p:nvPr/>
        </p:nvSpPr>
        <p:spPr>
          <a:xfrm>
            <a:off x="502920" y="6537960"/>
            <a:ext cx="5486400" cy="155448"/>
          </a:xfrm>
          <a:prstGeom prst="rect">
            <a:avLst/>
          </a:prstGeom>
          <a:noFill/>
          <a:ln/>
        </p:spPr>
        <p:txBody>
          <a:bodyPr wrap="square" lIns="0" tIns="0" rIns="0" bIns="0" rtlCol="0" anchor="ctr"/>
          <a:lstStyle/>
          <a:p>
            <a:pPr marL="0" indent="0">
              <a:buNone/>
            </a:pPr>
            <a:r>
              <a:rPr lang="en-US" sz="800" dirty="0">
                <a:solidFill>
                  <a:srgbClr val="8B95A1"/>
                </a:solidFill>
              </a:rPr>
              <a:t>GPN SRE • Centralized Certificate Renewal Dashboard</a:t>
            </a:r>
            <a:endParaRPr lang="en-US" sz="800" dirty="0"/>
          </a:p>
        </p:txBody>
      </p:sp>
      <p:sp>
        <p:nvSpPr>
          <p:cNvPr id="25" name="Text 22"/>
          <p:cNvSpPr/>
          <p:nvPr/>
        </p:nvSpPr>
        <p:spPr>
          <a:xfrm>
            <a:off x="11475720" y="6519672"/>
            <a:ext cx="228600" cy="155448"/>
          </a:xfrm>
          <a:prstGeom prst="rect">
            <a:avLst/>
          </a:prstGeom>
          <a:noFill/>
          <a:ln/>
        </p:spPr>
        <p:txBody>
          <a:bodyPr wrap="square" lIns="0" tIns="0" rIns="0" bIns="0" rtlCol="0" anchor="ctr"/>
          <a:lstStyle/>
          <a:p>
            <a:pPr marL="0" indent="0" algn="r">
              <a:buNone/>
            </a:pPr>
            <a:r>
              <a:rPr lang="en-US" sz="800" dirty="0">
                <a:solidFill>
                  <a:srgbClr val="8B95A1"/>
                </a:solidFill>
              </a:rPr>
              <a:t>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6B2F8A"/>
          </a:solidFill>
          <a:ln w="12700">
            <a:solidFill>
              <a:srgbClr val="6B2F8A"/>
            </a:solidFill>
            <a:prstDash val="solid"/>
          </a:ln>
        </p:spPr>
      </p:sp>
      <p:sp>
        <p:nvSpPr>
          <p:cNvPr id="3" name="Text 1"/>
          <p:cNvSpPr/>
          <p:nvPr/>
        </p:nvSpPr>
        <p:spPr>
          <a:xfrm>
            <a:off x="502920" y="320040"/>
            <a:ext cx="9601200" cy="438912"/>
          </a:xfrm>
          <a:prstGeom prst="rect">
            <a:avLst/>
          </a:prstGeom>
          <a:noFill/>
          <a:ln/>
        </p:spPr>
        <p:txBody>
          <a:bodyPr wrap="square" lIns="127" tIns="127" rIns="127" bIns="127" rtlCol="0" anchor="ctr">
            <a:normAutofit lnSpcReduction="10000"/>
          </a:bodyPr>
          <a:lstStyle/>
          <a:p>
            <a:pPr marL="0" indent="0">
              <a:buNone/>
            </a:pPr>
            <a:r>
              <a:rPr lang="en-US" sz="3000" b="1" dirty="0">
                <a:solidFill>
                  <a:srgbClr val="162033"/>
                </a:solidFill>
                <a:latin typeface="Aptos Display" pitchFamily="34" charset="0"/>
                <a:ea typeface="Aptos Display" pitchFamily="34" charset="-122"/>
                <a:cs typeface="Aptos Display" pitchFamily="34" charset="-120"/>
              </a:rPr>
              <a:t>Dashboard demo: </a:t>
            </a:r>
            <a:endParaRPr lang="en-US" sz="3000" dirty="0"/>
          </a:p>
        </p:txBody>
      </p:sp>
      <p:sp>
        <p:nvSpPr>
          <p:cNvPr id="5" name="Shape 3"/>
          <p:cNvSpPr/>
          <p:nvPr/>
        </p:nvSpPr>
        <p:spPr>
          <a:xfrm>
            <a:off x="502920" y="1097280"/>
            <a:ext cx="11201400" cy="0"/>
          </a:xfrm>
          <a:prstGeom prst="line">
            <a:avLst/>
          </a:prstGeom>
          <a:noFill/>
          <a:ln w="12700">
            <a:solidFill>
              <a:srgbClr val="D8DEE9"/>
            </a:solidFill>
            <a:prstDash val="solid"/>
          </a:ln>
        </p:spPr>
      </p:sp>
      <p:sp>
        <p:nvSpPr>
          <p:cNvPr id="11" name="Text 8"/>
          <p:cNvSpPr/>
          <p:nvPr/>
        </p:nvSpPr>
        <p:spPr>
          <a:xfrm>
            <a:off x="6446520" y="4919472"/>
            <a:ext cx="4937760" cy="621792"/>
          </a:xfrm>
          <a:prstGeom prst="rect">
            <a:avLst/>
          </a:prstGeom>
          <a:noFill/>
          <a:ln/>
        </p:spPr>
        <p:txBody>
          <a:bodyPr wrap="square" lIns="0" tIns="0" rIns="0" bIns="0" rtlCol="0" anchor="ctr">
            <a:normAutofit lnSpcReduction="10000"/>
          </a:bodyPr>
          <a:lstStyle/>
          <a:p>
            <a:pPr marL="0" indent="0">
              <a:buNone/>
            </a:pPr>
            <a:r>
              <a:rPr lang="en-US" sz="2100" b="1" dirty="0">
                <a:solidFill>
                  <a:srgbClr val="162033"/>
                </a:solidFill>
              </a:rPr>
              <a:t>“Today this dashboard helps us see risk. The POC is about making it actionable.”</a:t>
            </a:r>
            <a:endParaRPr lang="en-US" sz="2100" dirty="0"/>
          </a:p>
        </p:txBody>
      </p:sp>
      <p:sp>
        <p:nvSpPr>
          <p:cNvPr id="13" name="Text 9"/>
          <p:cNvSpPr/>
          <p:nvPr/>
        </p:nvSpPr>
        <p:spPr>
          <a:xfrm>
            <a:off x="502920" y="6537960"/>
            <a:ext cx="5486400" cy="155448"/>
          </a:xfrm>
          <a:prstGeom prst="rect">
            <a:avLst/>
          </a:prstGeom>
          <a:noFill/>
          <a:ln/>
        </p:spPr>
        <p:txBody>
          <a:bodyPr wrap="square" lIns="0" tIns="0" rIns="0" bIns="0" rtlCol="0" anchor="ctr"/>
          <a:lstStyle/>
          <a:p>
            <a:pPr marL="0" indent="0">
              <a:buNone/>
            </a:pPr>
            <a:r>
              <a:rPr lang="en-US" sz="800" dirty="0">
                <a:solidFill>
                  <a:srgbClr val="8B95A1"/>
                </a:solidFill>
              </a:rPr>
              <a:t>GPN SRE • Centralized Certificate Renewal Dashboard</a:t>
            </a:r>
            <a:endParaRPr lang="en-US" sz="800" dirty="0"/>
          </a:p>
        </p:txBody>
      </p:sp>
      <p:sp>
        <p:nvSpPr>
          <p:cNvPr id="14" name="Text 10"/>
          <p:cNvSpPr/>
          <p:nvPr/>
        </p:nvSpPr>
        <p:spPr>
          <a:xfrm>
            <a:off x="11475720" y="6519672"/>
            <a:ext cx="228600" cy="155448"/>
          </a:xfrm>
          <a:prstGeom prst="rect">
            <a:avLst/>
          </a:prstGeom>
          <a:noFill/>
          <a:ln/>
        </p:spPr>
        <p:txBody>
          <a:bodyPr wrap="square" lIns="0" tIns="0" rIns="0" bIns="0" rtlCol="0" anchor="ctr"/>
          <a:lstStyle/>
          <a:p>
            <a:pPr marL="0" indent="0" algn="r">
              <a:buNone/>
            </a:pPr>
            <a:r>
              <a:rPr lang="en-US" sz="800" dirty="0">
                <a:solidFill>
                  <a:srgbClr val="8B95A1"/>
                </a:solidFill>
              </a:rPr>
              <a:t>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6B2F8A"/>
          </a:solidFill>
          <a:ln w="12700">
            <a:solidFill>
              <a:srgbClr val="6B2F8A"/>
            </a:solidFill>
            <a:prstDash val="solid"/>
          </a:ln>
        </p:spPr>
      </p:sp>
      <p:sp>
        <p:nvSpPr>
          <p:cNvPr id="3" name="Text 1"/>
          <p:cNvSpPr/>
          <p:nvPr/>
        </p:nvSpPr>
        <p:spPr>
          <a:xfrm>
            <a:off x="502920" y="320040"/>
            <a:ext cx="9601200" cy="438912"/>
          </a:xfrm>
          <a:prstGeom prst="rect">
            <a:avLst/>
          </a:prstGeom>
          <a:noFill/>
          <a:ln/>
        </p:spPr>
        <p:txBody>
          <a:bodyPr wrap="square" lIns="127" tIns="127" rIns="127" bIns="127" rtlCol="0" anchor="ctr">
            <a:normAutofit lnSpcReduction="10000"/>
          </a:bodyPr>
          <a:lstStyle/>
          <a:p>
            <a:pPr marL="0" indent="0">
              <a:buNone/>
            </a:pPr>
            <a:r>
              <a:rPr lang="en-US" sz="3000" b="1" dirty="0">
                <a:solidFill>
                  <a:srgbClr val="162033"/>
                </a:solidFill>
                <a:latin typeface="Aptos Display" pitchFamily="34" charset="0"/>
                <a:ea typeface="Aptos Display" pitchFamily="34" charset="-122"/>
                <a:cs typeface="Aptos Display" pitchFamily="34" charset="-120"/>
              </a:rPr>
              <a:t>Close: what we need today</a:t>
            </a:r>
            <a:endParaRPr lang="en-US" sz="3000" dirty="0"/>
          </a:p>
        </p:txBody>
      </p:sp>
      <p:sp>
        <p:nvSpPr>
          <p:cNvPr id="4" name="Text 2"/>
          <p:cNvSpPr/>
          <p:nvPr/>
        </p:nvSpPr>
        <p:spPr>
          <a:xfrm>
            <a:off x="521208" y="804672"/>
            <a:ext cx="10515600" cy="256032"/>
          </a:xfrm>
          <a:prstGeom prst="rect">
            <a:avLst/>
          </a:prstGeom>
          <a:noFill/>
          <a:ln/>
        </p:spPr>
        <p:txBody>
          <a:bodyPr wrap="square" lIns="127" tIns="127" rIns="127" bIns="127" rtlCol="0" anchor="ctr">
            <a:normAutofit/>
          </a:bodyPr>
          <a:lstStyle/>
          <a:p>
            <a:pPr marL="0" indent="0">
              <a:buNone/>
            </a:pPr>
            <a:r>
              <a:rPr lang="en-US" sz="1200" dirty="0">
                <a:solidFill>
                  <a:srgbClr val="667085"/>
                </a:solidFill>
              </a:rPr>
              <a:t>Agreement on direction, owner path, and the safest POC route.</a:t>
            </a:r>
            <a:endParaRPr lang="en-US" sz="1200" dirty="0"/>
          </a:p>
        </p:txBody>
      </p:sp>
      <p:sp>
        <p:nvSpPr>
          <p:cNvPr id="5" name="Shape 3"/>
          <p:cNvSpPr/>
          <p:nvPr/>
        </p:nvSpPr>
        <p:spPr>
          <a:xfrm>
            <a:off x="502920" y="1097280"/>
            <a:ext cx="11201400" cy="0"/>
          </a:xfrm>
          <a:prstGeom prst="line">
            <a:avLst/>
          </a:prstGeom>
          <a:noFill/>
          <a:ln w="12700">
            <a:solidFill>
              <a:srgbClr val="D8DEE9"/>
            </a:solidFill>
            <a:prstDash val="solid"/>
          </a:ln>
        </p:spPr>
      </p:sp>
      <p:sp>
        <p:nvSpPr>
          <p:cNvPr id="6" name="Text 4"/>
          <p:cNvSpPr/>
          <p:nvPr/>
        </p:nvSpPr>
        <p:spPr>
          <a:xfrm>
            <a:off x="731520" y="1463040"/>
            <a:ext cx="1645920" cy="256032"/>
          </a:xfrm>
          <a:prstGeom prst="rect">
            <a:avLst/>
          </a:prstGeom>
          <a:noFill/>
          <a:ln/>
        </p:spPr>
        <p:txBody>
          <a:bodyPr wrap="square" lIns="0" tIns="0" rIns="0" bIns="0" rtlCol="0" anchor="ctr"/>
          <a:lstStyle/>
          <a:p>
            <a:pPr marL="0" indent="0">
              <a:buNone/>
            </a:pPr>
            <a:r>
              <a:rPr lang="en-US" sz="1800" b="1" dirty="0">
                <a:solidFill>
                  <a:srgbClr val="162033"/>
                </a:solidFill>
              </a:rPr>
              <a:t>Summary</a:t>
            </a:r>
            <a:endParaRPr lang="en-US" sz="1800" dirty="0"/>
          </a:p>
        </p:txBody>
      </p:sp>
      <p:sp>
        <p:nvSpPr>
          <p:cNvPr id="7" name="Text 5"/>
          <p:cNvSpPr/>
          <p:nvPr/>
        </p:nvSpPr>
        <p:spPr>
          <a:xfrm>
            <a:off x="777240" y="1874520"/>
            <a:ext cx="5486400" cy="2148840"/>
          </a:xfrm>
          <a:prstGeom prst="rect">
            <a:avLst/>
          </a:prstGeom>
          <a:noFill/>
          <a:ln/>
        </p:spPr>
        <p:txBody>
          <a:bodyPr wrap="square" lIns="381" tIns="381" rIns="381" bIns="381" rtlCol="0" anchor="ctr">
            <a:normAutofit/>
          </a:bodyPr>
          <a:lstStyle/>
          <a:p>
            <a:pPr marL="165100" indent="-165100">
              <a:buSzPct val="100000"/>
              <a:buChar char="•"/>
            </a:pPr>
            <a:r>
              <a:rPr lang="en-US" sz="1620" dirty="0">
                <a:solidFill>
                  <a:srgbClr val="162033"/>
                </a:solidFill>
              </a:rPr>
              <a:t>We started with certificate visibility and created a centralized dashboard foundation.</a:t>
            </a:r>
            <a:endParaRPr lang="en-US" sz="1620" dirty="0"/>
          </a:p>
          <a:p>
            <a:pPr marL="165100" indent="-165100">
              <a:buSzPct val="100000"/>
              <a:buChar char="•"/>
            </a:pPr>
            <a:r>
              <a:rPr lang="en-US" sz="1620" dirty="0">
                <a:solidFill>
                  <a:srgbClr val="162033"/>
                </a:solidFill>
              </a:rPr>
              <a:t>We built a current-state matrix because tower renewal models are not the same.</a:t>
            </a:r>
            <a:endParaRPr lang="en-US" sz="1620" dirty="0"/>
          </a:p>
          <a:p>
            <a:pPr marL="165100" indent="-165100">
              <a:buSzPct val="100000"/>
              <a:buChar char="•"/>
            </a:pPr>
            <a:r>
              <a:rPr lang="en-US" sz="1620" dirty="0">
                <a:solidFill>
                  <a:srgbClr val="162033"/>
                </a:solidFill>
              </a:rPr>
              <a:t>The next opportunity is a controlled Renew action that reuses existing AAP/Ansible automation.</a:t>
            </a:r>
            <a:endParaRPr lang="en-US" sz="1620" dirty="0"/>
          </a:p>
          <a:p>
            <a:pPr marL="165100" indent="-165100">
              <a:buSzPct val="100000"/>
              <a:buChar char="•"/>
            </a:pPr>
            <a:r>
              <a:rPr lang="en-US" sz="1620" dirty="0">
                <a:solidFill>
                  <a:srgbClr val="162033"/>
                </a:solidFill>
              </a:rPr>
              <a:t>The main decisions are platform path, AAP integration ownership, and non-prod POC access.</a:t>
            </a:r>
            <a:endParaRPr lang="en-US" sz="1620" dirty="0"/>
          </a:p>
        </p:txBody>
      </p:sp>
      <p:sp>
        <p:nvSpPr>
          <p:cNvPr id="8" name="Shape 6"/>
          <p:cNvSpPr/>
          <p:nvPr/>
        </p:nvSpPr>
        <p:spPr>
          <a:xfrm>
            <a:off x="6492240" y="1417320"/>
            <a:ext cx="0" cy="4389120"/>
          </a:xfrm>
          <a:prstGeom prst="line">
            <a:avLst/>
          </a:prstGeom>
          <a:noFill/>
          <a:ln w="15240">
            <a:solidFill>
              <a:srgbClr val="D8DEE9"/>
            </a:solidFill>
            <a:prstDash val="solid"/>
          </a:ln>
        </p:spPr>
      </p:sp>
      <p:sp>
        <p:nvSpPr>
          <p:cNvPr id="9" name="Text 7"/>
          <p:cNvSpPr/>
          <p:nvPr/>
        </p:nvSpPr>
        <p:spPr>
          <a:xfrm>
            <a:off x="6903720" y="1463040"/>
            <a:ext cx="2926080" cy="256032"/>
          </a:xfrm>
          <a:prstGeom prst="rect">
            <a:avLst/>
          </a:prstGeom>
          <a:noFill/>
          <a:ln/>
        </p:spPr>
        <p:txBody>
          <a:bodyPr wrap="square" lIns="0" tIns="0" rIns="0" bIns="0" rtlCol="0" anchor="ctr"/>
          <a:lstStyle/>
          <a:p>
            <a:pPr marL="0" indent="0">
              <a:buNone/>
            </a:pPr>
            <a:r>
              <a:rPr lang="en-US" sz="1800" b="1" dirty="0">
                <a:solidFill>
                  <a:srgbClr val="162033"/>
                </a:solidFill>
              </a:rPr>
              <a:t>Requested alignment</a:t>
            </a:r>
            <a:endParaRPr lang="en-US" sz="1800" dirty="0"/>
          </a:p>
        </p:txBody>
      </p:sp>
      <p:sp>
        <p:nvSpPr>
          <p:cNvPr id="10" name="Text 8"/>
          <p:cNvSpPr/>
          <p:nvPr/>
        </p:nvSpPr>
        <p:spPr>
          <a:xfrm>
            <a:off x="6903720" y="1874520"/>
            <a:ext cx="4434840" cy="868680"/>
          </a:xfrm>
          <a:prstGeom prst="rect">
            <a:avLst/>
          </a:prstGeom>
          <a:solidFill>
            <a:srgbClr val="F7F9FC"/>
          </a:solidFill>
          <a:ln w="12700">
            <a:solidFill>
              <a:srgbClr val="E6EAF0"/>
            </a:solidFill>
          </a:ln>
        </p:spPr>
        <p:txBody>
          <a:bodyPr wrap="square" lIns="1905" tIns="1905" rIns="1905" bIns="1905" rtlCol="0" anchor="t">
            <a:normAutofit/>
          </a:bodyPr>
          <a:lstStyle/>
          <a:p>
            <a:pPr marL="0" indent="0">
              <a:buNone/>
            </a:pPr>
            <a:r>
              <a:rPr lang="en-US" sz="1400" b="1" dirty="0">
                <a:solidFill>
                  <a:srgbClr val="1565C0"/>
                </a:solidFill>
              </a:rPr>
              <a:t>1. Platform direction
</a:t>
            </a:r>
            <a:r>
              <a:rPr lang="en-US" sz="1400" dirty="0">
                <a:solidFill>
                  <a:srgbClr val="162033"/>
                </a:solidFill>
              </a:rPr>
              <a:t>Confirm where the dashboard integration should live considering ServiceNow convergence.</a:t>
            </a:r>
            <a:endParaRPr lang="en-US" sz="1400" dirty="0"/>
          </a:p>
        </p:txBody>
      </p:sp>
      <p:sp>
        <p:nvSpPr>
          <p:cNvPr id="11" name="Text 9"/>
          <p:cNvSpPr/>
          <p:nvPr/>
        </p:nvSpPr>
        <p:spPr>
          <a:xfrm>
            <a:off x="6903720" y="2926080"/>
            <a:ext cx="4434840" cy="868680"/>
          </a:xfrm>
          <a:prstGeom prst="rect">
            <a:avLst/>
          </a:prstGeom>
          <a:solidFill>
            <a:srgbClr val="F7F9FC"/>
          </a:solidFill>
          <a:ln w="12700">
            <a:solidFill>
              <a:srgbClr val="E6EAF0"/>
            </a:solidFill>
          </a:ln>
        </p:spPr>
        <p:txBody>
          <a:bodyPr wrap="square" lIns="1905" tIns="1905" rIns="1905" bIns="1905" rtlCol="0" anchor="t">
            <a:normAutofit/>
          </a:bodyPr>
          <a:lstStyle/>
          <a:p>
            <a:pPr marL="0" indent="0">
              <a:buNone/>
            </a:pPr>
            <a:r>
              <a:rPr lang="en-US" sz="1400" b="1" dirty="0">
                <a:solidFill>
                  <a:srgbClr val="008C8C"/>
                </a:solidFill>
              </a:rPr>
              <a:t>2. Integration owner
</a:t>
            </a:r>
            <a:r>
              <a:rPr lang="en-US" sz="1400" dirty="0">
                <a:solidFill>
                  <a:srgbClr val="162033"/>
                </a:solidFill>
              </a:rPr>
              <a:t>Identify the right AAP / platform automation contact to close the API and status-tracking path.</a:t>
            </a:r>
            <a:endParaRPr lang="en-US" sz="1400" dirty="0"/>
          </a:p>
        </p:txBody>
      </p:sp>
      <p:sp>
        <p:nvSpPr>
          <p:cNvPr id="12" name="Text 10"/>
          <p:cNvSpPr/>
          <p:nvPr/>
        </p:nvSpPr>
        <p:spPr>
          <a:xfrm>
            <a:off x="6903720" y="3977640"/>
            <a:ext cx="4434840" cy="868680"/>
          </a:xfrm>
          <a:prstGeom prst="rect">
            <a:avLst/>
          </a:prstGeom>
          <a:solidFill>
            <a:srgbClr val="F7F9FC"/>
          </a:solidFill>
          <a:ln w="12700">
            <a:solidFill>
              <a:srgbClr val="E6EAF0"/>
            </a:solidFill>
          </a:ln>
        </p:spPr>
        <p:txBody>
          <a:bodyPr wrap="square" lIns="1905" tIns="1905" rIns="1905" bIns="1905" rtlCol="0" anchor="t">
            <a:normAutofit/>
          </a:bodyPr>
          <a:lstStyle/>
          <a:p>
            <a:pPr marL="0" indent="0">
              <a:buNone/>
            </a:pPr>
            <a:r>
              <a:rPr lang="en-US" sz="1400" b="1" dirty="0">
                <a:solidFill>
                  <a:srgbClr val="6B2F8A"/>
                </a:solidFill>
              </a:rPr>
              <a:t>3. POC path
</a:t>
            </a:r>
            <a:r>
              <a:rPr lang="en-US" sz="1400" dirty="0">
                <a:solidFill>
                  <a:srgbClr val="162033"/>
                </a:solidFill>
              </a:rPr>
              <a:t>Proceed with Digital and DCI NetAuth as the initial scope and validate safely in non-prod.</a:t>
            </a:r>
            <a:endParaRPr lang="en-US" sz="1400" dirty="0"/>
          </a:p>
        </p:txBody>
      </p:sp>
      <p:sp>
        <p:nvSpPr>
          <p:cNvPr id="13" name="Text 11"/>
          <p:cNvSpPr/>
          <p:nvPr/>
        </p:nvSpPr>
        <p:spPr>
          <a:xfrm>
            <a:off x="6903720" y="5522976"/>
            <a:ext cx="2103120" cy="292608"/>
          </a:xfrm>
          <a:prstGeom prst="rect">
            <a:avLst/>
          </a:prstGeom>
          <a:noFill/>
          <a:ln/>
        </p:spPr>
        <p:txBody>
          <a:bodyPr wrap="square" lIns="0" tIns="0" rIns="0" bIns="0" rtlCol="0" anchor="ctr"/>
          <a:lstStyle/>
          <a:p>
            <a:pPr marL="0" indent="0">
              <a:buNone/>
            </a:pPr>
            <a:r>
              <a:rPr lang="en-US" sz="2600" b="1" dirty="0">
                <a:solidFill>
                  <a:srgbClr val="6B2F8A"/>
                </a:solidFill>
              </a:rPr>
              <a:t>Questions</a:t>
            </a:r>
            <a:endParaRPr lang="en-US" sz="2600" dirty="0"/>
          </a:p>
        </p:txBody>
      </p:sp>
      <p:sp>
        <p:nvSpPr>
          <p:cNvPr id="15" name="Text 12"/>
          <p:cNvSpPr/>
          <p:nvPr/>
        </p:nvSpPr>
        <p:spPr>
          <a:xfrm>
            <a:off x="502920" y="6537960"/>
            <a:ext cx="5486400" cy="155448"/>
          </a:xfrm>
          <a:prstGeom prst="rect">
            <a:avLst/>
          </a:prstGeom>
          <a:noFill/>
          <a:ln/>
        </p:spPr>
        <p:txBody>
          <a:bodyPr wrap="square" lIns="0" tIns="0" rIns="0" bIns="0" rtlCol="0" anchor="ctr"/>
          <a:lstStyle/>
          <a:p>
            <a:pPr marL="0" indent="0">
              <a:buNone/>
            </a:pPr>
            <a:r>
              <a:rPr lang="en-US" sz="800" dirty="0">
                <a:solidFill>
                  <a:srgbClr val="8B95A1"/>
                </a:solidFill>
              </a:rPr>
              <a:t>GPN SRE • Centralized Certificate Renewal Dashboard</a:t>
            </a:r>
            <a:endParaRPr lang="en-US" sz="800" dirty="0"/>
          </a:p>
        </p:txBody>
      </p:sp>
      <p:sp>
        <p:nvSpPr>
          <p:cNvPr id="16" name="Text 13"/>
          <p:cNvSpPr/>
          <p:nvPr/>
        </p:nvSpPr>
        <p:spPr>
          <a:xfrm>
            <a:off x="11475720" y="6519672"/>
            <a:ext cx="228600" cy="155448"/>
          </a:xfrm>
          <a:prstGeom prst="rect">
            <a:avLst/>
          </a:prstGeom>
          <a:noFill/>
          <a:ln/>
        </p:spPr>
        <p:txBody>
          <a:bodyPr wrap="square" lIns="0" tIns="0" rIns="0" bIns="0" rtlCol="0" anchor="ctr"/>
          <a:lstStyle/>
          <a:p>
            <a:pPr marL="0" indent="0" algn="r">
              <a:buNone/>
            </a:pPr>
            <a:r>
              <a:rPr lang="en-US" sz="800" dirty="0">
                <a:solidFill>
                  <a:srgbClr val="8B95A1"/>
                </a:solidFill>
              </a:rPr>
              <a:t>9</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1439</Words>
  <Application>Microsoft Office PowerPoint</Application>
  <PresentationFormat>Widescreen</PresentationFormat>
  <Paragraphs>165</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Capital One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GPN Centralized Certificate Renewal Dashboard - Stakeholder Presentation</dc:title>
  <dc:subject>Stakeholder presentation for GPN certificate renewal dashboard initiative</dc:subject>
  <dc:creator>GPN SRE</dc:creator>
  <cp:lastModifiedBy>Muhammad Sami</cp:lastModifiedBy>
  <cp:revision>2</cp:revision>
  <dcterms:created xsi:type="dcterms:W3CDTF">2026-09-08T16:45:25Z</dcterms:created>
  <dcterms:modified xsi:type="dcterms:W3CDTF">2026-09-08T16:53:04Z</dcterms:modified>
</cp:coreProperties>
</file>